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5"/>
  </p:sldMasterIdLst>
  <p:notesMasterIdLst>
    <p:notesMasterId r:id="rId18"/>
  </p:notesMasterIdLst>
  <p:handoutMasterIdLst>
    <p:handoutMasterId r:id="rId19"/>
  </p:handoutMasterIdLst>
  <p:sldIdLst>
    <p:sldId id="263" r:id="rId6"/>
    <p:sldId id="280" r:id="rId7"/>
    <p:sldId id="276" r:id="rId8"/>
    <p:sldId id="281" r:id="rId9"/>
    <p:sldId id="282" r:id="rId10"/>
    <p:sldId id="277" r:id="rId11"/>
    <p:sldId id="278" r:id="rId12"/>
    <p:sldId id="283" r:id="rId13"/>
    <p:sldId id="285" r:id="rId14"/>
    <p:sldId id="284" r:id="rId15"/>
    <p:sldId id="266" r:id="rId16"/>
    <p:sldId id="271" r:id="rId17"/>
  </p:sldIdLst>
  <p:sldSz cx="12192000" cy="6858000"/>
  <p:notesSz cx="6858000" cy="9144000"/>
  <p:custDataLst>
    <p:custData r:id="rId4"/>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CF97622-BE84-6CE7-D56F-1F4651E12DE7}" name="William Greve" initials="WG" userId="S::shil5595@ox.ac.uk::7c4b811d-c615-48b1-9d3f-ff2c3defd64f" providerId="AD"/>
  <p188:author id="{EA960039-F896-2EAC-B9D2-CAAC930AD5DD}" name="Willem Redman" initials="WR" userId="S::magd5691@ox.ac.uk::97b949a5-3116-4d12-b537-a47c3bdd6bf0" providerId="AD"/>
  <p188:author id="{9C8BF85C-2FEB-A0A4-CE64-29C408A25AD0}" name="Mitra Stainsbury" initials="MS" userId="S::bras5308@ox.ac.uk::fac11312-97e8-43e4-9f19-3119cf4db1e7" providerId="AD"/>
  <p188:author id="{D3663BD1-1997-F4AD-712D-AD365DB224F0}" name="Oyindasola Bello" initials="OB" userId="S::bras5224@ox.ac.uk::b79730d6-b7bc-4cd9-9e0f-d48d74b82c33" providerId="AD"/>
  <p188:author id="{6195C6E1-FE04-B4B6-AC35-AC4B9F2E08CC}" name="Rebecca Liu" initials="RL" userId="S::mert4404@ox.ac.uk::8ba8d453-3327-4086-ba6c-220c4926864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ai Boh" initials="KB" lastIdx="3" clrIdx="0">
    <p:extLst>
      <p:ext uri="{19B8F6BF-5375-455C-9EA6-DF929625EA0E}">
        <p15:presenceInfo xmlns:p15="http://schemas.microsoft.com/office/powerpoint/2012/main" userId="Kai Boh" providerId="None"/>
      </p:ext>
    </p:extLst>
  </p:cmAuthor>
  <p:cmAuthor id="2" name="Tylor Crusoe" initials="TC" lastIdx="1" clrIdx="1">
    <p:extLst>
      <p:ext uri="{19B8F6BF-5375-455C-9EA6-DF929625EA0E}">
        <p15:presenceInfo xmlns:p15="http://schemas.microsoft.com/office/powerpoint/2012/main" userId="ef994117c0fbf25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2D93"/>
    <a:srgbClr val="E79D25"/>
    <a:srgbClr val="1F3864"/>
    <a:srgbClr val="254061"/>
    <a:srgbClr val="E8F0F9"/>
    <a:srgbClr val="C89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27DD5F-3B7C-4E0F-99F5-204EBB34E9E0}" type="datetimeFigureOut">
              <a:rPr lang="en-GB" smtClean="0"/>
              <a:t>13/06/2026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A6C280C-266C-4C29-BC93-028248B28C3F}" type="slidenum">
              <a:rPr lang="en-GB" smtClean="0"/>
              <a:t>‹#›</a:t>
            </a:fld>
            <a:endParaRPr lang="en-GB"/>
          </a:p>
        </p:txBody>
      </p:sp>
    </p:spTree>
    <p:extLst>
      <p:ext uri="{BB962C8B-B14F-4D97-AF65-F5344CB8AC3E}">
        <p14:creationId xmlns:p14="http://schemas.microsoft.com/office/powerpoint/2010/main" val="2495754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C78D7B-99DE-4868-B3E4-2EDC0B8E6EC0}" type="datetimeFigureOut">
              <a:rPr lang="en-GB" smtClean="0"/>
              <a:t>13/06/2026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228920-ED08-4572-A54D-034FB3E0CBF0}" type="slidenum">
              <a:rPr lang="en-GB" smtClean="0"/>
              <a:t>‹#›</a:t>
            </a:fld>
            <a:endParaRPr lang="en-GB"/>
          </a:p>
        </p:txBody>
      </p:sp>
    </p:spTree>
    <p:extLst>
      <p:ext uri="{BB962C8B-B14F-4D97-AF65-F5344CB8AC3E}">
        <p14:creationId xmlns:p14="http://schemas.microsoft.com/office/powerpoint/2010/main" val="2535153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228920-ED08-4572-A54D-034FB3E0CBF0}" type="slidenum">
              <a:rPr lang="en-GB" smtClean="0"/>
              <a:t>1</a:t>
            </a:fld>
            <a:endParaRPr lang="en-GB"/>
          </a:p>
        </p:txBody>
      </p:sp>
    </p:spTree>
    <p:extLst>
      <p:ext uri="{BB962C8B-B14F-4D97-AF65-F5344CB8AC3E}">
        <p14:creationId xmlns:p14="http://schemas.microsoft.com/office/powerpoint/2010/main" val="4519514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55D5FE1-A2D5-4E3C-902C-10E5C8ED439D}"/>
              </a:ext>
            </a:extLst>
          </p:cNvPr>
          <p:cNvSpPr>
            <a:spLocks noGrp="1"/>
          </p:cNvSpPr>
          <p:nvPr>
            <p:ph type="pic" sz="quarter" idx="10" hasCustomPrompt="1"/>
          </p:nvPr>
        </p:nvSpPr>
        <p:spPr>
          <a:xfrm>
            <a:off x="9144000" y="3856038"/>
            <a:ext cx="2540000" cy="996950"/>
          </a:xfrm>
        </p:spPr>
        <p:txBody>
          <a:bodyPr anchor="ctr"/>
          <a:lstStyle>
            <a:lvl1pPr algn="ctr">
              <a:buNone/>
              <a:defRPr i="1"/>
            </a:lvl1pPr>
          </a:lstStyle>
          <a:p>
            <a:r>
              <a:rPr lang="en-US"/>
              <a:t>I</a:t>
            </a:r>
            <a:r>
              <a:rPr lang="en-GB"/>
              <a:t>nsert Logo Here</a:t>
            </a:r>
          </a:p>
        </p:txBody>
      </p:sp>
      <p:cxnSp>
        <p:nvCxnSpPr>
          <p:cNvPr id="7" name="Straight Connector 6">
            <a:extLst>
              <a:ext uri="{FF2B5EF4-FFF2-40B4-BE49-F238E27FC236}">
                <a16:creationId xmlns:a16="http://schemas.microsoft.com/office/drawing/2014/main" id="{1AD2F035-F83B-47A0-AE47-F349DFC1CBB7}"/>
              </a:ext>
            </a:extLst>
          </p:cNvPr>
          <p:cNvCxnSpPr/>
          <p:nvPr userDrawn="1"/>
        </p:nvCxnSpPr>
        <p:spPr>
          <a:xfrm>
            <a:off x="529771" y="3709307"/>
            <a:ext cx="11154229" cy="0"/>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9845E85B-D268-482E-8156-1D887254FE41}"/>
              </a:ext>
            </a:extLst>
          </p:cNvPr>
          <p:cNvSpPr txBox="1"/>
          <p:nvPr userDrawn="1"/>
        </p:nvSpPr>
        <p:spPr>
          <a:xfrm>
            <a:off x="451845" y="3083053"/>
            <a:ext cx="3809056" cy="553998"/>
          </a:xfrm>
          <a:prstGeom prst="rect">
            <a:avLst/>
          </a:prstGeom>
          <a:noFill/>
        </p:spPr>
        <p:txBody>
          <a:bodyPr wrap="none" rtlCol="0">
            <a:spAutoFit/>
          </a:bodyPr>
          <a:lstStyle/>
          <a:p>
            <a:r>
              <a:rPr lang="en-GB" sz="3000">
                <a:solidFill>
                  <a:schemeClr val="tx2"/>
                </a:solidFill>
                <a:latin typeface="Novecento sans wide Light" panose="00000405000000000000" pitchFamily="50" charset="0"/>
              </a:rPr>
              <a:t>Oxford Alpha Fund</a:t>
            </a:r>
          </a:p>
        </p:txBody>
      </p:sp>
      <p:sp>
        <p:nvSpPr>
          <p:cNvPr id="13" name="Title 1">
            <a:extLst>
              <a:ext uri="{FF2B5EF4-FFF2-40B4-BE49-F238E27FC236}">
                <a16:creationId xmlns:a16="http://schemas.microsoft.com/office/drawing/2014/main" id="{188B9789-7A8E-40E5-9C5E-F72530491271}"/>
              </a:ext>
            </a:extLst>
          </p:cNvPr>
          <p:cNvSpPr>
            <a:spLocks noGrp="1"/>
          </p:cNvSpPr>
          <p:nvPr>
            <p:ph type="title" hasCustomPrompt="1"/>
          </p:nvPr>
        </p:nvSpPr>
        <p:spPr>
          <a:xfrm>
            <a:off x="529771" y="3856038"/>
            <a:ext cx="8525329" cy="996943"/>
          </a:xfrm>
        </p:spPr>
        <p:txBody>
          <a:bodyPr anchor="t">
            <a:normAutofit/>
          </a:bodyPr>
          <a:lstStyle>
            <a:lvl1pPr>
              <a:defRPr sz="3600">
                <a:latin typeface="Novecento sans wide UltraLight" panose="00000705000000000000" pitchFamily="50" charset="0"/>
              </a:defRPr>
            </a:lvl1pPr>
          </a:lstStyle>
          <a:p>
            <a:r>
              <a:rPr lang="en-US"/>
              <a:t>Title</a:t>
            </a:r>
            <a:endParaRPr lang="en-GB"/>
          </a:p>
        </p:txBody>
      </p:sp>
      <p:sp>
        <p:nvSpPr>
          <p:cNvPr id="5" name="Text Placeholder 4">
            <a:extLst>
              <a:ext uri="{FF2B5EF4-FFF2-40B4-BE49-F238E27FC236}">
                <a16:creationId xmlns:a16="http://schemas.microsoft.com/office/drawing/2014/main" id="{E14A3DAB-2A9D-42A4-AC0C-A425A0D21A0C}"/>
              </a:ext>
            </a:extLst>
          </p:cNvPr>
          <p:cNvSpPr>
            <a:spLocks noGrp="1"/>
          </p:cNvSpPr>
          <p:nvPr>
            <p:ph type="body" sz="quarter" idx="11" hasCustomPrompt="1"/>
          </p:nvPr>
        </p:nvSpPr>
        <p:spPr>
          <a:xfrm>
            <a:off x="529770" y="5105357"/>
            <a:ext cx="11154230" cy="1338262"/>
          </a:xfrm>
        </p:spPr>
        <p:txBody>
          <a:bodyPr/>
          <a:lstStyle>
            <a:lvl1pPr>
              <a:buNone/>
              <a:defRPr sz="2200">
                <a:latin typeface="Novecento sans wide Light" panose="00000405000000000000" pitchFamily="50" charset="0"/>
              </a:defRPr>
            </a:lvl1pPr>
          </a:lstStyle>
          <a:p>
            <a:pPr lvl="0"/>
            <a:r>
              <a:rPr lang="en-US"/>
              <a:t>Insert Names Here</a:t>
            </a:r>
            <a:endParaRPr lang="en-GB"/>
          </a:p>
        </p:txBody>
      </p:sp>
      <p:pic>
        <p:nvPicPr>
          <p:cNvPr id="8" name="Picture 7" descr="Logo&#10;&#10;Description automatically generated">
            <a:extLst>
              <a:ext uri="{FF2B5EF4-FFF2-40B4-BE49-F238E27FC236}">
                <a16:creationId xmlns:a16="http://schemas.microsoft.com/office/drawing/2014/main" id="{4CF8CEFD-53BD-EE4E-8471-2BECBBD419E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601932" y="-151925"/>
            <a:ext cx="5257282" cy="5257282"/>
          </a:xfrm>
          <a:prstGeom prst="rect">
            <a:avLst/>
          </a:prstGeom>
        </p:spPr>
      </p:pic>
    </p:spTree>
    <p:extLst>
      <p:ext uri="{BB962C8B-B14F-4D97-AF65-F5344CB8AC3E}">
        <p14:creationId xmlns:p14="http://schemas.microsoft.com/office/powerpoint/2010/main" val="2343632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E938D7CA-25A8-41DE-B98C-5D90FC9240CF}"/>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31AA6C68-1D4B-4DF7-9A5A-06EC7E89D364}"/>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37" name="Content Placeholder 2">
            <a:extLst>
              <a:ext uri="{FF2B5EF4-FFF2-40B4-BE49-F238E27FC236}">
                <a16:creationId xmlns:a16="http://schemas.microsoft.com/office/drawing/2014/main" id="{DD1C88F8-A01C-4EE1-8590-B6D98A4A2888}"/>
              </a:ext>
            </a:extLst>
          </p:cNvPr>
          <p:cNvSpPr>
            <a:spLocks noGrp="1"/>
          </p:cNvSpPr>
          <p:nvPr>
            <p:ph idx="1"/>
          </p:nvPr>
        </p:nvSpPr>
        <p:spPr>
          <a:xfrm>
            <a:off x="529770" y="1044185"/>
            <a:ext cx="11154229" cy="5214374"/>
          </a:xfrm>
        </p:spPr>
        <p:txBody>
          <a:bodyPr>
            <a:normAutofit/>
          </a:bodyPr>
          <a:lstStyle>
            <a:lvl1pPr marL="741363" indent="-568325">
              <a:buFont typeface="+mj-lt"/>
              <a:buAutoNum type="arabicPeriod"/>
              <a:defRPr sz="2800">
                <a:latin typeface="+mn-lt"/>
              </a:defRPr>
            </a:lvl1pPr>
            <a:lvl2pPr marL="971550" indent="-514350">
              <a:buFont typeface="+mj-lt"/>
              <a:buAutoNum type="arabicPeriod"/>
              <a:defRPr sz="2800">
                <a:latin typeface="+mn-lt"/>
              </a:defRPr>
            </a:lvl2pPr>
            <a:lvl3pPr marL="1428750" indent="-514350">
              <a:buFont typeface="+mj-lt"/>
              <a:buAutoNum type="arabicPeriod"/>
              <a:defRPr sz="2800">
                <a:latin typeface="+mn-lt"/>
              </a:defRPr>
            </a:lvl3pPr>
            <a:lvl4pPr marL="1885950" indent="-514350">
              <a:buFont typeface="+mj-lt"/>
              <a:buAutoNum type="arabicPeriod"/>
              <a:defRPr sz="2800">
                <a:latin typeface="+mn-lt"/>
              </a:defRPr>
            </a:lvl4pPr>
            <a:lvl5pPr marL="2343150" indent="-514350">
              <a:buFont typeface="+mj-lt"/>
              <a:buAutoNum type="arabicPeriod"/>
              <a:defRPr sz="2800">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737E96E4-9F27-4FF1-9A69-C55FFCDA04EC}"/>
              </a:ext>
            </a:extLst>
          </p:cNvPr>
          <p:cNvSpPr>
            <a:spLocks noGrp="1"/>
          </p:cNvSpPr>
          <p:nvPr>
            <p:ph type="dt" sz="half" idx="10"/>
          </p:nvPr>
        </p:nvSpPr>
        <p:spPr/>
        <p:txBody>
          <a:bodyPr/>
          <a:lstStyle/>
          <a:p>
            <a:fld id="{5D77077C-FEF9-4A07-92A0-31EDE9512421}" type="datetime1">
              <a:rPr lang="en-US" smtClean="0"/>
              <a:pPr/>
              <a:t>6/13/2026</a:t>
            </a:fld>
            <a:r>
              <a:rPr lang="en-US"/>
              <a:t>; $MM unless otherwise stated</a:t>
            </a:r>
            <a:endParaRPr lang="en-GB"/>
          </a:p>
        </p:txBody>
      </p:sp>
      <p:sp>
        <p:nvSpPr>
          <p:cNvPr id="8" name="Footer Placeholder 7">
            <a:extLst>
              <a:ext uri="{FF2B5EF4-FFF2-40B4-BE49-F238E27FC236}">
                <a16:creationId xmlns:a16="http://schemas.microsoft.com/office/drawing/2014/main" id="{67F8960E-AAA8-4E8B-AD56-56E92E78A92E}"/>
              </a:ext>
            </a:extLst>
          </p:cNvPr>
          <p:cNvSpPr>
            <a:spLocks noGrp="1"/>
          </p:cNvSpPr>
          <p:nvPr>
            <p:ph type="ftr" sz="quarter" idx="11"/>
          </p:nvPr>
        </p:nvSpPr>
        <p:spPr/>
        <p:txBody>
          <a:bodyPr/>
          <a:lstStyle/>
          <a:p>
            <a:r>
              <a:rPr lang="en-GB"/>
              <a:t>Insert Stock Name (XXXX: XXXXX)</a:t>
            </a:r>
          </a:p>
        </p:txBody>
      </p:sp>
      <p:sp>
        <p:nvSpPr>
          <p:cNvPr id="9" name="Slide Number Placeholder 8">
            <a:extLst>
              <a:ext uri="{FF2B5EF4-FFF2-40B4-BE49-F238E27FC236}">
                <a16:creationId xmlns:a16="http://schemas.microsoft.com/office/drawing/2014/main" id="{EAD45E96-B27C-4145-99D5-06FBB19B5DB6}"/>
              </a:ext>
            </a:extLst>
          </p:cNvPr>
          <p:cNvSpPr>
            <a:spLocks noGrp="1"/>
          </p:cNvSpPr>
          <p:nvPr>
            <p:ph type="sldNum" sz="quarter" idx="12"/>
          </p:nvPr>
        </p:nvSpPr>
        <p:spPr/>
        <p:txBody>
          <a:bodyPr/>
          <a:lstStyle/>
          <a:p>
            <a:fld id="{225705C9-C93A-4611-A575-E7A979D414CC}" type="slidenum">
              <a:rPr lang="en-GB" smtClean="0"/>
              <a:pPr/>
              <a:t>‹#›</a:t>
            </a:fld>
            <a:endParaRPr lang="en-GB"/>
          </a:p>
        </p:txBody>
      </p:sp>
      <p:sp>
        <p:nvSpPr>
          <p:cNvPr id="17" name="Title 1">
            <a:extLst>
              <a:ext uri="{FF2B5EF4-FFF2-40B4-BE49-F238E27FC236}">
                <a16:creationId xmlns:a16="http://schemas.microsoft.com/office/drawing/2014/main" id="{E4635465-492F-4A97-8443-F0D9397CD2C3}"/>
              </a:ext>
            </a:extLst>
          </p:cNvPr>
          <p:cNvSpPr txBox="1">
            <a:spLocks/>
          </p:cNvSpPr>
          <p:nvPr userDrawn="1"/>
        </p:nvSpPr>
        <p:spPr>
          <a:xfrm>
            <a:off x="508000" y="130480"/>
            <a:ext cx="11154229" cy="7940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Novecento sans wide UltraLight" panose="00000705000000000000" pitchFamily="50" charset="0"/>
                <a:ea typeface="+mj-ea"/>
                <a:cs typeface="+mj-cs"/>
              </a:defRPr>
            </a:lvl1pPr>
          </a:lstStyle>
          <a:p>
            <a:r>
              <a:rPr lang="en-US"/>
              <a:t>Table Of Contents</a:t>
            </a:r>
            <a:endParaRPr lang="en-GB"/>
          </a:p>
        </p:txBody>
      </p:sp>
      <p:pic>
        <p:nvPicPr>
          <p:cNvPr id="10" name="Picture 9" descr="Logo&#10;&#10;Description automatically generated">
            <a:extLst>
              <a:ext uri="{FF2B5EF4-FFF2-40B4-BE49-F238E27FC236}">
                <a16:creationId xmlns:a16="http://schemas.microsoft.com/office/drawing/2014/main" id="{5CB835A0-C31C-3A49-8CEB-67744DE40E1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spTree>
    <p:extLst>
      <p:ext uri="{BB962C8B-B14F-4D97-AF65-F5344CB8AC3E}">
        <p14:creationId xmlns:p14="http://schemas.microsoft.com/office/powerpoint/2010/main" val="1237876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9DC755C-CC3D-4454-8F2E-9F7FFFF77345}"/>
              </a:ext>
            </a:extLst>
          </p:cNvPr>
          <p:cNvSpPr>
            <a:spLocks noGrp="1"/>
          </p:cNvSpPr>
          <p:nvPr>
            <p:ph type="title" hasCustomPrompt="1"/>
          </p:nvPr>
        </p:nvSpPr>
        <p:spPr>
          <a:xfrm>
            <a:off x="529771" y="136525"/>
            <a:ext cx="11154229" cy="794071"/>
          </a:xfrm>
        </p:spPr>
        <p:txBody>
          <a:bodyPr>
            <a:normAutofit/>
          </a:bodyPr>
          <a:lstStyle>
            <a:lvl1pPr>
              <a:defRPr sz="4000">
                <a:latin typeface="Novecento sans wide UltraLight" panose="00000705000000000000" pitchFamily="50" charset="0"/>
              </a:defRPr>
            </a:lvl1pPr>
          </a:lstStyle>
          <a:p>
            <a:r>
              <a:rPr lang="en-US"/>
              <a:t>Title</a:t>
            </a:r>
            <a:endParaRPr lang="en-GB"/>
          </a:p>
        </p:txBody>
      </p:sp>
      <p:sp>
        <p:nvSpPr>
          <p:cNvPr id="9" name="Content Placeholder 2">
            <a:extLst>
              <a:ext uri="{FF2B5EF4-FFF2-40B4-BE49-F238E27FC236}">
                <a16:creationId xmlns:a16="http://schemas.microsoft.com/office/drawing/2014/main" id="{F006A7A6-F3C2-4383-BCCD-5D3DAA1B8D17}"/>
              </a:ext>
            </a:extLst>
          </p:cNvPr>
          <p:cNvSpPr>
            <a:spLocks noGrp="1"/>
          </p:cNvSpPr>
          <p:nvPr>
            <p:ph idx="1" hasCustomPrompt="1"/>
          </p:nvPr>
        </p:nvSpPr>
        <p:spPr>
          <a:xfrm>
            <a:off x="646822" y="1831341"/>
            <a:ext cx="5349762" cy="4334494"/>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CEB59B9F-3C2B-41EC-BFD4-CE1C225EAC62}"/>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sp>
        <p:nvSpPr>
          <p:cNvPr id="15" name="Content Placeholder 2">
            <a:extLst>
              <a:ext uri="{FF2B5EF4-FFF2-40B4-BE49-F238E27FC236}">
                <a16:creationId xmlns:a16="http://schemas.microsoft.com/office/drawing/2014/main" id="{EA6EC0B9-9F4B-4185-AF80-49BE331D9D7D}"/>
              </a:ext>
            </a:extLst>
          </p:cNvPr>
          <p:cNvSpPr>
            <a:spLocks noGrp="1"/>
          </p:cNvSpPr>
          <p:nvPr>
            <p:ph idx="14" hasCustomPrompt="1"/>
          </p:nvPr>
        </p:nvSpPr>
        <p:spPr>
          <a:xfrm>
            <a:off x="6391564" y="1831341"/>
            <a:ext cx="5292436" cy="4334480"/>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13">
            <a:extLst>
              <a:ext uri="{FF2B5EF4-FFF2-40B4-BE49-F238E27FC236}">
                <a16:creationId xmlns:a16="http://schemas.microsoft.com/office/drawing/2014/main" id="{65764EE2-CEC1-4C18-8B64-3846DAFFB77B}"/>
              </a:ext>
            </a:extLst>
          </p:cNvPr>
          <p:cNvSpPr>
            <a:spLocks noGrp="1"/>
          </p:cNvSpPr>
          <p:nvPr>
            <p:ph type="body" sz="quarter" idx="16"/>
          </p:nvPr>
        </p:nvSpPr>
        <p:spPr>
          <a:xfrm>
            <a:off x="836285" y="1474283"/>
            <a:ext cx="5160300"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0" name="Text Placeholder 13">
            <a:extLst>
              <a:ext uri="{FF2B5EF4-FFF2-40B4-BE49-F238E27FC236}">
                <a16:creationId xmlns:a16="http://schemas.microsoft.com/office/drawing/2014/main" id="{842EE48E-2F82-4966-946D-824BA2DF57D1}"/>
              </a:ext>
            </a:extLst>
          </p:cNvPr>
          <p:cNvSpPr>
            <a:spLocks noGrp="1"/>
          </p:cNvSpPr>
          <p:nvPr>
            <p:ph type="body" sz="quarter" idx="19"/>
          </p:nvPr>
        </p:nvSpPr>
        <p:spPr>
          <a:xfrm>
            <a:off x="6598384" y="1475233"/>
            <a:ext cx="5085614"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1" name="Text Placeholder 13">
            <a:extLst>
              <a:ext uri="{FF2B5EF4-FFF2-40B4-BE49-F238E27FC236}">
                <a16:creationId xmlns:a16="http://schemas.microsoft.com/office/drawing/2014/main" id="{42B481FC-BE5B-409E-8F16-28AA8B20DFAF}"/>
              </a:ext>
            </a:extLst>
          </p:cNvPr>
          <p:cNvSpPr>
            <a:spLocks noGrp="1"/>
          </p:cNvSpPr>
          <p:nvPr>
            <p:ph type="body" sz="quarter" idx="20" hasCustomPrompt="1"/>
          </p:nvPr>
        </p:nvSpPr>
        <p:spPr>
          <a:xfrm>
            <a:off x="529771" y="982473"/>
            <a:ext cx="11154217" cy="297129"/>
          </a:xfrm>
        </p:spPr>
        <p:txBody>
          <a:bodyPr>
            <a:noAutofit/>
          </a:bodyPr>
          <a:lstStyle>
            <a:lvl1pPr marL="0" indent="0">
              <a:buNone/>
              <a:defRPr sz="18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Subtitle</a:t>
            </a:r>
          </a:p>
        </p:txBody>
      </p:sp>
      <p:cxnSp>
        <p:nvCxnSpPr>
          <p:cNvPr id="23" name="Straight Connector 22">
            <a:extLst>
              <a:ext uri="{FF2B5EF4-FFF2-40B4-BE49-F238E27FC236}">
                <a16:creationId xmlns:a16="http://schemas.microsoft.com/office/drawing/2014/main" id="{C0F92604-5F3C-4BD8-997C-4E6DD75BBCC7}"/>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29" name="Rectangle 28">
            <a:extLst>
              <a:ext uri="{FF2B5EF4-FFF2-40B4-BE49-F238E27FC236}">
                <a16:creationId xmlns:a16="http://schemas.microsoft.com/office/drawing/2014/main" id="{3EC05DBE-03B5-4B4A-813C-6800C15E9BFA}"/>
              </a:ext>
            </a:extLst>
          </p:cNvPr>
          <p:cNvSpPr/>
          <p:nvPr userDrawn="1"/>
        </p:nvSpPr>
        <p:spPr>
          <a:xfrm>
            <a:off x="646822" y="1451825"/>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051C22FC-08CC-4F3F-9262-5B04248B6B78}"/>
              </a:ext>
            </a:extLst>
          </p:cNvPr>
          <p:cNvSpPr/>
          <p:nvPr userDrawn="1"/>
        </p:nvSpPr>
        <p:spPr>
          <a:xfrm>
            <a:off x="6396323" y="1451825"/>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756B7F6B-3348-43B5-951B-7E6EAC674AA5}"/>
              </a:ext>
            </a:extLst>
          </p:cNvPr>
          <p:cNvSpPr>
            <a:spLocks noGrp="1"/>
          </p:cNvSpPr>
          <p:nvPr>
            <p:ph type="dt" sz="half" idx="21"/>
          </p:nvPr>
        </p:nvSpPr>
        <p:spPr/>
        <p:txBody>
          <a:bodyPr/>
          <a:lstStyle/>
          <a:p>
            <a:fld id="{5D77077C-FEF9-4A07-92A0-31EDE9512421}" type="datetime1">
              <a:rPr lang="en-US" smtClean="0"/>
              <a:pPr/>
              <a:t>6/13/2026</a:t>
            </a:fld>
            <a:r>
              <a:rPr lang="en-US"/>
              <a:t>; $MM unless otherwise stated</a:t>
            </a:r>
            <a:endParaRPr lang="en-GB"/>
          </a:p>
        </p:txBody>
      </p:sp>
      <p:sp>
        <p:nvSpPr>
          <p:cNvPr id="3" name="Footer Placeholder 2">
            <a:extLst>
              <a:ext uri="{FF2B5EF4-FFF2-40B4-BE49-F238E27FC236}">
                <a16:creationId xmlns:a16="http://schemas.microsoft.com/office/drawing/2014/main" id="{B45D9BC5-C473-4D2A-BFF3-67BF9639513E}"/>
              </a:ext>
            </a:extLst>
          </p:cNvPr>
          <p:cNvSpPr>
            <a:spLocks noGrp="1"/>
          </p:cNvSpPr>
          <p:nvPr>
            <p:ph type="ftr" sz="quarter" idx="22"/>
          </p:nvPr>
        </p:nvSpPr>
        <p:spPr/>
        <p:txBody>
          <a:bodyPr/>
          <a:lstStyle/>
          <a:p>
            <a:r>
              <a:rPr lang="en-GB"/>
              <a:t>Insert Stock Name (XXXX: XXXXX)</a:t>
            </a:r>
          </a:p>
        </p:txBody>
      </p:sp>
      <p:sp>
        <p:nvSpPr>
          <p:cNvPr id="4" name="Slide Number Placeholder 3">
            <a:extLst>
              <a:ext uri="{FF2B5EF4-FFF2-40B4-BE49-F238E27FC236}">
                <a16:creationId xmlns:a16="http://schemas.microsoft.com/office/drawing/2014/main" id="{FC231826-5C89-40F3-B6D8-24BEF694D428}"/>
              </a:ext>
            </a:extLst>
          </p:cNvPr>
          <p:cNvSpPr>
            <a:spLocks noGrp="1"/>
          </p:cNvSpPr>
          <p:nvPr>
            <p:ph type="sldNum" sz="quarter" idx="23"/>
          </p:nvPr>
        </p:nvSpPr>
        <p:spPr/>
        <p:txBody>
          <a:bodyPr/>
          <a:lstStyle/>
          <a:p>
            <a:fld id="{225705C9-C93A-4611-A575-E7A979D414CC}" type="slidenum">
              <a:rPr lang="en-GB" smtClean="0"/>
              <a:pPr/>
              <a:t>‹#›</a:t>
            </a:fld>
            <a:endParaRPr lang="en-GB"/>
          </a:p>
        </p:txBody>
      </p:sp>
      <p:pic>
        <p:nvPicPr>
          <p:cNvPr id="16" name="Picture 15" descr="Logo&#10;&#10;Description automatically generated">
            <a:extLst>
              <a:ext uri="{FF2B5EF4-FFF2-40B4-BE49-F238E27FC236}">
                <a16:creationId xmlns:a16="http://schemas.microsoft.com/office/drawing/2014/main" id="{FF39350F-462C-2F4C-96C1-9A204DD5824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spTree>
    <p:extLst>
      <p:ext uri="{BB962C8B-B14F-4D97-AF65-F5344CB8AC3E}">
        <p14:creationId xmlns:p14="http://schemas.microsoft.com/office/powerpoint/2010/main" val="2512878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 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9DC755C-CC3D-4454-8F2E-9F7FFFF77345}"/>
              </a:ext>
            </a:extLst>
          </p:cNvPr>
          <p:cNvSpPr>
            <a:spLocks noGrp="1"/>
          </p:cNvSpPr>
          <p:nvPr>
            <p:ph type="title" hasCustomPrompt="1"/>
          </p:nvPr>
        </p:nvSpPr>
        <p:spPr>
          <a:xfrm>
            <a:off x="529771" y="136525"/>
            <a:ext cx="11154229" cy="794071"/>
          </a:xfrm>
        </p:spPr>
        <p:txBody>
          <a:bodyPr>
            <a:normAutofit/>
          </a:bodyPr>
          <a:lstStyle>
            <a:lvl1pPr>
              <a:defRPr sz="4000">
                <a:latin typeface="Novecento sans wide UltraLight" panose="00000705000000000000" pitchFamily="50" charset="0"/>
              </a:defRPr>
            </a:lvl1pPr>
          </a:lstStyle>
          <a:p>
            <a:r>
              <a:rPr lang="en-US"/>
              <a:t>Title</a:t>
            </a:r>
            <a:endParaRPr lang="en-GB"/>
          </a:p>
        </p:txBody>
      </p:sp>
      <p:sp>
        <p:nvSpPr>
          <p:cNvPr id="9" name="Content Placeholder 2">
            <a:extLst>
              <a:ext uri="{FF2B5EF4-FFF2-40B4-BE49-F238E27FC236}">
                <a16:creationId xmlns:a16="http://schemas.microsoft.com/office/drawing/2014/main" id="{F006A7A6-F3C2-4383-BCCD-5D3DAA1B8D17}"/>
              </a:ext>
            </a:extLst>
          </p:cNvPr>
          <p:cNvSpPr>
            <a:spLocks noGrp="1"/>
          </p:cNvSpPr>
          <p:nvPr>
            <p:ph idx="1" hasCustomPrompt="1"/>
          </p:nvPr>
        </p:nvSpPr>
        <p:spPr>
          <a:xfrm>
            <a:off x="646822" y="1831341"/>
            <a:ext cx="5349762" cy="1827253"/>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CEB59B9F-3C2B-41EC-BFD4-CE1C225EAC62}"/>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sp>
        <p:nvSpPr>
          <p:cNvPr id="14" name="Content Placeholder 2">
            <a:extLst>
              <a:ext uri="{FF2B5EF4-FFF2-40B4-BE49-F238E27FC236}">
                <a16:creationId xmlns:a16="http://schemas.microsoft.com/office/drawing/2014/main" id="{00DAA218-479B-4B09-A63D-9DB8EA679053}"/>
              </a:ext>
            </a:extLst>
          </p:cNvPr>
          <p:cNvSpPr>
            <a:spLocks noGrp="1"/>
          </p:cNvSpPr>
          <p:nvPr>
            <p:ph idx="13" hasCustomPrompt="1"/>
          </p:nvPr>
        </p:nvSpPr>
        <p:spPr>
          <a:xfrm>
            <a:off x="646822" y="4278999"/>
            <a:ext cx="5349762" cy="1886841"/>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2">
            <a:extLst>
              <a:ext uri="{FF2B5EF4-FFF2-40B4-BE49-F238E27FC236}">
                <a16:creationId xmlns:a16="http://schemas.microsoft.com/office/drawing/2014/main" id="{EA6EC0B9-9F4B-4185-AF80-49BE331D9D7D}"/>
              </a:ext>
            </a:extLst>
          </p:cNvPr>
          <p:cNvSpPr>
            <a:spLocks noGrp="1"/>
          </p:cNvSpPr>
          <p:nvPr>
            <p:ph idx="14" hasCustomPrompt="1"/>
          </p:nvPr>
        </p:nvSpPr>
        <p:spPr>
          <a:xfrm>
            <a:off x="6391564" y="1831341"/>
            <a:ext cx="5292436" cy="1827253"/>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Content Placeholder 2">
            <a:extLst>
              <a:ext uri="{FF2B5EF4-FFF2-40B4-BE49-F238E27FC236}">
                <a16:creationId xmlns:a16="http://schemas.microsoft.com/office/drawing/2014/main" id="{41027A55-6DF2-420E-8CC7-658F674FE44E}"/>
              </a:ext>
            </a:extLst>
          </p:cNvPr>
          <p:cNvSpPr>
            <a:spLocks noGrp="1"/>
          </p:cNvSpPr>
          <p:nvPr>
            <p:ph idx="15" hasCustomPrompt="1"/>
          </p:nvPr>
        </p:nvSpPr>
        <p:spPr>
          <a:xfrm>
            <a:off x="6391564" y="4279000"/>
            <a:ext cx="5292436" cy="1886835"/>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13">
            <a:extLst>
              <a:ext uri="{FF2B5EF4-FFF2-40B4-BE49-F238E27FC236}">
                <a16:creationId xmlns:a16="http://schemas.microsoft.com/office/drawing/2014/main" id="{65764EE2-CEC1-4C18-8B64-3846DAFFB77B}"/>
              </a:ext>
            </a:extLst>
          </p:cNvPr>
          <p:cNvSpPr>
            <a:spLocks noGrp="1"/>
          </p:cNvSpPr>
          <p:nvPr>
            <p:ph type="body" sz="quarter" idx="16"/>
          </p:nvPr>
        </p:nvSpPr>
        <p:spPr>
          <a:xfrm>
            <a:off x="836285" y="1474283"/>
            <a:ext cx="5160300"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18" name="Text Placeholder 13">
            <a:extLst>
              <a:ext uri="{FF2B5EF4-FFF2-40B4-BE49-F238E27FC236}">
                <a16:creationId xmlns:a16="http://schemas.microsoft.com/office/drawing/2014/main" id="{FFDD6659-028F-4CE9-857A-34855DAC9AFD}"/>
              </a:ext>
            </a:extLst>
          </p:cNvPr>
          <p:cNvSpPr>
            <a:spLocks noGrp="1"/>
          </p:cNvSpPr>
          <p:nvPr>
            <p:ph type="body" sz="quarter" idx="17"/>
          </p:nvPr>
        </p:nvSpPr>
        <p:spPr>
          <a:xfrm>
            <a:off x="836285" y="3942442"/>
            <a:ext cx="5160300"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19" name="Text Placeholder 13">
            <a:extLst>
              <a:ext uri="{FF2B5EF4-FFF2-40B4-BE49-F238E27FC236}">
                <a16:creationId xmlns:a16="http://schemas.microsoft.com/office/drawing/2014/main" id="{8F5981D2-C015-4185-B2AD-7DC0F858B885}"/>
              </a:ext>
            </a:extLst>
          </p:cNvPr>
          <p:cNvSpPr>
            <a:spLocks noGrp="1"/>
          </p:cNvSpPr>
          <p:nvPr>
            <p:ph type="body" sz="quarter" idx="18"/>
          </p:nvPr>
        </p:nvSpPr>
        <p:spPr>
          <a:xfrm>
            <a:off x="6598386" y="3947562"/>
            <a:ext cx="5085614"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0" name="Text Placeholder 13">
            <a:extLst>
              <a:ext uri="{FF2B5EF4-FFF2-40B4-BE49-F238E27FC236}">
                <a16:creationId xmlns:a16="http://schemas.microsoft.com/office/drawing/2014/main" id="{842EE48E-2F82-4966-946D-824BA2DF57D1}"/>
              </a:ext>
            </a:extLst>
          </p:cNvPr>
          <p:cNvSpPr>
            <a:spLocks noGrp="1"/>
          </p:cNvSpPr>
          <p:nvPr>
            <p:ph type="body" sz="quarter" idx="19"/>
          </p:nvPr>
        </p:nvSpPr>
        <p:spPr>
          <a:xfrm>
            <a:off x="6598384" y="1475233"/>
            <a:ext cx="5085614"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1" name="Text Placeholder 13">
            <a:extLst>
              <a:ext uri="{FF2B5EF4-FFF2-40B4-BE49-F238E27FC236}">
                <a16:creationId xmlns:a16="http://schemas.microsoft.com/office/drawing/2014/main" id="{42B481FC-BE5B-409E-8F16-28AA8B20DFAF}"/>
              </a:ext>
            </a:extLst>
          </p:cNvPr>
          <p:cNvSpPr>
            <a:spLocks noGrp="1"/>
          </p:cNvSpPr>
          <p:nvPr>
            <p:ph type="body" sz="quarter" idx="20" hasCustomPrompt="1"/>
          </p:nvPr>
        </p:nvSpPr>
        <p:spPr>
          <a:xfrm>
            <a:off x="529771" y="982473"/>
            <a:ext cx="11154217" cy="297129"/>
          </a:xfrm>
        </p:spPr>
        <p:txBody>
          <a:bodyPr>
            <a:noAutofit/>
          </a:bodyPr>
          <a:lstStyle>
            <a:lvl1pPr marL="0" indent="0">
              <a:buNone/>
              <a:defRPr sz="18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Subtitle</a:t>
            </a:r>
          </a:p>
        </p:txBody>
      </p:sp>
      <p:cxnSp>
        <p:nvCxnSpPr>
          <p:cNvPr id="23" name="Straight Connector 22">
            <a:extLst>
              <a:ext uri="{FF2B5EF4-FFF2-40B4-BE49-F238E27FC236}">
                <a16:creationId xmlns:a16="http://schemas.microsoft.com/office/drawing/2014/main" id="{C0F92604-5F3C-4BD8-997C-4E6DD75BBCC7}"/>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26" name="Rectangle 25">
            <a:extLst>
              <a:ext uri="{FF2B5EF4-FFF2-40B4-BE49-F238E27FC236}">
                <a16:creationId xmlns:a16="http://schemas.microsoft.com/office/drawing/2014/main" id="{0247991C-F1ED-42EC-B609-337B1E8F88A3}"/>
              </a:ext>
            </a:extLst>
          </p:cNvPr>
          <p:cNvSpPr/>
          <p:nvPr userDrawn="1"/>
        </p:nvSpPr>
        <p:spPr>
          <a:xfrm>
            <a:off x="637309" y="3922943"/>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0D999873-8DD7-40C5-A476-7C5ED7AD6134}"/>
              </a:ext>
            </a:extLst>
          </p:cNvPr>
          <p:cNvSpPr/>
          <p:nvPr userDrawn="1"/>
        </p:nvSpPr>
        <p:spPr>
          <a:xfrm>
            <a:off x="6391564" y="3915346"/>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3EC05DBE-03B5-4B4A-813C-6800C15E9BFA}"/>
              </a:ext>
            </a:extLst>
          </p:cNvPr>
          <p:cNvSpPr/>
          <p:nvPr userDrawn="1"/>
        </p:nvSpPr>
        <p:spPr>
          <a:xfrm>
            <a:off x="646822" y="1451825"/>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051C22FC-08CC-4F3F-9262-5B04248B6B78}"/>
              </a:ext>
            </a:extLst>
          </p:cNvPr>
          <p:cNvSpPr/>
          <p:nvPr userDrawn="1"/>
        </p:nvSpPr>
        <p:spPr>
          <a:xfrm>
            <a:off x="6396323" y="1451825"/>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034AA53C-E74A-4A17-AD89-64DB9F644D79}"/>
              </a:ext>
            </a:extLst>
          </p:cNvPr>
          <p:cNvSpPr>
            <a:spLocks noGrp="1"/>
          </p:cNvSpPr>
          <p:nvPr>
            <p:ph type="dt" sz="half" idx="21"/>
          </p:nvPr>
        </p:nvSpPr>
        <p:spPr/>
        <p:txBody>
          <a:bodyPr/>
          <a:lstStyle/>
          <a:p>
            <a:fld id="{5D77077C-FEF9-4A07-92A0-31EDE9512421}" type="datetime1">
              <a:rPr lang="en-US" smtClean="0"/>
              <a:pPr/>
              <a:t>6/13/2026</a:t>
            </a:fld>
            <a:r>
              <a:rPr lang="en-US"/>
              <a:t>; $MM unless otherwise stated</a:t>
            </a:r>
            <a:endParaRPr lang="en-GB"/>
          </a:p>
        </p:txBody>
      </p:sp>
      <p:sp>
        <p:nvSpPr>
          <p:cNvPr id="3" name="Footer Placeholder 2">
            <a:extLst>
              <a:ext uri="{FF2B5EF4-FFF2-40B4-BE49-F238E27FC236}">
                <a16:creationId xmlns:a16="http://schemas.microsoft.com/office/drawing/2014/main" id="{7EF27A3F-E107-453F-9CFA-03696D7E1C25}"/>
              </a:ext>
            </a:extLst>
          </p:cNvPr>
          <p:cNvSpPr>
            <a:spLocks noGrp="1"/>
          </p:cNvSpPr>
          <p:nvPr>
            <p:ph type="ftr" sz="quarter" idx="22"/>
          </p:nvPr>
        </p:nvSpPr>
        <p:spPr/>
        <p:txBody>
          <a:bodyPr/>
          <a:lstStyle/>
          <a:p>
            <a:r>
              <a:rPr lang="en-GB"/>
              <a:t>Insert Stock Name (XXXX: XXXXX)</a:t>
            </a:r>
          </a:p>
        </p:txBody>
      </p:sp>
      <p:sp>
        <p:nvSpPr>
          <p:cNvPr id="4" name="Slide Number Placeholder 3">
            <a:extLst>
              <a:ext uri="{FF2B5EF4-FFF2-40B4-BE49-F238E27FC236}">
                <a16:creationId xmlns:a16="http://schemas.microsoft.com/office/drawing/2014/main" id="{D55E6F92-1450-4A22-A812-B8415E22DD92}"/>
              </a:ext>
            </a:extLst>
          </p:cNvPr>
          <p:cNvSpPr>
            <a:spLocks noGrp="1"/>
          </p:cNvSpPr>
          <p:nvPr>
            <p:ph type="sldNum" sz="quarter" idx="23"/>
          </p:nvPr>
        </p:nvSpPr>
        <p:spPr/>
        <p:txBody>
          <a:bodyPr/>
          <a:lstStyle/>
          <a:p>
            <a:fld id="{225705C9-C93A-4611-A575-E7A979D414CC}" type="slidenum">
              <a:rPr lang="en-GB" smtClean="0"/>
              <a:pPr/>
              <a:t>‹#›</a:t>
            </a:fld>
            <a:endParaRPr lang="en-GB"/>
          </a:p>
        </p:txBody>
      </p:sp>
      <p:pic>
        <p:nvPicPr>
          <p:cNvPr id="22" name="Picture 21" descr="Logo&#10;&#10;Description automatically generated">
            <a:extLst>
              <a:ext uri="{FF2B5EF4-FFF2-40B4-BE49-F238E27FC236}">
                <a16:creationId xmlns:a16="http://schemas.microsoft.com/office/drawing/2014/main" id="{DE8BFCCE-B583-7744-A6FF-0BA1D1F774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spTree>
    <p:extLst>
      <p:ext uri="{BB962C8B-B14F-4D97-AF65-F5344CB8AC3E}">
        <p14:creationId xmlns:p14="http://schemas.microsoft.com/office/powerpoint/2010/main" val="3781013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Content (v1)">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9DC755C-CC3D-4454-8F2E-9F7FFFF77345}"/>
              </a:ext>
            </a:extLst>
          </p:cNvPr>
          <p:cNvSpPr>
            <a:spLocks noGrp="1"/>
          </p:cNvSpPr>
          <p:nvPr>
            <p:ph type="title" hasCustomPrompt="1"/>
          </p:nvPr>
        </p:nvSpPr>
        <p:spPr>
          <a:xfrm>
            <a:off x="529771" y="136525"/>
            <a:ext cx="11154229" cy="794071"/>
          </a:xfrm>
        </p:spPr>
        <p:txBody>
          <a:bodyPr>
            <a:normAutofit/>
          </a:bodyPr>
          <a:lstStyle>
            <a:lvl1pPr>
              <a:defRPr sz="4000">
                <a:latin typeface="Novecento sans wide UltraLight" panose="00000705000000000000" pitchFamily="50" charset="0"/>
              </a:defRPr>
            </a:lvl1pPr>
          </a:lstStyle>
          <a:p>
            <a:r>
              <a:rPr lang="en-US"/>
              <a:t>Title</a:t>
            </a:r>
            <a:endParaRPr lang="en-GB"/>
          </a:p>
        </p:txBody>
      </p:sp>
      <p:cxnSp>
        <p:nvCxnSpPr>
          <p:cNvPr id="13" name="Straight Connector 12">
            <a:extLst>
              <a:ext uri="{FF2B5EF4-FFF2-40B4-BE49-F238E27FC236}">
                <a16:creationId xmlns:a16="http://schemas.microsoft.com/office/drawing/2014/main" id="{CEB59B9F-3C2B-41EC-BFD4-CE1C225EAC62}"/>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sp>
        <p:nvSpPr>
          <p:cNvPr id="15" name="Content Placeholder 2">
            <a:extLst>
              <a:ext uri="{FF2B5EF4-FFF2-40B4-BE49-F238E27FC236}">
                <a16:creationId xmlns:a16="http://schemas.microsoft.com/office/drawing/2014/main" id="{EA6EC0B9-9F4B-4185-AF80-49BE331D9D7D}"/>
              </a:ext>
            </a:extLst>
          </p:cNvPr>
          <p:cNvSpPr>
            <a:spLocks noGrp="1"/>
          </p:cNvSpPr>
          <p:nvPr>
            <p:ph idx="14" hasCustomPrompt="1"/>
          </p:nvPr>
        </p:nvSpPr>
        <p:spPr>
          <a:xfrm>
            <a:off x="6391564" y="1831341"/>
            <a:ext cx="5292436" cy="4334480"/>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3">
            <a:extLst>
              <a:ext uri="{FF2B5EF4-FFF2-40B4-BE49-F238E27FC236}">
                <a16:creationId xmlns:a16="http://schemas.microsoft.com/office/drawing/2014/main" id="{842EE48E-2F82-4966-946D-824BA2DF57D1}"/>
              </a:ext>
            </a:extLst>
          </p:cNvPr>
          <p:cNvSpPr>
            <a:spLocks noGrp="1"/>
          </p:cNvSpPr>
          <p:nvPr>
            <p:ph type="body" sz="quarter" idx="19"/>
          </p:nvPr>
        </p:nvSpPr>
        <p:spPr>
          <a:xfrm>
            <a:off x="6598384" y="1475233"/>
            <a:ext cx="5085614"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1" name="Text Placeholder 13">
            <a:extLst>
              <a:ext uri="{FF2B5EF4-FFF2-40B4-BE49-F238E27FC236}">
                <a16:creationId xmlns:a16="http://schemas.microsoft.com/office/drawing/2014/main" id="{42B481FC-BE5B-409E-8F16-28AA8B20DFAF}"/>
              </a:ext>
            </a:extLst>
          </p:cNvPr>
          <p:cNvSpPr>
            <a:spLocks noGrp="1"/>
          </p:cNvSpPr>
          <p:nvPr>
            <p:ph type="body" sz="quarter" idx="20" hasCustomPrompt="1"/>
          </p:nvPr>
        </p:nvSpPr>
        <p:spPr>
          <a:xfrm>
            <a:off x="529771" y="982473"/>
            <a:ext cx="11154217" cy="297129"/>
          </a:xfrm>
        </p:spPr>
        <p:txBody>
          <a:bodyPr>
            <a:noAutofit/>
          </a:bodyPr>
          <a:lstStyle>
            <a:lvl1pPr marL="0" indent="0">
              <a:buNone/>
              <a:defRPr sz="18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Subtitle</a:t>
            </a:r>
          </a:p>
        </p:txBody>
      </p:sp>
      <p:cxnSp>
        <p:nvCxnSpPr>
          <p:cNvPr id="23" name="Straight Connector 22">
            <a:extLst>
              <a:ext uri="{FF2B5EF4-FFF2-40B4-BE49-F238E27FC236}">
                <a16:creationId xmlns:a16="http://schemas.microsoft.com/office/drawing/2014/main" id="{C0F92604-5F3C-4BD8-997C-4E6DD75BBCC7}"/>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30" name="Rectangle 29">
            <a:extLst>
              <a:ext uri="{FF2B5EF4-FFF2-40B4-BE49-F238E27FC236}">
                <a16:creationId xmlns:a16="http://schemas.microsoft.com/office/drawing/2014/main" id="{051C22FC-08CC-4F3F-9262-5B04248B6B78}"/>
              </a:ext>
            </a:extLst>
          </p:cNvPr>
          <p:cNvSpPr/>
          <p:nvPr userDrawn="1"/>
        </p:nvSpPr>
        <p:spPr>
          <a:xfrm>
            <a:off x="6396323" y="1451825"/>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DB9136C5-A015-4FDC-9B5E-BDD534DE99BC}"/>
              </a:ext>
            </a:extLst>
          </p:cNvPr>
          <p:cNvSpPr>
            <a:spLocks noGrp="1"/>
          </p:cNvSpPr>
          <p:nvPr>
            <p:ph idx="1" hasCustomPrompt="1"/>
          </p:nvPr>
        </p:nvSpPr>
        <p:spPr>
          <a:xfrm>
            <a:off x="646822" y="1831341"/>
            <a:ext cx="5349762" cy="1827253"/>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2">
            <a:extLst>
              <a:ext uri="{FF2B5EF4-FFF2-40B4-BE49-F238E27FC236}">
                <a16:creationId xmlns:a16="http://schemas.microsoft.com/office/drawing/2014/main" id="{2B693128-2170-4415-AA7F-D2ECF550EB14}"/>
              </a:ext>
            </a:extLst>
          </p:cNvPr>
          <p:cNvSpPr>
            <a:spLocks noGrp="1"/>
          </p:cNvSpPr>
          <p:nvPr>
            <p:ph idx="13" hasCustomPrompt="1"/>
          </p:nvPr>
        </p:nvSpPr>
        <p:spPr>
          <a:xfrm>
            <a:off x="646822" y="4278999"/>
            <a:ext cx="5349762" cy="1886841"/>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3">
            <a:extLst>
              <a:ext uri="{FF2B5EF4-FFF2-40B4-BE49-F238E27FC236}">
                <a16:creationId xmlns:a16="http://schemas.microsoft.com/office/drawing/2014/main" id="{D66CB7BC-1489-4C1E-BEB7-92B53B1C5060}"/>
              </a:ext>
            </a:extLst>
          </p:cNvPr>
          <p:cNvSpPr>
            <a:spLocks noGrp="1"/>
          </p:cNvSpPr>
          <p:nvPr>
            <p:ph type="body" sz="quarter" idx="16"/>
          </p:nvPr>
        </p:nvSpPr>
        <p:spPr>
          <a:xfrm>
            <a:off x="836285" y="1474283"/>
            <a:ext cx="5160300"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2" name="Text Placeholder 13">
            <a:extLst>
              <a:ext uri="{FF2B5EF4-FFF2-40B4-BE49-F238E27FC236}">
                <a16:creationId xmlns:a16="http://schemas.microsoft.com/office/drawing/2014/main" id="{12537B67-D950-4097-8B39-6CAE9F4BA2EE}"/>
              </a:ext>
            </a:extLst>
          </p:cNvPr>
          <p:cNvSpPr>
            <a:spLocks noGrp="1"/>
          </p:cNvSpPr>
          <p:nvPr>
            <p:ph type="body" sz="quarter" idx="17"/>
          </p:nvPr>
        </p:nvSpPr>
        <p:spPr>
          <a:xfrm>
            <a:off x="836285" y="3942442"/>
            <a:ext cx="5160300"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5" name="Rectangle 24">
            <a:extLst>
              <a:ext uri="{FF2B5EF4-FFF2-40B4-BE49-F238E27FC236}">
                <a16:creationId xmlns:a16="http://schemas.microsoft.com/office/drawing/2014/main" id="{27D5B47E-BE21-4E81-85E8-A48972932C45}"/>
              </a:ext>
            </a:extLst>
          </p:cNvPr>
          <p:cNvSpPr/>
          <p:nvPr userDrawn="1"/>
        </p:nvSpPr>
        <p:spPr>
          <a:xfrm>
            <a:off x="637309" y="3922943"/>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1A6DDB13-8916-40C2-BF27-86FEE3D3F79F}"/>
              </a:ext>
            </a:extLst>
          </p:cNvPr>
          <p:cNvSpPr/>
          <p:nvPr userDrawn="1"/>
        </p:nvSpPr>
        <p:spPr>
          <a:xfrm>
            <a:off x="646822" y="1451825"/>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4AE39973-2DC8-44DF-90A5-39BE1737C8A2}"/>
              </a:ext>
            </a:extLst>
          </p:cNvPr>
          <p:cNvSpPr>
            <a:spLocks noGrp="1"/>
          </p:cNvSpPr>
          <p:nvPr>
            <p:ph type="dt" sz="half" idx="21"/>
          </p:nvPr>
        </p:nvSpPr>
        <p:spPr/>
        <p:txBody>
          <a:bodyPr/>
          <a:lstStyle/>
          <a:p>
            <a:fld id="{5D77077C-FEF9-4A07-92A0-31EDE9512421}" type="datetime1">
              <a:rPr lang="en-US" smtClean="0"/>
              <a:pPr/>
              <a:t>6/13/2026</a:t>
            </a:fld>
            <a:r>
              <a:rPr lang="en-US"/>
              <a:t>; $MM unless otherwise stated</a:t>
            </a:r>
            <a:endParaRPr lang="en-GB"/>
          </a:p>
        </p:txBody>
      </p:sp>
      <p:sp>
        <p:nvSpPr>
          <p:cNvPr id="3" name="Footer Placeholder 2">
            <a:extLst>
              <a:ext uri="{FF2B5EF4-FFF2-40B4-BE49-F238E27FC236}">
                <a16:creationId xmlns:a16="http://schemas.microsoft.com/office/drawing/2014/main" id="{A37AF9C3-4F3A-4417-BDA5-357FB3978AB1}"/>
              </a:ext>
            </a:extLst>
          </p:cNvPr>
          <p:cNvSpPr>
            <a:spLocks noGrp="1"/>
          </p:cNvSpPr>
          <p:nvPr>
            <p:ph type="ftr" sz="quarter" idx="22"/>
          </p:nvPr>
        </p:nvSpPr>
        <p:spPr/>
        <p:txBody>
          <a:bodyPr/>
          <a:lstStyle/>
          <a:p>
            <a:r>
              <a:rPr lang="en-GB"/>
              <a:t>Insert Stock Name (XXXX: XXXXX)</a:t>
            </a:r>
          </a:p>
        </p:txBody>
      </p:sp>
      <p:sp>
        <p:nvSpPr>
          <p:cNvPr id="4" name="Slide Number Placeholder 3">
            <a:extLst>
              <a:ext uri="{FF2B5EF4-FFF2-40B4-BE49-F238E27FC236}">
                <a16:creationId xmlns:a16="http://schemas.microsoft.com/office/drawing/2014/main" id="{FB1B9026-3468-49D8-9B6F-3A7D4CD88F5B}"/>
              </a:ext>
            </a:extLst>
          </p:cNvPr>
          <p:cNvSpPr>
            <a:spLocks noGrp="1"/>
          </p:cNvSpPr>
          <p:nvPr>
            <p:ph type="sldNum" sz="quarter" idx="23"/>
          </p:nvPr>
        </p:nvSpPr>
        <p:spPr/>
        <p:txBody>
          <a:bodyPr/>
          <a:lstStyle/>
          <a:p>
            <a:fld id="{225705C9-C93A-4611-A575-E7A979D414CC}" type="slidenum">
              <a:rPr lang="en-GB" smtClean="0"/>
              <a:pPr/>
              <a:t>‹#›</a:t>
            </a:fld>
            <a:endParaRPr lang="en-GB"/>
          </a:p>
        </p:txBody>
      </p:sp>
      <p:pic>
        <p:nvPicPr>
          <p:cNvPr id="24" name="Picture 23" descr="Logo&#10;&#10;Description automatically generated">
            <a:extLst>
              <a:ext uri="{FF2B5EF4-FFF2-40B4-BE49-F238E27FC236}">
                <a16:creationId xmlns:a16="http://schemas.microsoft.com/office/drawing/2014/main" id="{7D1CD147-3631-CA40-B27B-BBE2186E014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spTree>
    <p:extLst>
      <p:ext uri="{BB962C8B-B14F-4D97-AF65-F5344CB8AC3E}">
        <p14:creationId xmlns:p14="http://schemas.microsoft.com/office/powerpoint/2010/main" val="550145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ntent (v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9DC755C-CC3D-4454-8F2E-9F7FFFF77345}"/>
              </a:ext>
            </a:extLst>
          </p:cNvPr>
          <p:cNvSpPr>
            <a:spLocks noGrp="1"/>
          </p:cNvSpPr>
          <p:nvPr>
            <p:ph type="title" hasCustomPrompt="1"/>
          </p:nvPr>
        </p:nvSpPr>
        <p:spPr>
          <a:xfrm>
            <a:off x="529771" y="136525"/>
            <a:ext cx="11154229" cy="794071"/>
          </a:xfrm>
        </p:spPr>
        <p:txBody>
          <a:bodyPr>
            <a:normAutofit/>
          </a:bodyPr>
          <a:lstStyle>
            <a:lvl1pPr>
              <a:defRPr sz="4000">
                <a:latin typeface="Novecento sans wide UltraLight" panose="00000705000000000000" pitchFamily="50" charset="0"/>
              </a:defRPr>
            </a:lvl1pPr>
          </a:lstStyle>
          <a:p>
            <a:r>
              <a:rPr lang="en-US"/>
              <a:t>Title</a:t>
            </a:r>
            <a:endParaRPr lang="en-GB"/>
          </a:p>
        </p:txBody>
      </p:sp>
      <p:sp>
        <p:nvSpPr>
          <p:cNvPr id="9" name="Content Placeholder 2">
            <a:extLst>
              <a:ext uri="{FF2B5EF4-FFF2-40B4-BE49-F238E27FC236}">
                <a16:creationId xmlns:a16="http://schemas.microsoft.com/office/drawing/2014/main" id="{F006A7A6-F3C2-4383-BCCD-5D3DAA1B8D17}"/>
              </a:ext>
            </a:extLst>
          </p:cNvPr>
          <p:cNvSpPr>
            <a:spLocks noGrp="1"/>
          </p:cNvSpPr>
          <p:nvPr>
            <p:ph idx="1" hasCustomPrompt="1"/>
          </p:nvPr>
        </p:nvSpPr>
        <p:spPr>
          <a:xfrm>
            <a:off x="646822" y="1831341"/>
            <a:ext cx="5349762" cy="4334494"/>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CEB59B9F-3C2B-41EC-BFD4-CE1C225EAC62}"/>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sp>
        <p:nvSpPr>
          <p:cNvPr id="17" name="Text Placeholder 13">
            <a:extLst>
              <a:ext uri="{FF2B5EF4-FFF2-40B4-BE49-F238E27FC236}">
                <a16:creationId xmlns:a16="http://schemas.microsoft.com/office/drawing/2014/main" id="{65764EE2-CEC1-4C18-8B64-3846DAFFB77B}"/>
              </a:ext>
            </a:extLst>
          </p:cNvPr>
          <p:cNvSpPr>
            <a:spLocks noGrp="1"/>
          </p:cNvSpPr>
          <p:nvPr>
            <p:ph type="body" sz="quarter" idx="16"/>
          </p:nvPr>
        </p:nvSpPr>
        <p:spPr>
          <a:xfrm>
            <a:off x="836285" y="1474283"/>
            <a:ext cx="5160300"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1" name="Text Placeholder 13">
            <a:extLst>
              <a:ext uri="{FF2B5EF4-FFF2-40B4-BE49-F238E27FC236}">
                <a16:creationId xmlns:a16="http://schemas.microsoft.com/office/drawing/2014/main" id="{42B481FC-BE5B-409E-8F16-28AA8B20DFAF}"/>
              </a:ext>
            </a:extLst>
          </p:cNvPr>
          <p:cNvSpPr>
            <a:spLocks noGrp="1"/>
          </p:cNvSpPr>
          <p:nvPr>
            <p:ph type="body" sz="quarter" idx="20" hasCustomPrompt="1"/>
          </p:nvPr>
        </p:nvSpPr>
        <p:spPr>
          <a:xfrm>
            <a:off x="529771" y="982473"/>
            <a:ext cx="11154217" cy="297129"/>
          </a:xfrm>
        </p:spPr>
        <p:txBody>
          <a:bodyPr>
            <a:noAutofit/>
          </a:bodyPr>
          <a:lstStyle>
            <a:lvl1pPr marL="0" indent="0">
              <a:buNone/>
              <a:defRPr sz="18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Subtitle</a:t>
            </a:r>
          </a:p>
        </p:txBody>
      </p:sp>
      <p:cxnSp>
        <p:nvCxnSpPr>
          <p:cNvPr id="23" name="Straight Connector 22">
            <a:extLst>
              <a:ext uri="{FF2B5EF4-FFF2-40B4-BE49-F238E27FC236}">
                <a16:creationId xmlns:a16="http://schemas.microsoft.com/office/drawing/2014/main" id="{C0F92604-5F3C-4BD8-997C-4E6DD75BBCC7}"/>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29" name="Rectangle 28">
            <a:extLst>
              <a:ext uri="{FF2B5EF4-FFF2-40B4-BE49-F238E27FC236}">
                <a16:creationId xmlns:a16="http://schemas.microsoft.com/office/drawing/2014/main" id="{3EC05DBE-03B5-4B4A-813C-6800C15E9BFA}"/>
              </a:ext>
            </a:extLst>
          </p:cNvPr>
          <p:cNvSpPr/>
          <p:nvPr userDrawn="1"/>
        </p:nvSpPr>
        <p:spPr>
          <a:xfrm>
            <a:off x="646822" y="1451825"/>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EFEFC416-F9EB-4E9F-A3C8-820883170B26}"/>
              </a:ext>
            </a:extLst>
          </p:cNvPr>
          <p:cNvSpPr>
            <a:spLocks noGrp="1"/>
          </p:cNvSpPr>
          <p:nvPr>
            <p:ph idx="14" hasCustomPrompt="1"/>
          </p:nvPr>
        </p:nvSpPr>
        <p:spPr>
          <a:xfrm>
            <a:off x="6391564" y="1831341"/>
            <a:ext cx="5292436" cy="1827253"/>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2">
            <a:extLst>
              <a:ext uri="{FF2B5EF4-FFF2-40B4-BE49-F238E27FC236}">
                <a16:creationId xmlns:a16="http://schemas.microsoft.com/office/drawing/2014/main" id="{A1E04AFA-5EE9-4A55-B227-56EC47815935}"/>
              </a:ext>
            </a:extLst>
          </p:cNvPr>
          <p:cNvSpPr>
            <a:spLocks noGrp="1"/>
          </p:cNvSpPr>
          <p:nvPr>
            <p:ph idx="15" hasCustomPrompt="1"/>
          </p:nvPr>
        </p:nvSpPr>
        <p:spPr>
          <a:xfrm>
            <a:off x="6391564" y="4279000"/>
            <a:ext cx="5292436" cy="1886835"/>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3">
            <a:extLst>
              <a:ext uri="{FF2B5EF4-FFF2-40B4-BE49-F238E27FC236}">
                <a16:creationId xmlns:a16="http://schemas.microsoft.com/office/drawing/2014/main" id="{B1A25228-CA4D-440E-BC98-25691DA9FCA3}"/>
              </a:ext>
            </a:extLst>
          </p:cNvPr>
          <p:cNvSpPr>
            <a:spLocks noGrp="1"/>
          </p:cNvSpPr>
          <p:nvPr>
            <p:ph type="body" sz="quarter" idx="18"/>
          </p:nvPr>
        </p:nvSpPr>
        <p:spPr>
          <a:xfrm>
            <a:off x="6598386" y="3947562"/>
            <a:ext cx="5085614"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2" name="Text Placeholder 13">
            <a:extLst>
              <a:ext uri="{FF2B5EF4-FFF2-40B4-BE49-F238E27FC236}">
                <a16:creationId xmlns:a16="http://schemas.microsoft.com/office/drawing/2014/main" id="{6ADC3157-5F18-466A-B9E1-7CC7E351FF8A}"/>
              </a:ext>
            </a:extLst>
          </p:cNvPr>
          <p:cNvSpPr>
            <a:spLocks noGrp="1"/>
          </p:cNvSpPr>
          <p:nvPr>
            <p:ph type="body" sz="quarter" idx="19"/>
          </p:nvPr>
        </p:nvSpPr>
        <p:spPr>
          <a:xfrm>
            <a:off x="6598384" y="1475233"/>
            <a:ext cx="5085614"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5" name="Rectangle 24">
            <a:extLst>
              <a:ext uri="{FF2B5EF4-FFF2-40B4-BE49-F238E27FC236}">
                <a16:creationId xmlns:a16="http://schemas.microsoft.com/office/drawing/2014/main" id="{723A24AC-39A2-4017-B0C5-EF80FB748D4F}"/>
              </a:ext>
            </a:extLst>
          </p:cNvPr>
          <p:cNvSpPr/>
          <p:nvPr userDrawn="1"/>
        </p:nvSpPr>
        <p:spPr>
          <a:xfrm>
            <a:off x="6391564" y="3915346"/>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419CE51C-89A4-4426-9FEC-62E87788898C}"/>
              </a:ext>
            </a:extLst>
          </p:cNvPr>
          <p:cNvSpPr/>
          <p:nvPr userDrawn="1"/>
        </p:nvSpPr>
        <p:spPr>
          <a:xfrm>
            <a:off x="6396323" y="1451825"/>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7D3B4AE2-8CA5-4403-96DC-AA58C1CE77E1}"/>
              </a:ext>
            </a:extLst>
          </p:cNvPr>
          <p:cNvSpPr>
            <a:spLocks noGrp="1"/>
          </p:cNvSpPr>
          <p:nvPr>
            <p:ph type="dt" sz="half" idx="21"/>
          </p:nvPr>
        </p:nvSpPr>
        <p:spPr/>
        <p:txBody>
          <a:bodyPr/>
          <a:lstStyle/>
          <a:p>
            <a:fld id="{5D77077C-FEF9-4A07-92A0-31EDE9512421}" type="datetime1">
              <a:rPr lang="en-US" smtClean="0"/>
              <a:pPr/>
              <a:t>6/13/2026</a:t>
            </a:fld>
            <a:r>
              <a:rPr lang="en-US"/>
              <a:t>; $MM unless otherwise stated</a:t>
            </a:r>
            <a:endParaRPr lang="en-GB"/>
          </a:p>
        </p:txBody>
      </p:sp>
      <p:sp>
        <p:nvSpPr>
          <p:cNvPr id="3" name="Footer Placeholder 2">
            <a:extLst>
              <a:ext uri="{FF2B5EF4-FFF2-40B4-BE49-F238E27FC236}">
                <a16:creationId xmlns:a16="http://schemas.microsoft.com/office/drawing/2014/main" id="{EFDA348F-E769-40F0-BCEB-BD91BBD361B1}"/>
              </a:ext>
            </a:extLst>
          </p:cNvPr>
          <p:cNvSpPr>
            <a:spLocks noGrp="1"/>
          </p:cNvSpPr>
          <p:nvPr>
            <p:ph type="ftr" sz="quarter" idx="22"/>
          </p:nvPr>
        </p:nvSpPr>
        <p:spPr/>
        <p:txBody>
          <a:bodyPr/>
          <a:lstStyle/>
          <a:p>
            <a:r>
              <a:rPr lang="en-GB"/>
              <a:t>Insert Stock Name (XXXX: XXXXX)</a:t>
            </a:r>
          </a:p>
        </p:txBody>
      </p:sp>
      <p:sp>
        <p:nvSpPr>
          <p:cNvPr id="4" name="Slide Number Placeholder 3">
            <a:extLst>
              <a:ext uri="{FF2B5EF4-FFF2-40B4-BE49-F238E27FC236}">
                <a16:creationId xmlns:a16="http://schemas.microsoft.com/office/drawing/2014/main" id="{9DA54287-C312-476C-BC5F-6E93CEBA4207}"/>
              </a:ext>
            </a:extLst>
          </p:cNvPr>
          <p:cNvSpPr>
            <a:spLocks noGrp="1"/>
          </p:cNvSpPr>
          <p:nvPr>
            <p:ph type="sldNum" sz="quarter" idx="23"/>
          </p:nvPr>
        </p:nvSpPr>
        <p:spPr/>
        <p:txBody>
          <a:bodyPr/>
          <a:lstStyle/>
          <a:p>
            <a:fld id="{225705C9-C93A-4611-A575-E7A979D414CC}" type="slidenum">
              <a:rPr lang="en-GB" smtClean="0"/>
              <a:pPr/>
              <a:t>‹#›</a:t>
            </a:fld>
            <a:endParaRPr lang="en-GB"/>
          </a:p>
        </p:txBody>
      </p:sp>
      <p:pic>
        <p:nvPicPr>
          <p:cNvPr id="20" name="Picture 19" descr="Logo&#10;&#10;Description automatically generated">
            <a:extLst>
              <a:ext uri="{FF2B5EF4-FFF2-40B4-BE49-F238E27FC236}">
                <a16:creationId xmlns:a16="http://schemas.microsoft.com/office/drawing/2014/main" id="{B50468A4-EC72-7146-9BEE-19619B4D6EE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spTree>
    <p:extLst>
      <p:ext uri="{BB962C8B-B14F-4D97-AF65-F5344CB8AC3E}">
        <p14:creationId xmlns:p14="http://schemas.microsoft.com/office/powerpoint/2010/main" val="3431026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With Side Panel">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9DC755C-CC3D-4454-8F2E-9F7FFFF77345}"/>
              </a:ext>
            </a:extLst>
          </p:cNvPr>
          <p:cNvSpPr>
            <a:spLocks noGrp="1"/>
          </p:cNvSpPr>
          <p:nvPr>
            <p:ph type="title" hasCustomPrompt="1"/>
          </p:nvPr>
        </p:nvSpPr>
        <p:spPr>
          <a:xfrm>
            <a:off x="529771" y="136525"/>
            <a:ext cx="11154229" cy="794071"/>
          </a:xfrm>
        </p:spPr>
        <p:txBody>
          <a:bodyPr>
            <a:normAutofit/>
          </a:bodyPr>
          <a:lstStyle>
            <a:lvl1pPr>
              <a:defRPr sz="4000">
                <a:latin typeface="Novecento sans wide UltraLight" panose="00000705000000000000" pitchFamily="50" charset="0"/>
              </a:defRPr>
            </a:lvl1pPr>
          </a:lstStyle>
          <a:p>
            <a:r>
              <a:rPr lang="en-US"/>
              <a:t>Title</a:t>
            </a:r>
            <a:endParaRPr lang="en-GB"/>
          </a:p>
        </p:txBody>
      </p:sp>
      <p:sp>
        <p:nvSpPr>
          <p:cNvPr id="9" name="Content Placeholder 2">
            <a:extLst>
              <a:ext uri="{FF2B5EF4-FFF2-40B4-BE49-F238E27FC236}">
                <a16:creationId xmlns:a16="http://schemas.microsoft.com/office/drawing/2014/main" id="{F006A7A6-F3C2-4383-BCCD-5D3DAA1B8D17}"/>
              </a:ext>
            </a:extLst>
          </p:cNvPr>
          <p:cNvSpPr>
            <a:spLocks noGrp="1"/>
          </p:cNvSpPr>
          <p:nvPr>
            <p:ph idx="1" hasCustomPrompt="1"/>
          </p:nvPr>
        </p:nvSpPr>
        <p:spPr>
          <a:xfrm>
            <a:off x="3401485" y="1790945"/>
            <a:ext cx="4096596" cy="186764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CEB59B9F-3C2B-41EC-BFD4-CE1C225EAC62}"/>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sp>
        <p:nvSpPr>
          <p:cNvPr id="14" name="Content Placeholder 2">
            <a:extLst>
              <a:ext uri="{FF2B5EF4-FFF2-40B4-BE49-F238E27FC236}">
                <a16:creationId xmlns:a16="http://schemas.microsoft.com/office/drawing/2014/main" id="{00DAA218-479B-4B09-A63D-9DB8EA679053}"/>
              </a:ext>
            </a:extLst>
          </p:cNvPr>
          <p:cNvSpPr>
            <a:spLocks noGrp="1"/>
          </p:cNvSpPr>
          <p:nvPr>
            <p:ph idx="13" hasCustomPrompt="1"/>
          </p:nvPr>
        </p:nvSpPr>
        <p:spPr>
          <a:xfrm>
            <a:off x="3401485" y="4262121"/>
            <a:ext cx="4096596" cy="190371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2">
            <a:extLst>
              <a:ext uri="{FF2B5EF4-FFF2-40B4-BE49-F238E27FC236}">
                <a16:creationId xmlns:a16="http://schemas.microsoft.com/office/drawing/2014/main" id="{EA6EC0B9-9F4B-4185-AF80-49BE331D9D7D}"/>
              </a:ext>
            </a:extLst>
          </p:cNvPr>
          <p:cNvSpPr>
            <a:spLocks noGrp="1"/>
          </p:cNvSpPr>
          <p:nvPr>
            <p:ph idx="14" hasCustomPrompt="1"/>
          </p:nvPr>
        </p:nvSpPr>
        <p:spPr>
          <a:xfrm>
            <a:off x="7761661" y="1790945"/>
            <a:ext cx="3922339" cy="186764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Content Placeholder 2">
            <a:extLst>
              <a:ext uri="{FF2B5EF4-FFF2-40B4-BE49-F238E27FC236}">
                <a16:creationId xmlns:a16="http://schemas.microsoft.com/office/drawing/2014/main" id="{41027A55-6DF2-420E-8CC7-658F674FE44E}"/>
              </a:ext>
            </a:extLst>
          </p:cNvPr>
          <p:cNvSpPr>
            <a:spLocks noGrp="1"/>
          </p:cNvSpPr>
          <p:nvPr>
            <p:ph idx="15" hasCustomPrompt="1"/>
          </p:nvPr>
        </p:nvSpPr>
        <p:spPr>
          <a:xfrm>
            <a:off x="7761661" y="4262116"/>
            <a:ext cx="3922339" cy="190371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13">
            <a:extLst>
              <a:ext uri="{FF2B5EF4-FFF2-40B4-BE49-F238E27FC236}">
                <a16:creationId xmlns:a16="http://schemas.microsoft.com/office/drawing/2014/main" id="{65764EE2-CEC1-4C18-8B64-3846DAFFB77B}"/>
              </a:ext>
            </a:extLst>
          </p:cNvPr>
          <p:cNvSpPr>
            <a:spLocks noGrp="1"/>
          </p:cNvSpPr>
          <p:nvPr>
            <p:ph type="body" sz="quarter" idx="16"/>
          </p:nvPr>
        </p:nvSpPr>
        <p:spPr>
          <a:xfrm>
            <a:off x="3599726" y="1455911"/>
            <a:ext cx="3898353"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18" name="Text Placeholder 13">
            <a:extLst>
              <a:ext uri="{FF2B5EF4-FFF2-40B4-BE49-F238E27FC236}">
                <a16:creationId xmlns:a16="http://schemas.microsoft.com/office/drawing/2014/main" id="{FFDD6659-028F-4CE9-857A-34855DAC9AFD}"/>
              </a:ext>
            </a:extLst>
          </p:cNvPr>
          <p:cNvSpPr>
            <a:spLocks noGrp="1"/>
          </p:cNvSpPr>
          <p:nvPr>
            <p:ph type="body" sz="quarter" idx="17"/>
          </p:nvPr>
        </p:nvSpPr>
        <p:spPr>
          <a:xfrm>
            <a:off x="3599725" y="3926432"/>
            <a:ext cx="3898353"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19" name="Text Placeholder 13">
            <a:extLst>
              <a:ext uri="{FF2B5EF4-FFF2-40B4-BE49-F238E27FC236}">
                <a16:creationId xmlns:a16="http://schemas.microsoft.com/office/drawing/2014/main" id="{8F5981D2-C015-4185-B2AD-7DC0F858B885}"/>
              </a:ext>
            </a:extLst>
          </p:cNvPr>
          <p:cNvSpPr>
            <a:spLocks noGrp="1"/>
          </p:cNvSpPr>
          <p:nvPr>
            <p:ph type="body" sz="quarter" idx="18"/>
          </p:nvPr>
        </p:nvSpPr>
        <p:spPr>
          <a:xfrm>
            <a:off x="7951471" y="3925412"/>
            <a:ext cx="3732529"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0" name="Text Placeholder 13">
            <a:extLst>
              <a:ext uri="{FF2B5EF4-FFF2-40B4-BE49-F238E27FC236}">
                <a16:creationId xmlns:a16="http://schemas.microsoft.com/office/drawing/2014/main" id="{842EE48E-2F82-4966-946D-824BA2DF57D1}"/>
              </a:ext>
            </a:extLst>
          </p:cNvPr>
          <p:cNvSpPr>
            <a:spLocks noGrp="1"/>
          </p:cNvSpPr>
          <p:nvPr>
            <p:ph type="body" sz="quarter" idx="19"/>
          </p:nvPr>
        </p:nvSpPr>
        <p:spPr>
          <a:xfrm>
            <a:off x="7951469" y="1456861"/>
            <a:ext cx="3732529"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1" name="Text Placeholder 13">
            <a:extLst>
              <a:ext uri="{FF2B5EF4-FFF2-40B4-BE49-F238E27FC236}">
                <a16:creationId xmlns:a16="http://schemas.microsoft.com/office/drawing/2014/main" id="{42B481FC-BE5B-409E-8F16-28AA8B20DFAF}"/>
              </a:ext>
            </a:extLst>
          </p:cNvPr>
          <p:cNvSpPr>
            <a:spLocks noGrp="1"/>
          </p:cNvSpPr>
          <p:nvPr>
            <p:ph type="body" sz="quarter" idx="20" hasCustomPrompt="1"/>
          </p:nvPr>
        </p:nvSpPr>
        <p:spPr>
          <a:xfrm>
            <a:off x="529771" y="982473"/>
            <a:ext cx="11154217" cy="297129"/>
          </a:xfrm>
        </p:spPr>
        <p:txBody>
          <a:bodyPr>
            <a:noAutofit/>
          </a:bodyPr>
          <a:lstStyle>
            <a:lvl1pPr marL="0" indent="0">
              <a:buNone/>
              <a:defRPr sz="18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Subtitle</a:t>
            </a:r>
          </a:p>
        </p:txBody>
      </p:sp>
      <p:cxnSp>
        <p:nvCxnSpPr>
          <p:cNvPr id="22" name="Straight Connector 21">
            <a:extLst>
              <a:ext uri="{FF2B5EF4-FFF2-40B4-BE49-F238E27FC236}">
                <a16:creationId xmlns:a16="http://schemas.microsoft.com/office/drawing/2014/main" id="{B600AED2-C2B7-4FF5-ABF9-E398B1C79D56}"/>
              </a:ext>
            </a:extLst>
          </p:cNvPr>
          <p:cNvCxnSpPr/>
          <p:nvPr userDrawn="1"/>
        </p:nvCxnSpPr>
        <p:spPr>
          <a:xfrm>
            <a:off x="3117850" y="1451825"/>
            <a:ext cx="0" cy="471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0F92604-5F3C-4BD8-997C-4E6DD75BBCC7}"/>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24" name="Text Placeholder 13">
            <a:extLst>
              <a:ext uri="{FF2B5EF4-FFF2-40B4-BE49-F238E27FC236}">
                <a16:creationId xmlns:a16="http://schemas.microsoft.com/office/drawing/2014/main" id="{CA8AAD07-901C-4519-B2E4-EF143504EB73}"/>
              </a:ext>
            </a:extLst>
          </p:cNvPr>
          <p:cNvSpPr>
            <a:spLocks noGrp="1"/>
          </p:cNvSpPr>
          <p:nvPr>
            <p:ph type="body" sz="quarter" idx="21" hasCustomPrompt="1"/>
          </p:nvPr>
        </p:nvSpPr>
        <p:spPr>
          <a:xfrm>
            <a:off x="529772" y="1451825"/>
            <a:ext cx="2415358" cy="267806"/>
          </a:xfrm>
        </p:spPr>
        <p:txBody>
          <a:bodyPr>
            <a:noAutofit/>
          </a:bodyPr>
          <a:lstStyle>
            <a:lvl1pPr marL="0" indent="0">
              <a:buNone/>
              <a:defRPr sz="14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Side Commentary</a:t>
            </a:r>
          </a:p>
        </p:txBody>
      </p:sp>
      <p:sp>
        <p:nvSpPr>
          <p:cNvPr id="25" name="Content Placeholder 2">
            <a:extLst>
              <a:ext uri="{FF2B5EF4-FFF2-40B4-BE49-F238E27FC236}">
                <a16:creationId xmlns:a16="http://schemas.microsoft.com/office/drawing/2014/main" id="{225C987D-4348-4F86-B8A6-8685C968352A}"/>
              </a:ext>
            </a:extLst>
          </p:cNvPr>
          <p:cNvSpPr>
            <a:spLocks noGrp="1"/>
          </p:cNvSpPr>
          <p:nvPr>
            <p:ph idx="22" hasCustomPrompt="1"/>
          </p:nvPr>
        </p:nvSpPr>
        <p:spPr>
          <a:xfrm>
            <a:off x="529772" y="1790945"/>
            <a:ext cx="2415358" cy="4374905"/>
          </a:xfrm>
        </p:spPr>
        <p:txBody>
          <a:bodyPr>
            <a:normAutofit/>
          </a:bodyPr>
          <a:lstStyle>
            <a:lvl1pPr>
              <a:defRPr sz="1200">
                <a:latin typeface="+mn-lt"/>
              </a:defRPr>
            </a:lvl1pPr>
            <a:lvl2pPr>
              <a:defRPr sz="1200">
                <a:latin typeface="HelveticaNeueLT Com 45 Lt" panose="020B0403020202020204" pitchFamily="34" charset="0"/>
              </a:defRPr>
            </a:lvl2pPr>
            <a:lvl3pPr>
              <a:defRPr sz="1200">
                <a:latin typeface="HelveticaNeueLT Com 45 Lt" panose="020B0403020202020204" pitchFamily="34" charset="0"/>
              </a:defRPr>
            </a:lvl3pPr>
            <a:lvl4pPr>
              <a:defRPr sz="1200">
                <a:latin typeface="HelveticaNeueLT Com 45 Lt" panose="020B0403020202020204" pitchFamily="34" charset="0"/>
              </a:defRPr>
            </a:lvl4pPr>
            <a:lvl5pPr>
              <a:defRPr sz="1200">
                <a:latin typeface="HelveticaNeueLT Com 45 Lt" panose="020B0403020202020204" pitchFamily="34" charset="0"/>
              </a:defRPr>
            </a:lvl5pPr>
          </a:lstStyle>
          <a:p>
            <a:pPr lvl="0"/>
            <a:r>
              <a:rPr lang="en-GB"/>
              <a:t>Text</a:t>
            </a:r>
          </a:p>
        </p:txBody>
      </p:sp>
      <p:sp>
        <p:nvSpPr>
          <p:cNvPr id="28" name="Rectangle 27">
            <a:extLst>
              <a:ext uri="{FF2B5EF4-FFF2-40B4-BE49-F238E27FC236}">
                <a16:creationId xmlns:a16="http://schemas.microsoft.com/office/drawing/2014/main" id="{321C3171-B487-48FB-B851-1D0430DA75E3}"/>
              </a:ext>
            </a:extLst>
          </p:cNvPr>
          <p:cNvSpPr/>
          <p:nvPr userDrawn="1"/>
        </p:nvSpPr>
        <p:spPr>
          <a:xfrm>
            <a:off x="3414855" y="1460946"/>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376142BC-2AEB-4D4C-8AB3-3067167E66CE}"/>
              </a:ext>
            </a:extLst>
          </p:cNvPr>
          <p:cNvSpPr/>
          <p:nvPr userDrawn="1"/>
        </p:nvSpPr>
        <p:spPr>
          <a:xfrm>
            <a:off x="3414855" y="3926432"/>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E2BE1B36-4A2A-4AF5-A167-F935FA442ECF}"/>
              </a:ext>
            </a:extLst>
          </p:cNvPr>
          <p:cNvSpPr/>
          <p:nvPr userDrawn="1"/>
        </p:nvSpPr>
        <p:spPr>
          <a:xfrm>
            <a:off x="7761661" y="3926432"/>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FBD54F38-48D4-48F4-9FFC-8A5825CA76C6}"/>
              </a:ext>
            </a:extLst>
          </p:cNvPr>
          <p:cNvSpPr/>
          <p:nvPr userDrawn="1"/>
        </p:nvSpPr>
        <p:spPr>
          <a:xfrm>
            <a:off x="7761661" y="1463227"/>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Date Placeholder 4">
            <a:extLst>
              <a:ext uri="{FF2B5EF4-FFF2-40B4-BE49-F238E27FC236}">
                <a16:creationId xmlns:a16="http://schemas.microsoft.com/office/drawing/2014/main" id="{A4775865-B2B5-4DAF-B1EA-DDBDF601AEB3}"/>
              </a:ext>
            </a:extLst>
          </p:cNvPr>
          <p:cNvSpPr>
            <a:spLocks noGrp="1"/>
          </p:cNvSpPr>
          <p:nvPr>
            <p:ph type="dt" sz="half" idx="23"/>
          </p:nvPr>
        </p:nvSpPr>
        <p:spPr/>
        <p:txBody>
          <a:bodyPr/>
          <a:lstStyle/>
          <a:p>
            <a:fld id="{5D77077C-FEF9-4A07-92A0-31EDE9512421}" type="datetime1">
              <a:rPr lang="en-US" smtClean="0"/>
              <a:pPr/>
              <a:t>6/13/2026</a:t>
            </a:fld>
            <a:r>
              <a:rPr lang="en-US"/>
              <a:t>; $MM unless otherwise stated</a:t>
            </a:r>
            <a:endParaRPr lang="en-GB"/>
          </a:p>
        </p:txBody>
      </p:sp>
      <p:sp>
        <p:nvSpPr>
          <p:cNvPr id="6" name="Footer Placeholder 5">
            <a:extLst>
              <a:ext uri="{FF2B5EF4-FFF2-40B4-BE49-F238E27FC236}">
                <a16:creationId xmlns:a16="http://schemas.microsoft.com/office/drawing/2014/main" id="{1EA67923-3903-4910-9F49-A504FB7134EA}"/>
              </a:ext>
            </a:extLst>
          </p:cNvPr>
          <p:cNvSpPr>
            <a:spLocks noGrp="1"/>
          </p:cNvSpPr>
          <p:nvPr>
            <p:ph type="ftr" sz="quarter" idx="24"/>
          </p:nvPr>
        </p:nvSpPr>
        <p:spPr/>
        <p:txBody>
          <a:bodyPr/>
          <a:lstStyle/>
          <a:p>
            <a:r>
              <a:rPr lang="en-GB"/>
              <a:t>Insert Stock Name (XXXX: XXXXX)</a:t>
            </a:r>
          </a:p>
        </p:txBody>
      </p:sp>
      <p:sp>
        <p:nvSpPr>
          <p:cNvPr id="8" name="Slide Number Placeholder 7">
            <a:extLst>
              <a:ext uri="{FF2B5EF4-FFF2-40B4-BE49-F238E27FC236}">
                <a16:creationId xmlns:a16="http://schemas.microsoft.com/office/drawing/2014/main" id="{2774961D-198C-4211-BE29-7AC0E7B8BEB7}"/>
              </a:ext>
            </a:extLst>
          </p:cNvPr>
          <p:cNvSpPr>
            <a:spLocks noGrp="1"/>
          </p:cNvSpPr>
          <p:nvPr>
            <p:ph type="sldNum" sz="quarter" idx="25"/>
          </p:nvPr>
        </p:nvSpPr>
        <p:spPr/>
        <p:txBody>
          <a:bodyPr/>
          <a:lstStyle/>
          <a:p>
            <a:fld id="{225705C9-C93A-4611-A575-E7A979D414CC}" type="slidenum">
              <a:rPr lang="en-GB" smtClean="0"/>
              <a:pPr/>
              <a:t>‹#›</a:t>
            </a:fld>
            <a:endParaRPr lang="en-GB"/>
          </a:p>
        </p:txBody>
      </p:sp>
      <p:pic>
        <p:nvPicPr>
          <p:cNvPr id="26" name="Picture 25" descr="Logo&#10;&#10;Description automatically generated">
            <a:extLst>
              <a:ext uri="{FF2B5EF4-FFF2-40B4-BE49-F238E27FC236}">
                <a16:creationId xmlns:a16="http://schemas.microsoft.com/office/drawing/2014/main" id="{2348142A-E424-AA40-AD5D-D988405E824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spTree>
    <p:extLst>
      <p:ext uri="{BB962C8B-B14F-4D97-AF65-F5344CB8AC3E}">
        <p14:creationId xmlns:p14="http://schemas.microsoft.com/office/powerpoint/2010/main" val="558358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o Placeholder">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9DC755C-CC3D-4454-8F2E-9F7FFFF77345}"/>
              </a:ext>
            </a:extLst>
          </p:cNvPr>
          <p:cNvSpPr>
            <a:spLocks noGrp="1"/>
          </p:cNvSpPr>
          <p:nvPr>
            <p:ph type="title" hasCustomPrompt="1"/>
          </p:nvPr>
        </p:nvSpPr>
        <p:spPr>
          <a:xfrm>
            <a:off x="529771" y="136525"/>
            <a:ext cx="11154229" cy="794071"/>
          </a:xfrm>
        </p:spPr>
        <p:txBody>
          <a:bodyPr>
            <a:normAutofit/>
          </a:bodyPr>
          <a:lstStyle>
            <a:lvl1pPr>
              <a:defRPr sz="4000">
                <a:latin typeface="Novecento sans wide UltraLight" panose="00000705000000000000" pitchFamily="50" charset="0"/>
              </a:defRPr>
            </a:lvl1pPr>
          </a:lstStyle>
          <a:p>
            <a:r>
              <a:rPr lang="en-US"/>
              <a:t>Title</a:t>
            </a:r>
            <a:endParaRPr lang="en-GB"/>
          </a:p>
        </p:txBody>
      </p:sp>
      <p:sp>
        <p:nvSpPr>
          <p:cNvPr id="9" name="Content Placeholder 2">
            <a:extLst>
              <a:ext uri="{FF2B5EF4-FFF2-40B4-BE49-F238E27FC236}">
                <a16:creationId xmlns:a16="http://schemas.microsoft.com/office/drawing/2014/main" id="{F006A7A6-F3C2-4383-BCCD-5D3DAA1B8D17}"/>
              </a:ext>
            </a:extLst>
          </p:cNvPr>
          <p:cNvSpPr>
            <a:spLocks noGrp="1"/>
          </p:cNvSpPr>
          <p:nvPr>
            <p:ph idx="1" hasCustomPrompt="1"/>
          </p:nvPr>
        </p:nvSpPr>
        <p:spPr>
          <a:xfrm>
            <a:off x="646822" y="1414781"/>
            <a:ext cx="5349762" cy="4334494"/>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CEB59B9F-3C2B-41EC-BFD4-CE1C225EAC62}"/>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C0F92604-5F3C-4BD8-997C-4E6DD75BBCC7}"/>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20" name="Content Placeholder 2">
            <a:extLst>
              <a:ext uri="{FF2B5EF4-FFF2-40B4-BE49-F238E27FC236}">
                <a16:creationId xmlns:a16="http://schemas.microsoft.com/office/drawing/2014/main" id="{5E490DAB-26E0-48B2-B56C-6E89B11E66A7}"/>
              </a:ext>
            </a:extLst>
          </p:cNvPr>
          <p:cNvSpPr>
            <a:spLocks noGrp="1"/>
          </p:cNvSpPr>
          <p:nvPr>
            <p:ph idx="14" hasCustomPrompt="1"/>
          </p:nvPr>
        </p:nvSpPr>
        <p:spPr>
          <a:xfrm>
            <a:off x="6391564" y="1414781"/>
            <a:ext cx="5292436" cy="4334480"/>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051F90E-DB3B-4372-976A-031222247243}"/>
              </a:ext>
            </a:extLst>
          </p:cNvPr>
          <p:cNvSpPr>
            <a:spLocks noGrp="1"/>
          </p:cNvSpPr>
          <p:nvPr>
            <p:ph type="dt" sz="half" idx="15"/>
          </p:nvPr>
        </p:nvSpPr>
        <p:spPr/>
        <p:txBody>
          <a:bodyPr/>
          <a:lstStyle/>
          <a:p>
            <a:fld id="{5D77077C-FEF9-4A07-92A0-31EDE9512421}" type="datetime1">
              <a:rPr lang="en-US" smtClean="0"/>
              <a:pPr/>
              <a:t>6/13/2026</a:t>
            </a:fld>
            <a:r>
              <a:rPr lang="en-US"/>
              <a:t>; $MM unless otherwise stated</a:t>
            </a:r>
            <a:endParaRPr lang="en-GB"/>
          </a:p>
        </p:txBody>
      </p:sp>
      <p:sp>
        <p:nvSpPr>
          <p:cNvPr id="6" name="Footer Placeholder 5">
            <a:extLst>
              <a:ext uri="{FF2B5EF4-FFF2-40B4-BE49-F238E27FC236}">
                <a16:creationId xmlns:a16="http://schemas.microsoft.com/office/drawing/2014/main" id="{D85A3DE5-11CB-4583-A168-10B0A1DCD933}"/>
              </a:ext>
            </a:extLst>
          </p:cNvPr>
          <p:cNvSpPr>
            <a:spLocks noGrp="1"/>
          </p:cNvSpPr>
          <p:nvPr>
            <p:ph type="ftr" sz="quarter" idx="16"/>
          </p:nvPr>
        </p:nvSpPr>
        <p:spPr/>
        <p:txBody>
          <a:bodyPr/>
          <a:lstStyle/>
          <a:p>
            <a:r>
              <a:rPr lang="en-GB"/>
              <a:t>Insert Stock Name (XXXX: XXXXX)</a:t>
            </a:r>
          </a:p>
        </p:txBody>
      </p:sp>
      <p:sp>
        <p:nvSpPr>
          <p:cNvPr id="8" name="Slide Number Placeholder 7">
            <a:extLst>
              <a:ext uri="{FF2B5EF4-FFF2-40B4-BE49-F238E27FC236}">
                <a16:creationId xmlns:a16="http://schemas.microsoft.com/office/drawing/2014/main" id="{2927473C-2D1F-4B10-86A8-3C6C0168ADDD}"/>
              </a:ext>
            </a:extLst>
          </p:cNvPr>
          <p:cNvSpPr>
            <a:spLocks noGrp="1"/>
          </p:cNvSpPr>
          <p:nvPr>
            <p:ph type="sldNum" sz="quarter" idx="17"/>
          </p:nvPr>
        </p:nvSpPr>
        <p:spPr/>
        <p:txBody>
          <a:bodyPr/>
          <a:lstStyle/>
          <a:p>
            <a:fld id="{225705C9-C93A-4611-A575-E7A979D414CC}" type="slidenum">
              <a:rPr lang="en-GB" smtClean="0"/>
              <a:pPr/>
              <a:t>‹#›</a:t>
            </a:fld>
            <a:endParaRPr lang="en-GB"/>
          </a:p>
        </p:txBody>
      </p:sp>
      <p:sp>
        <p:nvSpPr>
          <p:cNvPr id="14" name="Text Placeholder 13">
            <a:extLst>
              <a:ext uri="{FF2B5EF4-FFF2-40B4-BE49-F238E27FC236}">
                <a16:creationId xmlns:a16="http://schemas.microsoft.com/office/drawing/2014/main" id="{32D45520-978E-4657-BD2F-EEA58FAC9194}"/>
              </a:ext>
            </a:extLst>
          </p:cNvPr>
          <p:cNvSpPr>
            <a:spLocks noGrp="1"/>
          </p:cNvSpPr>
          <p:nvPr>
            <p:ph type="body" sz="quarter" idx="20" hasCustomPrompt="1"/>
          </p:nvPr>
        </p:nvSpPr>
        <p:spPr>
          <a:xfrm>
            <a:off x="529771" y="982473"/>
            <a:ext cx="11154217" cy="297129"/>
          </a:xfrm>
        </p:spPr>
        <p:txBody>
          <a:bodyPr>
            <a:noAutofit/>
          </a:bodyPr>
          <a:lstStyle>
            <a:lvl1pPr marL="0" indent="0">
              <a:buNone/>
              <a:defRPr sz="18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Subtitle</a:t>
            </a:r>
          </a:p>
        </p:txBody>
      </p:sp>
      <p:pic>
        <p:nvPicPr>
          <p:cNvPr id="11" name="Picture 10" descr="Logo&#10;&#10;Description automatically generated">
            <a:extLst>
              <a:ext uri="{FF2B5EF4-FFF2-40B4-BE49-F238E27FC236}">
                <a16:creationId xmlns:a16="http://schemas.microsoft.com/office/drawing/2014/main" id="{462C16C7-C8A6-FE40-96B1-C89805BAA4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spTree>
    <p:extLst>
      <p:ext uri="{BB962C8B-B14F-4D97-AF65-F5344CB8AC3E}">
        <p14:creationId xmlns:p14="http://schemas.microsoft.com/office/powerpoint/2010/main" val="853452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D8CFFE4-D42D-46AF-A3BC-1592ABB53402}"/>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A2A20BB0-99E1-4287-ADC8-4C0FF6F924D7}"/>
              </a:ext>
            </a:extLst>
          </p:cNvPr>
          <p:cNvSpPr txBox="1"/>
          <p:nvPr userDrawn="1"/>
        </p:nvSpPr>
        <p:spPr>
          <a:xfrm>
            <a:off x="529771" y="212105"/>
            <a:ext cx="288252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262626"/>
                </a:solidFill>
                <a:effectLst/>
                <a:uLnTx/>
                <a:uFillTx/>
                <a:latin typeface="Novecento sans wide UltraLight"/>
                <a:ea typeface="+mn-ea"/>
                <a:cs typeface="+mn-cs"/>
              </a:rPr>
              <a:t>Disclaimer</a:t>
            </a:r>
          </a:p>
        </p:txBody>
      </p:sp>
      <p:sp>
        <p:nvSpPr>
          <p:cNvPr id="10" name="Rectangle 9">
            <a:extLst>
              <a:ext uri="{FF2B5EF4-FFF2-40B4-BE49-F238E27FC236}">
                <a16:creationId xmlns:a16="http://schemas.microsoft.com/office/drawing/2014/main" id="{F1021855-2DD7-4F9E-AAEF-5E221BDF9750}"/>
              </a:ext>
            </a:extLst>
          </p:cNvPr>
          <p:cNvSpPr/>
          <p:nvPr userDrawn="1"/>
        </p:nvSpPr>
        <p:spPr>
          <a:xfrm>
            <a:off x="529771" y="1085001"/>
            <a:ext cx="11154229" cy="50957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262626"/>
                </a:solidFill>
                <a:effectLst/>
                <a:uLnTx/>
                <a:uFillTx/>
                <a:latin typeface="+mn-lt"/>
                <a:ea typeface="+mn-ea"/>
                <a:cs typeface="+mn-cs"/>
              </a:rPr>
              <a:t>Analyst Disclaimer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62626"/>
                </a:solidFill>
                <a:effectLst/>
                <a:uLnTx/>
                <a:uFillTx/>
                <a:latin typeface="+mn-lt"/>
                <a:ea typeface="+mn-ea"/>
                <a:cs typeface="+mn-cs"/>
              </a:rPr>
              <a:t>This communication is prepared by students at the University of Oxford for the sole and educational purpose of the Oxford Alpha Fund. The Oxford Alpha Fund is not authorised, supervised, nor regulated by any financial authority in the world to provide financial services or advisory. The Oxford Alpha Fund does not hold any financially significant positions in any investment recommendations made.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262626"/>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262626"/>
                </a:solidFill>
                <a:effectLst/>
                <a:uLnTx/>
                <a:uFillTx/>
                <a:latin typeface="+mn-lt"/>
                <a:ea typeface="+mn-ea"/>
                <a:cs typeface="+mn-cs"/>
              </a:rPr>
              <a:t>General Disclaimer</a:t>
            </a:r>
            <a:endParaRPr kumimoji="0" lang="en-GB" sz="1100" b="0" i="0" u="none" strike="noStrike" kern="1200" cap="none" spc="0" normalizeH="0" baseline="0" noProof="0">
              <a:ln>
                <a:noFill/>
              </a:ln>
              <a:solidFill>
                <a:srgbClr val="262626"/>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62626"/>
                </a:solidFill>
                <a:effectLst/>
                <a:uLnTx/>
                <a:uFillTx/>
                <a:latin typeface="+mn-lt"/>
                <a:ea typeface="+mn-ea"/>
                <a:cs typeface="+mn-cs"/>
              </a:rPr>
              <a:t>This communication may contain an investment recommendation, however, the Oxford Alpha Fund and all members disclaim all liability for providing this investment recommendation and accept no liability whatsoever for any direct, indirect or consequential loss arising from its use. Not all investment strategies are appropriate at all times, and past performance is not necessarily a guide to future performance. You should consider yourself warned that following the investment recommendations of untrained University students is unlikely to be a profitable investment strategy.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262626"/>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62626"/>
                </a:solidFill>
                <a:effectLst/>
                <a:uLnTx/>
                <a:uFillTx/>
                <a:latin typeface="+mn-lt"/>
                <a:ea typeface="+mn-ea"/>
                <a:cs typeface="+mn-cs"/>
              </a:rPr>
              <a:t>Any opinions or estimates expressed herein reflect the judgment of the author(s) as of the date the investment recommendation was prepared and are subject to change at any time without notice. Unless otherwise stated, the information or opinions presented, or the research or analysis upon which they are based, are valid at the point of publication, as they are not updated in real time to take account of changes in the financial markets or new news about the issuer or financial instruments. The author(s) may provide hyperlinks to websites of entities mentioned in this investment recommendation, however the inclusion of a link does not imply that the Oxford Alpha Fund. endorses, recommends or approves any material on the linked page or accessible from 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1" u="none" strike="noStrike" kern="1200" cap="none" spc="0" normalizeH="0" baseline="0" noProof="0">
                <a:ln>
                  <a:noFill/>
                </a:ln>
                <a:solidFill>
                  <a:schemeClr val="tx1"/>
                </a:solidFill>
                <a:effectLst/>
                <a:uLnTx/>
                <a:uFillTx/>
                <a:latin typeface="+mn-lt"/>
                <a:ea typeface="+mn-ea"/>
                <a:cs typeface="+mn-cs"/>
              </a:rPr>
              <a:t>With Thanks to Our Research Partners: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262626"/>
              </a:solidFill>
              <a:effectLst/>
              <a:uLnTx/>
              <a:uFillTx/>
              <a:latin typeface="+mn-lt"/>
              <a:ea typeface="+mn-ea"/>
              <a:cs typeface="+mn-cs"/>
            </a:endParaRPr>
          </a:p>
        </p:txBody>
      </p:sp>
      <p:cxnSp>
        <p:nvCxnSpPr>
          <p:cNvPr id="11" name="Straight Connector 10">
            <a:extLst>
              <a:ext uri="{FF2B5EF4-FFF2-40B4-BE49-F238E27FC236}">
                <a16:creationId xmlns:a16="http://schemas.microsoft.com/office/drawing/2014/main" id="{86F5E9D8-D51B-405F-ABC1-79694AFC7A9B}"/>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20" name="Slide Number Placeholder 19">
            <a:extLst>
              <a:ext uri="{FF2B5EF4-FFF2-40B4-BE49-F238E27FC236}">
                <a16:creationId xmlns:a16="http://schemas.microsoft.com/office/drawing/2014/main" id="{FC7D25E3-D60E-4266-AD8D-23F7F2C8D33E}"/>
              </a:ext>
            </a:extLst>
          </p:cNvPr>
          <p:cNvSpPr>
            <a:spLocks noGrp="1"/>
          </p:cNvSpPr>
          <p:nvPr>
            <p:ph type="sldNum" sz="quarter" idx="12"/>
          </p:nvPr>
        </p:nvSpPr>
        <p:spPr>
          <a:xfrm>
            <a:off x="8940800" y="6356350"/>
            <a:ext cx="2743200" cy="365125"/>
          </a:xfrm>
          <a:prstGeom prst="rect">
            <a:avLst/>
          </a:prstGeom>
        </p:spPr>
        <p:txBody>
          <a:bodyPr/>
          <a:lstStyle/>
          <a:p>
            <a:fld id="{225705C9-C93A-4611-A575-E7A979D414CC}" type="slidenum">
              <a:rPr lang="en-GB" smtClean="0"/>
              <a:pPr/>
              <a:t>‹#›</a:t>
            </a:fld>
            <a:endParaRPr lang="en-GB"/>
          </a:p>
        </p:txBody>
      </p:sp>
      <p:pic>
        <p:nvPicPr>
          <p:cNvPr id="15" name="Picture 14" descr="Logo&#10;&#10;Description automatically generated">
            <a:extLst>
              <a:ext uri="{FF2B5EF4-FFF2-40B4-BE49-F238E27FC236}">
                <a16:creationId xmlns:a16="http://schemas.microsoft.com/office/drawing/2014/main" id="{01C500EB-43E1-C243-B174-4117DC07486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pic>
        <p:nvPicPr>
          <p:cNvPr id="4" name="Picture 3" descr="A group of logos with text&#10;&#10;Description automatically generated">
            <a:extLst>
              <a:ext uri="{FF2B5EF4-FFF2-40B4-BE49-F238E27FC236}">
                <a16:creationId xmlns:a16="http://schemas.microsoft.com/office/drawing/2014/main" id="{8D2CF299-1F09-F6E9-6DCE-8B372CA899B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12191" y="3860724"/>
            <a:ext cx="7389059" cy="2467050"/>
          </a:xfrm>
          <a:prstGeom prst="rect">
            <a:avLst/>
          </a:prstGeom>
        </p:spPr>
      </p:pic>
    </p:spTree>
    <p:extLst>
      <p:ext uri="{BB962C8B-B14F-4D97-AF65-F5344CB8AC3E}">
        <p14:creationId xmlns:p14="http://schemas.microsoft.com/office/powerpoint/2010/main" val="9843358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With Side Panel">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9DC755C-CC3D-4454-8F2E-9F7FFFF77345}"/>
              </a:ext>
            </a:extLst>
          </p:cNvPr>
          <p:cNvSpPr>
            <a:spLocks noGrp="1"/>
          </p:cNvSpPr>
          <p:nvPr>
            <p:ph type="title" hasCustomPrompt="1"/>
          </p:nvPr>
        </p:nvSpPr>
        <p:spPr>
          <a:xfrm>
            <a:off x="529771" y="136525"/>
            <a:ext cx="11154229" cy="794071"/>
          </a:xfrm>
        </p:spPr>
        <p:txBody>
          <a:bodyPr>
            <a:normAutofit/>
          </a:bodyPr>
          <a:lstStyle>
            <a:lvl1pPr>
              <a:defRPr sz="4000">
                <a:latin typeface="Novecento sans wide UltraLight" panose="00000705000000000000" pitchFamily="50" charset="0"/>
              </a:defRPr>
            </a:lvl1pPr>
          </a:lstStyle>
          <a:p>
            <a:r>
              <a:rPr lang="en-US"/>
              <a:t>Title</a:t>
            </a:r>
            <a:endParaRPr lang="en-GB"/>
          </a:p>
        </p:txBody>
      </p:sp>
      <p:sp>
        <p:nvSpPr>
          <p:cNvPr id="9" name="Content Placeholder 2">
            <a:extLst>
              <a:ext uri="{FF2B5EF4-FFF2-40B4-BE49-F238E27FC236}">
                <a16:creationId xmlns:a16="http://schemas.microsoft.com/office/drawing/2014/main" id="{F006A7A6-F3C2-4383-BCCD-5D3DAA1B8D17}"/>
              </a:ext>
            </a:extLst>
          </p:cNvPr>
          <p:cNvSpPr>
            <a:spLocks noGrp="1"/>
          </p:cNvSpPr>
          <p:nvPr>
            <p:ph idx="1" hasCustomPrompt="1"/>
          </p:nvPr>
        </p:nvSpPr>
        <p:spPr>
          <a:xfrm>
            <a:off x="3401485" y="1790945"/>
            <a:ext cx="4096596" cy="186764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CEB59B9F-3C2B-41EC-BFD4-CE1C225EAC62}"/>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sp>
        <p:nvSpPr>
          <p:cNvPr id="14" name="Content Placeholder 2">
            <a:extLst>
              <a:ext uri="{FF2B5EF4-FFF2-40B4-BE49-F238E27FC236}">
                <a16:creationId xmlns:a16="http://schemas.microsoft.com/office/drawing/2014/main" id="{00DAA218-479B-4B09-A63D-9DB8EA679053}"/>
              </a:ext>
            </a:extLst>
          </p:cNvPr>
          <p:cNvSpPr>
            <a:spLocks noGrp="1"/>
          </p:cNvSpPr>
          <p:nvPr>
            <p:ph idx="13" hasCustomPrompt="1"/>
          </p:nvPr>
        </p:nvSpPr>
        <p:spPr>
          <a:xfrm>
            <a:off x="3401485" y="4262121"/>
            <a:ext cx="2823820" cy="190371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2">
            <a:extLst>
              <a:ext uri="{FF2B5EF4-FFF2-40B4-BE49-F238E27FC236}">
                <a16:creationId xmlns:a16="http://schemas.microsoft.com/office/drawing/2014/main" id="{EA6EC0B9-9F4B-4185-AF80-49BE331D9D7D}"/>
              </a:ext>
            </a:extLst>
          </p:cNvPr>
          <p:cNvSpPr>
            <a:spLocks noGrp="1"/>
          </p:cNvSpPr>
          <p:nvPr>
            <p:ph idx="14" hasCustomPrompt="1"/>
          </p:nvPr>
        </p:nvSpPr>
        <p:spPr>
          <a:xfrm>
            <a:off x="7761661" y="1790945"/>
            <a:ext cx="3922339" cy="186764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13">
            <a:extLst>
              <a:ext uri="{FF2B5EF4-FFF2-40B4-BE49-F238E27FC236}">
                <a16:creationId xmlns:a16="http://schemas.microsoft.com/office/drawing/2014/main" id="{65764EE2-CEC1-4C18-8B64-3846DAFFB77B}"/>
              </a:ext>
            </a:extLst>
          </p:cNvPr>
          <p:cNvSpPr>
            <a:spLocks noGrp="1"/>
          </p:cNvSpPr>
          <p:nvPr>
            <p:ph type="body" sz="quarter" idx="16"/>
          </p:nvPr>
        </p:nvSpPr>
        <p:spPr>
          <a:xfrm>
            <a:off x="3599726" y="1455911"/>
            <a:ext cx="3898353"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Click to edit Master text styles</a:t>
            </a:r>
          </a:p>
        </p:txBody>
      </p:sp>
      <p:sp>
        <p:nvSpPr>
          <p:cNvPr id="18" name="Text Placeholder 13">
            <a:extLst>
              <a:ext uri="{FF2B5EF4-FFF2-40B4-BE49-F238E27FC236}">
                <a16:creationId xmlns:a16="http://schemas.microsoft.com/office/drawing/2014/main" id="{FFDD6659-028F-4CE9-857A-34855DAC9AFD}"/>
              </a:ext>
            </a:extLst>
          </p:cNvPr>
          <p:cNvSpPr>
            <a:spLocks noGrp="1"/>
          </p:cNvSpPr>
          <p:nvPr>
            <p:ph type="body" sz="quarter" idx="17"/>
          </p:nvPr>
        </p:nvSpPr>
        <p:spPr>
          <a:xfrm>
            <a:off x="3599726" y="3926432"/>
            <a:ext cx="2052930" cy="262460"/>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Click to edit Master text styles</a:t>
            </a:r>
          </a:p>
        </p:txBody>
      </p:sp>
      <p:sp>
        <p:nvSpPr>
          <p:cNvPr id="20" name="Text Placeholder 13">
            <a:extLst>
              <a:ext uri="{FF2B5EF4-FFF2-40B4-BE49-F238E27FC236}">
                <a16:creationId xmlns:a16="http://schemas.microsoft.com/office/drawing/2014/main" id="{842EE48E-2F82-4966-946D-824BA2DF57D1}"/>
              </a:ext>
            </a:extLst>
          </p:cNvPr>
          <p:cNvSpPr>
            <a:spLocks noGrp="1"/>
          </p:cNvSpPr>
          <p:nvPr>
            <p:ph type="body" sz="quarter" idx="19"/>
          </p:nvPr>
        </p:nvSpPr>
        <p:spPr>
          <a:xfrm>
            <a:off x="7951469" y="1456861"/>
            <a:ext cx="3732529"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Click to edit Master text styles</a:t>
            </a:r>
          </a:p>
        </p:txBody>
      </p:sp>
      <p:sp>
        <p:nvSpPr>
          <p:cNvPr id="21" name="Text Placeholder 13">
            <a:extLst>
              <a:ext uri="{FF2B5EF4-FFF2-40B4-BE49-F238E27FC236}">
                <a16:creationId xmlns:a16="http://schemas.microsoft.com/office/drawing/2014/main" id="{42B481FC-BE5B-409E-8F16-28AA8B20DFAF}"/>
              </a:ext>
            </a:extLst>
          </p:cNvPr>
          <p:cNvSpPr>
            <a:spLocks noGrp="1"/>
          </p:cNvSpPr>
          <p:nvPr>
            <p:ph type="body" sz="quarter" idx="20" hasCustomPrompt="1"/>
          </p:nvPr>
        </p:nvSpPr>
        <p:spPr>
          <a:xfrm>
            <a:off x="529771" y="982473"/>
            <a:ext cx="11154217" cy="297129"/>
          </a:xfrm>
        </p:spPr>
        <p:txBody>
          <a:bodyPr>
            <a:noAutofit/>
          </a:bodyPr>
          <a:lstStyle>
            <a:lvl1pPr marL="0" indent="0">
              <a:buNone/>
              <a:defRPr sz="18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Subtitle</a:t>
            </a:r>
          </a:p>
        </p:txBody>
      </p:sp>
      <p:cxnSp>
        <p:nvCxnSpPr>
          <p:cNvPr id="22" name="Straight Connector 21">
            <a:extLst>
              <a:ext uri="{FF2B5EF4-FFF2-40B4-BE49-F238E27FC236}">
                <a16:creationId xmlns:a16="http://schemas.microsoft.com/office/drawing/2014/main" id="{B600AED2-C2B7-4FF5-ABF9-E398B1C79D56}"/>
              </a:ext>
            </a:extLst>
          </p:cNvPr>
          <p:cNvCxnSpPr/>
          <p:nvPr userDrawn="1"/>
        </p:nvCxnSpPr>
        <p:spPr>
          <a:xfrm>
            <a:off x="3117850" y="1451825"/>
            <a:ext cx="0" cy="471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0F92604-5F3C-4BD8-997C-4E6DD75BBCC7}"/>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24" name="Text Placeholder 13">
            <a:extLst>
              <a:ext uri="{FF2B5EF4-FFF2-40B4-BE49-F238E27FC236}">
                <a16:creationId xmlns:a16="http://schemas.microsoft.com/office/drawing/2014/main" id="{CA8AAD07-901C-4519-B2E4-EF143504EB73}"/>
              </a:ext>
            </a:extLst>
          </p:cNvPr>
          <p:cNvSpPr>
            <a:spLocks noGrp="1"/>
          </p:cNvSpPr>
          <p:nvPr>
            <p:ph type="body" sz="quarter" idx="21" hasCustomPrompt="1"/>
          </p:nvPr>
        </p:nvSpPr>
        <p:spPr>
          <a:xfrm>
            <a:off x="529772" y="1451825"/>
            <a:ext cx="2415358" cy="267806"/>
          </a:xfrm>
        </p:spPr>
        <p:txBody>
          <a:bodyPr>
            <a:noAutofit/>
          </a:bodyPr>
          <a:lstStyle>
            <a:lvl1pPr marL="0" indent="0">
              <a:buNone/>
              <a:defRPr sz="14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Side Commentary</a:t>
            </a:r>
          </a:p>
        </p:txBody>
      </p:sp>
      <p:sp>
        <p:nvSpPr>
          <p:cNvPr id="25" name="Content Placeholder 2">
            <a:extLst>
              <a:ext uri="{FF2B5EF4-FFF2-40B4-BE49-F238E27FC236}">
                <a16:creationId xmlns:a16="http://schemas.microsoft.com/office/drawing/2014/main" id="{225C987D-4348-4F86-B8A6-8685C968352A}"/>
              </a:ext>
            </a:extLst>
          </p:cNvPr>
          <p:cNvSpPr>
            <a:spLocks noGrp="1"/>
          </p:cNvSpPr>
          <p:nvPr>
            <p:ph idx="22" hasCustomPrompt="1"/>
          </p:nvPr>
        </p:nvSpPr>
        <p:spPr>
          <a:xfrm>
            <a:off x="529772" y="1790945"/>
            <a:ext cx="2415358" cy="4374905"/>
          </a:xfrm>
        </p:spPr>
        <p:txBody>
          <a:bodyPr>
            <a:normAutofit/>
          </a:bodyPr>
          <a:lstStyle>
            <a:lvl1pPr>
              <a:defRPr sz="1200">
                <a:latin typeface="+mn-lt"/>
              </a:defRPr>
            </a:lvl1pPr>
            <a:lvl2pPr>
              <a:defRPr sz="1200">
                <a:latin typeface="HelveticaNeueLT Com 45 Lt" panose="020B0403020202020204" pitchFamily="34" charset="0"/>
              </a:defRPr>
            </a:lvl2pPr>
            <a:lvl3pPr>
              <a:defRPr sz="1200">
                <a:latin typeface="HelveticaNeueLT Com 45 Lt" panose="020B0403020202020204" pitchFamily="34" charset="0"/>
              </a:defRPr>
            </a:lvl3pPr>
            <a:lvl4pPr>
              <a:defRPr sz="1200">
                <a:latin typeface="HelveticaNeueLT Com 45 Lt" panose="020B0403020202020204" pitchFamily="34" charset="0"/>
              </a:defRPr>
            </a:lvl4pPr>
            <a:lvl5pPr>
              <a:defRPr sz="1200">
                <a:latin typeface="HelveticaNeueLT Com 45 Lt" panose="020B0403020202020204" pitchFamily="34" charset="0"/>
              </a:defRPr>
            </a:lvl5pPr>
          </a:lstStyle>
          <a:p>
            <a:pPr lvl="0"/>
            <a:r>
              <a:rPr lang="en-GB"/>
              <a:t>Text</a:t>
            </a:r>
          </a:p>
        </p:txBody>
      </p:sp>
      <p:sp>
        <p:nvSpPr>
          <p:cNvPr id="28" name="Rectangle 27">
            <a:extLst>
              <a:ext uri="{FF2B5EF4-FFF2-40B4-BE49-F238E27FC236}">
                <a16:creationId xmlns:a16="http://schemas.microsoft.com/office/drawing/2014/main" id="{321C3171-B487-48FB-B851-1D0430DA75E3}"/>
              </a:ext>
            </a:extLst>
          </p:cNvPr>
          <p:cNvSpPr/>
          <p:nvPr userDrawn="1"/>
        </p:nvSpPr>
        <p:spPr>
          <a:xfrm>
            <a:off x="3414855" y="1460946"/>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376142BC-2AEB-4D4C-8AB3-3067167E66CE}"/>
              </a:ext>
            </a:extLst>
          </p:cNvPr>
          <p:cNvSpPr/>
          <p:nvPr userDrawn="1"/>
        </p:nvSpPr>
        <p:spPr>
          <a:xfrm>
            <a:off x="3414855" y="3926432"/>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FBD54F38-48D4-48F4-9FFC-8A5825CA76C6}"/>
              </a:ext>
            </a:extLst>
          </p:cNvPr>
          <p:cNvSpPr/>
          <p:nvPr userDrawn="1"/>
        </p:nvSpPr>
        <p:spPr>
          <a:xfrm>
            <a:off x="7755079" y="1463932"/>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Date Placeholder 4">
            <a:extLst>
              <a:ext uri="{FF2B5EF4-FFF2-40B4-BE49-F238E27FC236}">
                <a16:creationId xmlns:a16="http://schemas.microsoft.com/office/drawing/2014/main" id="{A4775865-B2B5-4DAF-B1EA-DDBDF601AEB3}"/>
              </a:ext>
            </a:extLst>
          </p:cNvPr>
          <p:cNvSpPr>
            <a:spLocks noGrp="1"/>
          </p:cNvSpPr>
          <p:nvPr>
            <p:ph type="dt" sz="half" idx="23"/>
          </p:nvPr>
        </p:nvSpPr>
        <p:spPr/>
        <p:txBody>
          <a:bodyPr/>
          <a:lstStyle/>
          <a:p>
            <a:fld id="{5D77077C-FEF9-4A07-92A0-31EDE9512421}" type="datetime1">
              <a:rPr lang="en-US" smtClean="0"/>
              <a:pPr/>
              <a:t>6/13/2026</a:t>
            </a:fld>
            <a:r>
              <a:rPr lang="en-US"/>
              <a:t>; $MM unless otherwise stated</a:t>
            </a:r>
            <a:endParaRPr lang="en-GB"/>
          </a:p>
        </p:txBody>
      </p:sp>
      <p:sp>
        <p:nvSpPr>
          <p:cNvPr id="6" name="Footer Placeholder 5">
            <a:extLst>
              <a:ext uri="{FF2B5EF4-FFF2-40B4-BE49-F238E27FC236}">
                <a16:creationId xmlns:a16="http://schemas.microsoft.com/office/drawing/2014/main" id="{1EA67923-3903-4910-9F49-A504FB7134EA}"/>
              </a:ext>
            </a:extLst>
          </p:cNvPr>
          <p:cNvSpPr>
            <a:spLocks noGrp="1"/>
          </p:cNvSpPr>
          <p:nvPr>
            <p:ph type="ftr" sz="quarter" idx="24"/>
          </p:nvPr>
        </p:nvSpPr>
        <p:spPr/>
        <p:txBody>
          <a:bodyPr/>
          <a:lstStyle/>
          <a:p>
            <a:r>
              <a:rPr lang="en-GB"/>
              <a:t>Insert Stock Name (XXXX: XXXXX)</a:t>
            </a:r>
          </a:p>
        </p:txBody>
      </p:sp>
      <p:sp>
        <p:nvSpPr>
          <p:cNvPr id="8" name="Slide Number Placeholder 7">
            <a:extLst>
              <a:ext uri="{FF2B5EF4-FFF2-40B4-BE49-F238E27FC236}">
                <a16:creationId xmlns:a16="http://schemas.microsoft.com/office/drawing/2014/main" id="{2774961D-198C-4211-BE29-7AC0E7B8BEB7}"/>
              </a:ext>
            </a:extLst>
          </p:cNvPr>
          <p:cNvSpPr>
            <a:spLocks noGrp="1"/>
          </p:cNvSpPr>
          <p:nvPr>
            <p:ph type="sldNum" sz="quarter" idx="25"/>
          </p:nvPr>
        </p:nvSpPr>
        <p:spPr/>
        <p:txBody>
          <a:bodyPr/>
          <a:lstStyle/>
          <a:p>
            <a:fld id="{225705C9-C93A-4611-A575-E7A979D414CC}" type="slidenum">
              <a:rPr lang="en-GB" smtClean="0"/>
              <a:pPr/>
              <a:t>‹#›</a:t>
            </a:fld>
            <a:endParaRPr lang="en-GB"/>
          </a:p>
        </p:txBody>
      </p:sp>
      <p:sp>
        <p:nvSpPr>
          <p:cNvPr id="34" name="Content Placeholder 2">
            <a:extLst>
              <a:ext uri="{FF2B5EF4-FFF2-40B4-BE49-F238E27FC236}">
                <a16:creationId xmlns:a16="http://schemas.microsoft.com/office/drawing/2014/main" id="{0FE84B27-42D6-441C-803C-8632B10D3F6B}"/>
              </a:ext>
            </a:extLst>
          </p:cNvPr>
          <p:cNvSpPr>
            <a:spLocks noGrp="1"/>
          </p:cNvSpPr>
          <p:nvPr>
            <p:ph idx="26" hasCustomPrompt="1"/>
          </p:nvPr>
        </p:nvSpPr>
        <p:spPr>
          <a:xfrm>
            <a:off x="6371639" y="4262121"/>
            <a:ext cx="2823820" cy="190371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5" name="Text Placeholder 13">
            <a:extLst>
              <a:ext uri="{FF2B5EF4-FFF2-40B4-BE49-F238E27FC236}">
                <a16:creationId xmlns:a16="http://schemas.microsoft.com/office/drawing/2014/main" id="{B06D03CB-5CF9-4BDE-9776-EAB7BD940BA8}"/>
              </a:ext>
            </a:extLst>
          </p:cNvPr>
          <p:cNvSpPr>
            <a:spLocks noGrp="1"/>
          </p:cNvSpPr>
          <p:nvPr>
            <p:ph type="body" sz="quarter" idx="27"/>
          </p:nvPr>
        </p:nvSpPr>
        <p:spPr>
          <a:xfrm>
            <a:off x="6569880" y="3926432"/>
            <a:ext cx="2052930" cy="262460"/>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Click to edit Master text styles</a:t>
            </a:r>
          </a:p>
        </p:txBody>
      </p:sp>
      <p:sp>
        <p:nvSpPr>
          <p:cNvPr id="36" name="Rectangle 35">
            <a:extLst>
              <a:ext uri="{FF2B5EF4-FFF2-40B4-BE49-F238E27FC236}">
                <a16:creationId xmlns:a16="http://schemas.microsoft.com/office/drawing/2014/main" id="{E58A27B7-D6F1-4BDA-972D-EF423D42C29A}"/>
              </a:ext>
            </a:extLst>
          </p:cNvPr>
          <p:cNvSpPr/>
          <p:nvPr userDrawn="1"/>
        </p:nvSpPr>
        <p:spPr>
          <a:xfrm>
            <a:off x="6385009" y="3926432"/>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Content Placeholder 2">
            <a:extLst>
              <a:ext uri="{FF2B5EF4-FFF2-40B4-BE49-F238E27FC236}">
                <a16:creationId xmlns:a16="http://schemas.microsoft.com/office/drawing/2014/main" id="{B0FA5C26-8267-49FC-B1EB-C827EB37EE8B}"/>
              </a:ext>
            </a:extLst>
          </p:cNvPr>
          <p:cNvSpPr>
            <a:spLocks noGrp="1"/>
          </p:cNvSpPr>
          <p:nvPr>
            <p:ph idx="28" hasCustomPrompt="1"/>
          </p:nvPr>
        </p:nvSpPr>
        <p:spPr>
          <a:xfrm>
            <a:off x="9368180" y="4268301"/>
            <a:ext cx="2823820" cy="190371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8" name="Text Placeholder 13">
            <a:extLst>
              <a:ext uri="{FF2B5EF4-FFF2-40B4-BE49-F238E27FC236}">
                <a16:creationId xmlns:a16="http://schemas.microsoft.com/office/drawing/2014/main" id="{5D1151ED-DF40-481A-8F00-7F32DE79C1F3}"/>
              </a:ext>
            </a:extLst>
          </p:cNvPr>
          <p:cNvSpPr>
            <a:spLocks noGrp="1"/>
          </p:cNvSpPr>
          <p:nvPr>
            <p:ph type="body" sz="quarter" idx="29"/>
          </p:nvPr>
        </p:nvSpPr>
        <p:spPr>
          <a:xfrm>
            <a:off x="9566421" y="3932612"/>
            <a:ext cx="2052930" cy="262460"/>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Click to edit Master text styles</a:t>
            </a:r>
          </a:p>
        </p:txBody>
      </p:sp>
      <p:sp>
        <p:nvSpPr>
          <p:cNvPr id="39" name="Rectangle 38">
            <a:extLst>
              <a:ext uri="{FF2B5EF4-FFF2-40B4-BE49-F238E27FC236}">
                <a16:creationId xmlns:a16="http://schemas.microsoft.com/office/drawing/2014/main" id="{81DC339F-3EA3-4296-8D7F-CCDED834892B}"/>
              </a:ext>
            </a:extLst>
          </p:cNvPr>
          <p:cNvSpPr/>
          <p:nvPr userDrawn="1"/>
        </p:nvSpPr>
        <p:spPr>
          <a:xfrm>
            <a:off x="9381550" y="3932612"/>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0" name="Picture 29" descr="Logo&#10;&#10;Description automatically generated">
            <a:extLst>
              <a:ext uri="{FF2B5EF4-FFF2-40B4-BE49-F238E27FC236}">
                <a16:creationId xmlns:a16="http://schemas.microsoft.com/office/drawing/2014/main" id="{F4494353-CB1E-1543-9E02-C2363EAE95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spTree>
    <p:extLst>
      <p:ext uri="{BB962C8B-B14F-4D97-AF65-F5344CB8AC3E}">
        <p14:creationId xmlns:p14="http://schemas.microsoft.com/office/powerpoint/2010/main" val="1792279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529770" y="6356350"/>
            <a:ext cx="2743200" cy="365125"/>
          </a:xfrm>
          <a:prstGeom prst="rect">
            <a:avLst/>
          </a:prstGeom>
        </p:spPr>
        <p:txBody>
          <a:bodyPr vert="horz" lIns="91440" tIns="45720" rIns="91440" bIns="45720" rtlCol="0" anchor="ctr"/>
          <a:lstStyle>
            <a:lvl1pPr algn="l">
              <a:defRPr sz="1200">
                <a:solidFill>
                  <a:schemeClr val="tx1"/>
                </a:solidFill>
              </a:defRPr>
            </a:lvl1pPr>
          </a:lstStyle>
          <a:p>
            <a:fld id="{5D77077C-FEF9-4A07-92A0-31EDE9512421}" type="datetime1">
              <a:rPr lang="en-US" smtClean="0"/>
              <a:pPr/>
              <a:t>6/13/2026</a:t>
            </a:fld>
            <a:r>
              <a:rPr lang="en-US"/>
              <a:t>; $MM unless otherwise stated</a:t>
            </a:r>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defRPr>
            </a:lvl1pPr>
          </a:lstStyle>
          <a:p>
            <a:r>
              <a:rPr lang="en-GB"/>
              <a:t>Insert Stock Name (XXXX: XXXXX)</a:t>
            </a:r>
          </a:p>
        </p:txBody>
      </p:sp>
      <p:sp>
        <p:nvSpPr>
          <p:cNvPr id="6" name="Slide Number Placeholder 5"/>
          <p:cNvSpPr>
            <a:spLocks noGrp="1"/>
          </p:cNvSpPr>
          <p:nvPr>
            <p:ph type="sldNum" sz="quarter" idx="4"/>
          </p:nvPr>
        </p:nvSpPr>
        <p:spPr>
          <a:xfrm>
            <a:off x="891903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225705C9-C93A-4611-A575-E7A979D414CC}" type="slidenum">
              <a:rPr lang="en-GB" smtClean="0"/>
              <a:pPr/>
              <a:t>‹#›</a:t>
            </a:fld>
            <a:endParaRPr lang="en-GB"/>
          </a:p>
        </p:txBody>
      </p:sp>
    </p:spTree>
    <p:extLst>
      <p:ext uri="{BB962C8B-B14F-4D97-AF65-F5344CB8AC3E}">
        <p14:creationId xmlns:p14="http://schemas.microsoft.com/office/powerpoint/2010/main" val="1666275439"/>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61" r:id="rId4"/>
    <p:sldLayoutId id="2147483665" r:id="rId5"/>
    <p:sldLayoutId id="2147483664" r:id="rId6"/>
    <p:sldLayoutId id="2147483650" r:id="rId7"/>
    <p:sldLayoutId id="2147483666" r:id="rId8"/>
    <p:sldLayoutId id="2147483651" r:id="rId9"/>
    <p:sldLayoutId id="2147483667" r:id="rId10"/>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B4B43D6-884C-4EC5-BF85-9C1F9E3AA837}"/>
              </a:ext>
            </a:extLst>
          </p:cNvPr>
          <p:cNvSpPr>
            <a:spLocks noGrp="1"/>
          </p:cNvSpPr>
          <p:nvPr>
            <p:ph type="title"/>
          </p:nvPr>
        </p:nvSpPr>
        <p:spPr/>
        <p:txBody>
          <a:bodyPr>
            <a:normAutofit/>
          </a:bodyPr>
          <a:lstStyle/>
          <a:p>
            <a:r>
              <a:rPr lang="en-GB" sz="3200" b="1">
                <a:latin typeface="Cambria"/>
                <a:ea typeface="Cambria"/>
              </a:rPr>
              <a:t>Investigating Volatility Risk Premium in Short-Dated BTC Options</a:t>
            </a:r>
          </a:p>
        </p:txBody>
      </p:sp>
      <p:sp>
        <p:nvSpPr>
          <p:cNvPr id="4" name="Text Placeholder 3">
            <a:extLst>
              <a:ext uri="{FF2B5EF4-FFF2-40B4-BE49-F238E27FC236}">
                <a16:creationId xmlns:a16="http://schemas.microsoft.com/office/drawing/2014/main" id="{0CCCE53F-3851-4FD2-80C5-E4C662C9E31F}"/>
              </a:ext>
            </a:extLst>
          </p:cNvPr>
          <p:cNvSpPr>
            <a:spLocks noGrp="1"/>
          </p:cNvSpPr>
          <p:nvPr>
            <p:ph type="body" sz="quarter" idx="11"/>
          </p:nvPr>
        </p:nvSpPr>
        <p:spPr/>
        <p:txBody>
          <a:bodyPr vert="horz" lIns="91440" tIns="45720" rIns="91440" bIns="45720" rtlCol="0" anchor="t">
            <a:normAutofit/>
          </a:bodyPr>
          <a:lstStyle/>
          <a:p>
            <a:r>
              <a:rPr lang="en-GB">
                <a:latin typeface="Cambria"/>
                <a:ea typeface="Cambria"/>
              </a:rPr>
              <a:t>H. Huang | H. Sodhi | A. Neo | S. Huang | I. Karthik</a:t>
            </a:r>
          </a:p>
        </p:txBody>
      </p:sp>
    </p:spTree>
    <p:extLst>
      <p:ext uri="{BB962C8B-B14F-4D97-AF65-F5344CB8AC3E}">
        <p14:creationId xmlns:p14="http://schemas.microsoft.com/office/powerpoint/2010/main" val="3347240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B3E14C-DCA3-7145-9C90-5B3516F5AEB1}"/>
              </a:ext>
            </a:extLst>
          </p:cNvPr>
          <p:cNvSpPr>
            <a:spLocks noGrp="1"/>
          </p:cNvSpPr>
          <p:nvPr>
            <p:ph idx="1"/>
          </p:nvPr>
        </p:nvSpPr>
        <p:spPr/>
        <p:txBody>
          <a:bodyPr vert="horz" lIns="91440" tIns="45720" rIns="91440" bIns="45720" rtlCol="0" anchor="t">
            <a:normAutofit/>
          </a:bodyPr>
          <a:lstStyle/>
          <a:p>
            <a:pPr marL="741045"/>
            <a:r>
              <a:rPr lang="en-US">
                <a:latin typeface="Cambria"/>
                <a:ea typeface="Cambria"/>
              </a:rPr>
              <a:t>Motivation</a:t>
            </a:r>
          </a:p>
          <a:p>
            <a:pPr marL="741045"/>
            <a:r>
              <a:rPr lang="en-US">
                <a:latin typeface="Cambria"/>
                <a:ea typeface="Cambria"/>
              </a:rPr>
              <a:t>Literature Review</a:t>
            </a:r>
          </a:p>
          <a:p>
            <a:pPr marL="741045"/>
            <a:r>
              <a:rPr lang="en-US">
                <a:latin typeface="Cambria"/>
                <a:ea typeface="Cambria"/>
              </a:rPr>
              <a:t>Data</a:t>
            </a:r>
          </a:p>
          <a:p>
            <a:pPr marL="741045"/>
            <a:r>
              <a:rPr lang="en-US">
                <a:latin typeface="Cambria"/>
                <a:ea typeface="Cambria"/>
              </a:rPr>
              <a:t>Model</a:t>
            </a:r>
          </a:p>
          <a:p>
            <a:pPr marL="741045"/>
            <a:r>
              <a:rPr lang="en-US">
                <a:latin typeface="Cambria"/>
                <a:ea typeface="Cambria"/>
              </a:rPr>
              <a:t>Results</a:t>
            </a:r>
          </a:p>
          <a:p>
            <a:pPr marL="741045"/>
            <a:r>
              <a:rPr lang="en-US">
                <a:latin typeface="Cambria"/>
                <a:ea typeface="Cambria"/>
              </a:rPr>
              <a:t>Conclusion and Improvements</a:t>
            </a:r>
          </a:p>
          <a:p>
            <a:endParaRPr lang="en-US"/>
          </a:p>
        </p:txBody>
      </p:sp>
      <p:sp>
        <p:nvSpPr>
          <p:cNvPr id="3" name="Slide Number Placeholder 2">
            <a:extLst>
              <a:ext uri="{FF2B5EF4-FFF2-40B4-BE49-F238E27FC236}">
                <a16:creationId xmlns:a16="http://schemas.microsoft.com/office/drawing/2014/main" id="{75335EDA-CF79-228D-704E-D8D73ECC526C}"/>
              </a:ext>
            </a:extLst>
          </p:cNvPr>
          <p:cNvSpPr>
            <a:spLocks noGrp="1"/>
          </p:cNvSpPr>
          <p:nvPr>
            <p:ph type="sldNum" sz="quarter" idx="12"/>
          </p:nvPr>
        </p:nvSpPr>
        <p:spPr/>
        <p:txBody>
          <a:bodyPr/>
          <a:lstStyle/>
          <a:p>
            <a:fld id="{225705C9-C93A-4611-A575-E7A979D414CC}" type="slidenum">
              <a:rPr lang="en-GB" smtClean="0"/>
              <a:pPr/>
              <a:t>2</a:t>
            </a:fld>
            <a:endParaRPr lang="en-GB"/>
          </a:p>
        </p:txBody>
      </p:sp>
    </p:spTree>
    <p:extLst>
      <p:ext uri="{BB962C8B-B14F-4D97-AF65-F5344CB8AC3E}">
        <p14:creationId xmlns:p14="http://schemas.microsoft.com/office/powerpoint/2010/main" val="3584292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B4770-AA0E-A2AC-B3D7-DF3B5428C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27BF3F-768C-33D8-E315-F6AD03E8E85E}"/>
              </a:ext>
            </a:extLst>
          </p:cNvPr>
          <p:cNvSpPr>
            <a:spLocks noGrp="1"/>
          </p:cNvSpPr>
          <p:nvPr>
            <p:ph type="title"/>
          </p:nvPr>
        </p:nvSpPr>
        <p:spPr/>
        <p:txBody>
          <a:bodyPr/>
          <a:lstStyle/>
          <a:p>
            <a:r>
              <a:rPr lang="en-SG">
                <a:latin typeface="Cambria"/>
                <a:ea typeface="Cambria"/>
              </a:rPr>
              <a:t>Motivation</a:t>
            </a:r>
          </a:p>
        </p:txBody>
      </p:sp>
      <p:sp>
        <p:nvSpPr>
          <p:cNvPr id="3" name="Content Placeholder 2">
            <a:extLst>
              <a:ext uri="{FF2B5EF4-FFF2-40B4-BE49-F238E27FC236}">
                <a16:creationId xmlns:a16="http://schemas.microsoft.com/office/drawing/2014/main" id="{E093BC3A-00F3-A3AA-870E-70CBD3C5A453}"/>
              </a:ext>
            </a:extLst>
          </p:cNvPr>
          <p:cNvSpPr>
            <a:spLocks noGrp="1"/>
          </p:cNvSpPr>
          <p:nvPr>
            <p:ph idx="1"/>
          </p:nvPr>
        </p:nvSpPr>
        <p:spPr/>
        <p:txBody>
          <a:bodyPr vert="horz" lIns="91440" tIns="45720" rIns="91440" bIns="45720" rtlCol="0" anchor="t">
            <a:normAutofit/>
          </a:bodyPr>
          <a:lstStyle/>
          <a:p>
            <a:pPr marL="285750" indent="-285750" algn="just">
              <a:buChar char="•"/>
            </a:pPr>
            <a:r>
              <a:rPr lang="en-US" sz="1400">
                <a:latin typeface="Cambria"/>
                <a:ea typeface="Cambria"/>
                <a:cs typeface="Arial"/>
              </a:rPr>
              <a:t>Volatility Risk Premium (VRP) approximated by implied variance (IV) – realized variance (RV) over matching horizon</a:t>
            </a:r>
          </a:p>
          <a:p>
            <a:pPr marL="285750" indent="-285750" algn="just">
              <a:buChar char="•"/>
            </a:pPr>
            <a:r>
              <a:rPr lang="en-US" sz="1400">
                <a:latin typeface="Cambria"/>
                <a:ea typeface="Cambria"/>
                <a:cs typeface="Arial"/>
              </a:rPr>
              <a:t>VRP well-documented in equity markets with IV &gt; RV to compensate for bearing tail risk</a:t>
            </a:r>
            <a:endParaRPr lang="en-US" sz="2000">
              <a:latin typeface="Cambria"/>
              <a:ea typeface="Cambria"/>
              <a:cs typeface="Arial"/>
            </a:endParaRPr>
          </a:p>
          <a:p>
            <a:pPr marL="285750" indent="-285750" algn="just">
              <a:buChar char="•"/>
            </a:pPr>
            <a:r>
              <a:rPr lang="en-US" sz="1400">
                <a:latin typeface="Cambria"/>
                <a:ea typeface="Cambria"/>
                <a:cs typeface="Arial"/>
              </a:rPr>
              <a:t>Existence of VRP may be exploited and traded via short straddles / strangles</a:t>
            </a:r>
          </a:p>
        </p:txBody>
      </p:sp>
      <p:sp>
        <p:nvSpPr>
          <p:cNvPr id="16" name="Content Placeholder 15">
            <a:extLst>
              <a:ext uri="{FF2B5EF4-FFF2-40B4-BE49-F238E27FC236}">
                <a16:creationId xmlns:a16="http://schemas.microsoft.com/office/drawing/2014/main" id="{D361119E-30B4-C9E0-193A-83D23DCFB0FD}"/>
              </a:ext>
            </a:extLst>
          </p:cNvPr>
          <p:cNvSpPr>
            <a:spLocks noGrp="1"/>
          </p:cNvSpPr>
          <p:nvPr>
            <p:ph idx="15"/>
          </p:nvPr>
        </p:nvSpPr>
        <p:spPr>
          <a:xfrm>
            <a:off x="6391564" y="4415358"/>
            <a:ext cx="5292436" cy="1886835"/>
          </a:xfrm>
        </p:spPr>
        <p:txBody>
          <a:bodyPr vert="horz" lIns="91440" tIns="45720" rIns="91440" bIns="45720" rtlCol="0" anchor="t">
            <a:normAutofit/>
          </a:bodyPr>
          <a:lstStyle/>
          <a:p>
            <a:pPr marL="285750" indent="-285750" algn="just">
              <a:buFont typeface="Arial" panose="020B0604020202020204" pitchFamily="34" charset="0"/>
              <a:buChar char="•"/>
            </a:pPr>
            <a:r>
              <a:rPr lang="en-GB" sz="1400">
                <a:latin typeface="Cambria"/>
                <a:ea typeface="Cambria"/>
                <a:cs typeface="Arial"/>
              </a:rPr>
              <a:t>BTC daily options are a new and understudied instrument only introduced in </a:t>
            </a:r>
            <a:r>
              <a:rPr lang="en-GB" sz="1400" err="1">
                <a:latin typeface="Cambria"/>
                <a:ea typeface="Cambria"/>
                <a:cs typeface="Arial"/>
              </a:rPr>
              <a:t>Derebit</a:t>
            </a:r>
            <a:r>
              <a:rPr lang="en-GB" sz="1400">
                <a:latin typeface="Cambria"/>
                <a:ea typeface="Cambria"/>
                <a:cs typeface="Arial"/>
              </a:rPr>
              <a:t> in 2021</a:t>
            </a:r>
          </a:p>
          <a:p>
            <a:pPr marL="285750" indent="-285750" algn="just">
              <a:buFont typeface="Arial" panose="020B0604020202020204" pitchFamily="34" charset="0"/>
              <a:buChar char="•"/>
            </a:pPr>
            <a:r>
              <a:rPr lang="en-GB" sz="1400">
                <a:latin typeface="Cambria"/>
                <a:ea typeface="Cambria"/>
                <a:cs typeface="Arial"/>
              </a:rPr>
              <a:t>Short time-to-expiry options allows for investigation of day-of-week calendar effects in VRP</a:t>
            </a:r>
            <a:endParaRPr lang="en-GB">
              <a:latin typeface="Cambria"/>
              <a:ea typeface="Cambria"/>
              <a:cs typeface="Arial"/>
            </a:endParaRPr>
          </a:p>
        </p:txBody>
      </p:sp>
      <p:sp>
        <p:nvSpPr>
          <p:cNvPr id="10" name="Text Placeholder 9">
            <a:extLst>
              <a:ext uri="{FF2B5EF4-FFF2-40B4-BE49-F238E27FC236}">
                <a16:creationId xmlns:a16="http://schemas.microsoft.com/office/drawing/2014/main" id="{DFFF3815-84EE-2158-3CFB-232D3C8B8F6E}"/>
              </a:ext>
            </a:extLst>
          </p:cNvPr>
          <p:cNvSpPr>
            <a:spLocks noGrp="1"/>
          </p:cNvSpPr>
          <p:nvPr>
            <p:ph type="body" sz="quarter" idx="18"/>
          </p:nvPr>
        </p:nvSpPr>
        <p:spPr/>
        <p:txBody>
          <a:bodyPr vert="horz" lIns="91440" tIns="45720" rIns="91440" bIns="45720" rtlCol="0" anchor="t">
            <a:noAutofit/>
          </a:bodyPr>
          <a:lstStyle/>
          <a:p>
            <a:r>
              <a:rPr lang="en-GB" sz="1600" b="1">
                <a:latin typeface="Cambria"/>
                <a:ea typeface="Cambria"/>
                <a:cs typeface="Arial"/>
              </a:rPr>
              <a:t>BTC Daily Options are New and Understudied </a:t>
            </a:r>
          </a:p>
        </p:txBody>
      </p:sp>
      <p:sp>
        <p:nvSpPr>
          <p:cNvPr id="11" name="Text Placeholder 10">
            <a:extLst>
              <a:ext uri="{FF2B5EF4-FFF2-40B4-BE49-F238E27FC236}">
                <a16:creationId xmlns:a16="http://schemas.microsoft.com/office/drawing/2014/main" id="{D5617873-2E13-1ABC-D0F8-367ACE9FC5D5}"/>
              </a:ext>
            </a:extLst>
          </p:cNvPr>
          <p:cNvSpPr>
            <a:spLocks noGrp="1"/>
          </p:cNvSpPr>
          <p:nvPr>
            <p:ph type="body" sz="quarter" idx="19"/>
          </p:nvPr>
        </p:nvSpPr>
        <p:spPr>
          <a:xfrm>
            <a:off x="6598384" y="1475233"/>
            <a:ext cx="5085614" cy="572606"/>
          </a:xfrm>
        </p:spPr>
        <p:txBody>
          <a:bodyPr vert="horz" lIns="91440" tIns="45720" rIns="91440" bIns="45720" rtlCol="0" anchor="t">
            <a:noAutofit/>
          </a:bodyPr>
          <a:lstStyle/>
          <a:p>
            <a:r>
              <a:rPr lang="en-US" sz="1600" b="1">
                <a:latin typeface="Cambria"/>
                <a:ea typeface="Cambria"/>
              </a:rPr>
              <a:t>Cryptocurrency is Structurally Interesting</a:t>
            </a:r>
            <a:endParaRPr lang="en-US" sz="1600">
              <a:latin typeface="Cambria"/>
              <a:ea typeface="Cambria"/>
            </a:endParaRPr>
          </a:p>
        </p:txBody>
      </p:sp>
      <p:sp>
        <p:nvSpPr>
          <p:cNvPr id="17" name="Text Placeholder 16">
            <a:extLst>
              <a:ext uri="{FF2B5EF4-FFF2-40B4-BE49-F238E27FC236}">
                <a16:creationId xmlns:a16="http://schemas.microsoft.com/office/drawing/2014/main" id="{17C64E2A-949B-9184-66C0-C0F962F5A3BB}"/>
              </a:ext>
            </a:extLst>
          </p:cNvPr>
          <p:cNvSpPr>
            <a:spLocks noGrp="1"/>
          </p:cNvSpPr>
          <p:nvPr>
            <p:ph type="body" sz="quarter" idx="20"/>
          </p:nvPr>
        </p:nvSpPr>
        <p:spPr/>
        <p:txBody>
          <a:bodyPr vert="horz" lIns="91440" tIns="45720" rIns="91440" bIns="45720" rtlCol="0" anchor="t">
            <a:noAutofit/>
          </a:bodyPr>
          <a:lstStyle/>
          <a:p>
            <a:r>
              <a:rPr lang="en-US" sz="1400" b="0" i="0" u="none" strike="noStrike" baseline="0">
                <a:solidFill>
                  <a:srgbClr val="262626"/>
                </a:solidFill>
                <a:latin typeface="Cambria"/>
                <a:ea typeface="Cambria"/>
              </a:rPr>
              <a:t>Core question: "Do BTC options systematically misprice volatility, and does this </a:t>
            </a:r>
            <a:r>
              <a:rPr lang="en-US" sz="1400">
                <a:solidFill>
                  <a:srgbClr val="262626"/>
                </a:solidFill>
                <a:latin typeface="Cambria"/>
                <a:ea typeface="Cambria"/>
              </a:rPr>
              <a:t>vary</a:t>
            </a:r>
            <a:r>
              <a:rPr lang="en-US" sz="1400" b="0" i="0" u="none" strike="noStrike" baseline="0">
                <a:solidFill>
                  <a:srgbClr val="262626"/>
                </a:solidFill>
                <a:latin typeface="Cambria"/>
                <a:ea typeface="Cambria"/>
              </a:rPr>
              <a:t> by day of the week?”</a:t>
            </a:r>
            <a:endParaRPr lang="en-GB">
              <a:latin typeface="Cambria"/>
              <a:ea typeface="Cambria"/>
            </a:endParaRPr>
          </a:p>
        </p:txBody>
      </p:sp>
      <p:sp>
        <p:nvSpPr>
          <p:cNvPr id="7" name="Slide Number Placeholder 6">
            <a:extLst>
              <a:ext uri="{FF2B5EF4-FFF2-40B4-BE49-F238E27FC236}">
                <a16:creationId xmlns:a16="http://schemas.microsoft.com/office/drawing/2014/main" id="{4BE13123-A75F-7342-3326-8AE43AA18137}"/>
              </a:ext>
            </a:extLst>
          </p:cNvPr>
          <p:cNvSpPr>
            <a:spLocks noGrp="1"/>
          </p:cNvSpPr>
          <p:nvPr>
            <p:ph type="sldNum" sz="quarter" idx="23"/>
          </p:nvPr>
        </p:nvSpPr>
        <p:spPr/>
        <p:txBody>
          <a:bodyPr/>
          <a:lstStyle/>
          <a:p>
            <a:fld id="{225705C9-C93A-4611-A575-E7A979D414CC}" type="slidenum">
              <a:rPr lang="en-GB" smtClean="0"/>
              <a:pPr/>
              <a:t>3</a:t>
            </a:fld>
            <a:endParaRPr lang="en-GB"/>
          </a:p>
        </p:txBody>
      </p:sp>
      <p:sp>
        <p:nvSpPr>
          <p:cNvPr id="19" name="Text Placeholder 18">
            <a:extLst>
              <a:ext uri="{FF2B5EF4-FFF2-40B4-BE49-F238E27FC236}">
                <a16:creationId xmlns:a16="http://schemas.microsoft.com/office/drawing/2014/main" id="{634E6E90-60D1-D98F-FF87-781912CF0B57}"/>
              </a:ext>
            </a:extLst>
          </p:cNvPr>
          <p:cNvSpPr>
            <a:spLocks noGrp="1"/>
          </p:cNvSpPr>
          <p:nvPr>
            <p:ph type="body" sz="quarter" idx="16"/>
          </p:nvPr>
        </p:nvSpPr>
        <p:spPr/>
        <p:txBody>
          <a:bodyPr vert="horz" lIns="91440" tIns="45720" rIns="91440" bIns="45720" rtlCol="0" anchor="t">
            <a:noAutofit/>
          </a:bodyPr>
          <a:lstStyle/>
          <a:p>
            <a:r>
              <a:rPr lang="en-GB" sz="1600" b="1">
                <a:latin typeface="Cambria"/>
                <a:ea typeface="Cambria"/>
                <a:cs typeface="Arial"/>
              </a:rPr>
              <a:t>Volatility Risk Premium</a:t>
            </a:r>
          </a:p>
        </p:txBody>
      </p:sp>
      <p:sp>
        <p:nvSpPr>
          <p:cNvPr id="25" name="TextBox 24">
            <a:extLst>
              <a:ext uri="{FF2B5EF4-FFF2-40B4-BE49-F238E27FC236}">
                <a16:creationId xmlns:a16="http://schemas.microsoft.com/office/drawing/2014/main" id="{4C6B5DF7-A8C5-E2E3-7ED7-AA1DBD3F8C15}"/>
              </a:ext>
            </a:extLst>
          </p:cNvPr>
          <p:cNvSpPr txBox="1"/>
          <p:nvPr/>
        </p:nvSpPr>
        <p:spPr>
          <a:xfrm>
            <a:off x="6391564" y="1831341"/>
            <a:ext cx="5296927" cy="11244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90000"/>
              </a:lnSpc>
              <a:spcBef>
                <a:spcPts val="1000"/>
              </a:spcBef>
              <a:buFont typeface="Arial"/>
              <a:buChar char="•"/>
            </a:pPr>
            <a:r>
              <a:rPr lang="en-GB" sz="1400">
                <a:latin typeface="Cambria"/>
                <a:ea typeface="Cambria"/>
                <a:cs typeface="Arial"/>
              </a:rPr>
              <a:t>24/7 live trading— no overnight gap, no market close</a:t>
            </a:r>
          </a:p>
          <a:p>
            <a:pPr marL="342900" indent="-342900" algn="just">
              <a:lnSpc>
                <a:spcPct val="90000"/>
              </a:lnSpc>
              <a:spcBef>
                <a:spcPts val="1000"/>
              </a:spcBef>
              <a:buFont typeface="Arial"/>
              <a:buChar char="•"/>
            </a:pPr>
            <a:r>
              <a:rPr lang="en-GB" sz="1400">
                <a:latin typeface="Cambria"/>
                <a:ea typeface="Cambria"/>
                <a:cs typeface="Arial"/>
              </a:rPr>
              <a:t>Weekend sessions are live trading periods, not just time decay</a:t>
            </a:r>
          </a:p>
          <a:p>
            <a:pPr marL="342900" indent="-342900" algn="just">
              <a:lnSpc>
                <a:spcPct val="90000"/>
              </a:lnSpc>
              <a:spcBef>
                <a:spcPts val="1000"/>
              </a:spcBef>
              <a:buFont typeface="Arial"/>
              <a:buChar char="•"/>
            </a:pPr>
            <a:r>
              <a:rPr lang="en-GB" sz="1400">
                <a:latin typeface="Cambria"/>
                <a:ea typeface="Cambria"/>
                <a:cs typeface="Arial"/>
              </a:rPr>
              <a:t>Retail-dominated weekends vs institutional weekdays creates potential microstructure differences</a:t>
            </a:r>
          </a:p>
        </p:txBody>
      </p:sp>
      <p:pic>
        <p:nvPicPr>
          <p:cNvPr id="23" name="Content Placeholder 22" descr="Volatility Risk Premium an Exploitable Stock Market Predictor? – CXO  Advisory">
            <a:extLst>
              <a:ext uri="{FF2B5EF4-FFF2-40B4-BE49-F238E27FC236}">
                <a16:creationId xmlns:a16="http://schemas.microsoft.com/office/drawing/2014/main" id="{04265795-585C-39F7-4FF9-C5D460EA6283}"/>
              </a:ext>
            </a:extLst>
          </p:cNvPr>
          <p:cNvPicPr>
            <a:picLocks noGrp="1" noChangeAspect="1"/>
          </p:cNvPicPr>
          <p:nvPr>
            <p:ph idx="14"/>
          </p:nvPr>
        </p:nvPicPr>
        <p:blipFill>
          <a:blip r:embed="rId2"/>
          <a:stretch>
            <a:fillRect/>
          </a:stretch>
        </p:blipFill>
        <p:spPr>
          <a:xfrm>
            <a:off x="582653" y="3791174"/>
            <a:ext cx="3585544" cy="2479706"/>
          </a:xfrm>
          <a:prstGeom prst="rect">
            <a:avLst/>
          </a:prstGeom>
        </p:spPr>
      </p:pic>
    </p:spTree>
    <p:extLst>
      <p:ext uri="{BB962C8B-B14F-4D97-AF65-F5344CB8AC3E}">
        <p14:creationId xmlns:p14="http://schemas.microsoft.com/office/powerpoint/2010/main" val="1101962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F2971-CDA6-4D83-6BCF-7B31F705359C}"/>
              </a:ext>
            </a:extLst>
          </p:cNvPr>
          <p:cNvSpPr>
            <a:spLocks noGrp="1"/>
          </p:cNvSpPr>
          <p:nvPr>
            <p:ph type="title"/>
          </p:nvPr>
        </p:nvSpPr>
        <p:spPr/>
        <p:txBody>
          <a:bodyPr/>
          <a:lstStyle/>
          <a:p>
            <a:r>
              <a:rPr lang="en-GB">
                <a:latin typeface="Cambria"/>
                <a:ea typeface="Cambria"/>
              </a:rPr>
              <a:t>Literature Review</a:t>
            </a:r>
            <a:endParaRPr lang="en-GB">
              <a:ea typeface="Cambria"/>
            </a:endParaRPr>
          </a:p>
        </p:txBody>
      </p:sp>
      <p:sp>
        <p:nvSpPr>
          <p:cNvPr id="12" name="Content Placeholder 11">
            <a:extLst>
              <a:ext uri="{FF2B5EF4-FFF2-40B4-BE49-F238E27FC236}">
                <a16:creationId xmlns:a16="http://schemas.microsoft.com/office/drawing/2014/main" id="{508EC3F7-2ACD-AE4E-87F5-CB3C837D9675}"/>
              </a:ext>
            </a:extLst>
          </p:cNvPr>
          <p:cNvSpPr>
            <a:spLocks noGrp="1"/>
          </p:cNvSpPr>
          <p:nvPr>
            <p:ph idx="14"/>
          </p:nvPr>
        </p:nvSpPr>
        <p:spPr>
          <a:xfrm>
            <a:off x="6391564" y="1814278"/>
            <a:ext cx="5292436" cy="4334480"/>
          </a:xfrm>
        </p:spPr>
        <p:txBody>
          <a:bodyPr vert="horz" lIns="91440" tIns="45720" rIns="91440" bIns="45720" rtlCol="0" anchor="t">
            <a:normAutofit/>
          </a:bodyPr>
          <a:lstStyle/>
          <a:p>
            <a:r>
              <a:rPr lang="en-GB" sz="1400" b="1">
                <a:latin typeface="Cambria"/>
                <a:ea typeface="Cambria"/>
                <a:cs typeface="Arial"/>
              </a:rPr>
              <a:t>Caporale &amp; </a:t>
            </a:r>
            <a:r>
              <a:rPr lang="en-GB" sz="1400" b="1" err="1">
                <a:latin typeface="Cambria"/>
                <a:ea typeface="Cambria"/>
                <a:cs typeface="Arial"/>
              </a:rPr>
              <a:t>Plastun</a:t>
            </a:r>
            <a:r>
              <a:rPr lang="en-GB" sz="1400" b="1">
                <a:latin typeface="Cambria"/>
                <a:ea typeface="Cambria"/>
                <a:cs typeface="Arial"/>
              </a:rPr>
              <a:t> (2019)</a:t>
            </a:r>
            <a:r>
              <a:rPr lang="en-GB" sz="1400">
                <a:latin typeface="Cambria"/>
                <a:ea typeface="Cambria"/>
                <a:cs typeface="Arial"/>
              </a:rPr>
              <a:t> </a:t>
            </a:r>
            <a:endParaRPr lang="en-US" sz="1400">
              <a:latin typeface="Cambria"/>
              <a:ea typeface="Cambria"/>
            </a:endParaRPr>
          </a:p>
          <a:p>
            <a:r>
              <a:rPr lang="en-GB" sz="1400">
                <a:latin typeface="Cambria"/>
                <a:ea typeface="Cambria"/>
                <a:cs typeface="Arial"/>
              </a:rPr>
              <a:t>Documents a day-of-the-week effect in cryptocurrency markets.</a:t>
            </a:r>
          </a:p>
          <a:p>
            <a:endParaRPr lang="en-GB" sz="1400">
              <a:latin typeface="Cambria"/>
              <a:ea typeface="Cambria"/>
            </a:endParaRPr>
          </a:p>
          <a:p>
            <a:r>
              <a:rPr lang="en-GB" sz="1400" b="1">
                <a:latin typeface="Cambria"/>
                <a:ea typeface="Cambria"/>
                <a:cs typeface="Arial"/>
              </a:rPr>
              <a:t>Ma &amp; Tanizaki (2019)</a:t>
            </a:r>
            <a:r>
              <a:rPr lang="en-GB" sz="1400">
                <a:latin typeface="Cambria"/>
                <a:ea typeface="Cambria"/>
                <a:cs typeface="Arial"/>
              </a:rPr>
              <a:t> </a:t>
            </a:r>
          </a:p>
          <a:p>
            <a:r>
              <a:rPr lang="en-GB" sz="1400">
                <a:latin typeface="Cambria"/>
                <a:ea typeface="Cambria"/>
                <a:cs typeface="Arial"/>
              </a:rPr>
              <a:t>Show that BTC volatility is highest on Mondays, and that day-of-week effects in returns vary with the sample period. </a:t>
            </a:r>
            <a:endParaRPr lang="en-GB">
              <a:latin typeface="Cambria"/>
              <a:ea typeface="Cambria"/>
            </a:endParaRPr>
          </a:p>
        </p:txBody>
      </p:sp>
      <p:sp>
        <p:nvSpPr>
          <p:cNvPr id="14" name="Text Placeholder 13">
            <a:extLst>
              <a:ext uri="{FF2B5EF4-FFF2-40B4-BE49-F238E27FC236}">
                <a16:creationId xmlns:a16="http://schemas.microsoft.com/office/drawing/2014/main" id="{07AF12BE-755C-2C93-7330-96BA10ED524B}"/>
              </a:ext>
            </a:extLst>
          </p:cNvPr>
          <p:cNvSpPr>
            <a:spLocks noGrp="1"/>
          </p:cNvSpPr>
          <p:nvPr>
            <p:ph type="body" sz="quarter" idx="19"/>
          </p:nvPr>
        </p:nvSpPr>
        <p:spPr>
          <a:xfrm>
            <a:off x="6598384" y="1475233"/>
            <a:ext cx="5173845" cy="323953"/>
          </a:xfrm>
        </p:spPr>
        <p:txBody>
          <a:bodyPr vert="horz" lIns="91440" tIns="45720" rIns="91440" bIns="45720" rtlCol="0" anchor="t">
            <a:noAutofit/>
          </a:bodyPr>
          <a:lstStyle/>
          <a:p>
            <a:r>
              <a:rPr lang="en-GB" sz="1600" b="1">
                <a:latin typeface="Cambria"/>
                <a:ea typeface="Cambria"/>
                <a:cs typeface="Arial"/>
              </a:rPr>
              <a:t>Day of Week Effects in BTC</a:t>
            </a:r>
          </a:p>
        </p:txBody>
      </p:sp>
      <p:sp>
        <p:nvSpPr>
          <p:cNvPr id="3" name="Content Placeholder 2">
            <a:extLst>
              <a:ext uri="{FF2B5EF4-FFF2-40B4-BE49-F238E27FC236}">
                <a16:creationId xmlns:a16="http://schemas.microsoft.com/office/drawing/2014/main" id="{44306E1B-D829-08CF-25A6-6626B3D22C26}"/>
              </a:ext>
            </a:extLst>
          </p:cNvPr>
          <p:cNvSpPr>
            <a:spLocks noGrp="1"/>
          </p:cNvSpPr>
          <p:nvPr>
            <p:ph idx="1"/>
          </p:nvPr>
        </p:nvSpPr>
        <p:spPr>
          <a:xfrm>
            <a:off x="646822" y="1814278"/>
            <a:ext cx="5349762" cy="1827253"/>
          </a:xfrm>
        </p:spPr>
        <p:txBody>
          <a:bodyPr vert="horz" lIns="91440" tIns="45720" rIns="91440" bIns="45720" rtlCol="0" anchor="t">
            <a:normAutofit/>
          </a:bodyPr>
          <a:lstStyle/>
          <a:p>
            <a:r>
              <a:rPr lang="en-GB" sz="1400" b="1">
                <a:latin typeface="Cambria"/>
                <a:ea typeface="Cambria"/>
                <a:cs typeface="Arial"/>
              </a:rPr>
              <a:t>Carr &amp; Wu (2009)</a:t>
            </a:r>
            <a:r>
              <a:rPr lang="en-GB" sz="1400">
                <a:latin typeface="Cambria"/>
                <a:ea typeface="Cambria"/>
                <a:cs typeface="Arial"/>
              </a:rPr>
              <a:t> </a:t>
            </a:r>
            <a:endParaRPr lang="en-GB" sz="1400" i="1">
              <a:latin typeface="Cambria"/>
              <a:ea typeface="Cambria"/>
              <a:cs typeface="Arial"/>
            </a:endParaRPr>
          </a:p>
          <a:p>
            <a:r>
              <a:rPr lang="en-GB" sz="1400">
                <a:latin typeface="Cambria"/>
                <a:ea typeface="Cambria"/>
                <a:cs typeface="Arial"/>
              </a:rPr>
              <a:t>Documents that delta-hedged option positions generate negative returns</a:t>
            </a:r>
            <a:endParaRPr lang="en-GB">
              <a:latin typeface="Cambria"/>
              <a:ea typeface="Cambria"/>
              <a:cs typeface="Arial"/>
            </a:endParaRPr>
          </a:p>
          <a:p>
            <a:endParaRPr lang="en-GB" i="1">
              <a:latin typeface="Cambria"/>
              <a:ea typeface="Cambria"/>
            </a:endParaRPr>
          </a:p>
        </p:txBody>
      </p:sp>
      <p:sp>
        <p:nvSpPr>
          <p:cNvPr id="11" name="Content Placeholder 10">
            <a:extLst>
              <a:ext uri="{FF2B5EF4-FFF2-40B4-BE49-F238E27FC236}">
                <a16:creationId xmlns:a16="http://schemas.microsoft.com/office/drawing/2014/main" id="{D43A35C0-4796-A632-6C2E-E842089A0BF1}"/>
              </a:ext>
            </a:extLst>
          </p:cNvPr>
          <p:cNvSpPr>
            <a:spLocks noGrp="1"/>
          </p:cNvSpPr>
          <p:nvPr>
            <p:ph idx="13"/>
          </p:nvPr>
        </p:nvSpPr>
        <p:spPr/>
        <p:txBody>
          <a:bodyPr vert="horz" lIns="91440" tIns="45720" rIns="91440" bIns="45720" rtlCol="0" anchor="t">
            <a:normAutofit/>
          </a:bodyPr>
          <a:lstStyle/>
          <a:p>
            <a:endParaRPr lang="en-GB"/>
          </a:p>
          <a:p>
            <a:endParaRPr lang="en-GB"/>
          </a:p>
        </p:txBody>
      </p:sp>
      <p:sp>
        <p:nvSpPr>
          <p:cNvPr id="10" name="Text Placeholder 9">
            <a:extLst>
              <a:ext uri="{FF2B5EF4-FFF2-40B4-BE49-F238E27FC236}">
                <a16:creationId xmlns:a16="http://schemas.microsoft.com/office/drawing/2014/main" id="{774639AE-D510-94E0-63AC-BF5A4930E27E}"/>
              </a:ext>
            </a:extLst>
          </p:cNvPr>
          <p:cNvSpPr>
            <a:spLocks noGrp="1"/>
          </p:cNvSpPr>
          <p:nvPr>
            <p:ph type="body" sz="quarter" idx="16"/>
          </p:nvPr>
        </p:nvSpPr>
        <p:spPr>
          <a:xfrm>
            <a:off x="836285" y="1474283"/>
            <a:ext cx="5328742" cy="339995"/>
          </a:xfrm>
        </p:spPr>
        <p:txBody>
          <a:bodyPr vert="horz" lIns="91440" tIns="45720" rIns="91440" bIns="45720" rtlCol="0" anchor="t">
            <a:noAutofit/>
          </a:bodyPr>
          <a:lstStyle/>
          <a:p>
            <a:r>
              <a:rPr lang="en-GB" sz="1600" b="1">
                <a:latin typeface="Cambria"/>
                <a:ea typeface="Cambria"/>
                <a:cs typeface="Arial"/>
              </a:rPr>
              <a:t>VRP Existence Research Papers</a:t>
            </a:r>
          </a:p>
        </p:txBody>
      </p:sp>
      <p:sp>
        <p:nvSpPr>
          <p:cNvPr id="13" name="Text Placeholder 12">
            <a:extLst>
              <a:ext uri="{FF2B5EF4-FFF2-40B4-BE49-F238E27FC236}">
                <a16:creationId xmlns:a16="http://schemas.microsoft.com/office/drawing/2014/main" id="{28D97C62-B934-EE81-7A99-FA6CE80D3F32}"/>
              </a:ext>
            </a:extLst>
          </p:cNvPr>
          <p:cNvSpPr>
            <a:spLocks noGrp="1"/>
          </p:cNvSpPr>
          <p:nvPr>
            <p:ph type="body" sz="quarter" idx="17"/>
          </p:nvPr>
        </p:nvSpPr>
        <p:spPr/>
        <p:txBody>
          <a:bodyPr vert="horz" lIns="91440" tIns="45720" rIns="91440" bIns="45720" rtlCol="0" anchor="t">
            <a:noAutofit/>
          </a:bodyPr>
          <a:lstStyle/>
          <a:p>
            <a:r>
              <a:rPr lang="en-GB" sz="1600" b="1">
                <a:latin typeface="Cambria"/>
                <a:ea typeface="Cambria"/>
                <a:cs typeface="Arial"/>
              </a:rPr>
              <a:t>BTC VRP Research</a:t>
            </a:r>
          </a:p>
        </p:txBody>
      </p:sp>
      <p:sp>
        <p:nvSpPr>
          <p:cNvPr id="7" name="Slide Number Placeholder 6">
            <a:extLst>
              <a:ext uri="{FF2B5EF4-FFF2-40B4-BE49-F238E27FC236}">
                <a16:creationId xmlns:a16="http://schemas.microsoft.com/office/drawing/2014/main" id="{B21A4153-6D04-A18E-6586-77C672992F50}"/>
              </a:ext>
            </a:extLst>
          </p:cNvPr>
          <p:cNvSpPr>
            <a:spLocks noGrp="1"/>
          </p:cNvSpPr>
          <p:nvPr>
            <p:ph type="sldNum" sz="quarter" idx="23"/>
          </p:nvPr>
        </p:nvSpPr>
        <p:spPr/>
        <p:txBody>
          <a:bodyPr/>
          <a:lstStyle/>
          <a:p>
            <a:fld id="{225705C9-C93A-4611-A575-E7A979D414CC}" type="slidenum">
              <a:rPr lang="en-GB" smtClean="0"/>
              <a:pPr/>
              <a:t>4</a:t>
            </a:fld>
            <a:endParaRPr lang="en-GB"/>
          </a:p>
        </p:txBody>
      </p:sp>
      <p:sp>
        <p:nvSpPr>
          <p:cNvPr id="18" name="TextBox 17">
            <a:extLst>
              <a:ext uri="{FF2B5EF4-FFF2-40B4-BE49-F238E27FC236}">
                <a16:creationId xmlns:a16="http://schemas.microsoft.com/office/drawing/2014/main" id="{BCF9A621-B3E1-20E2-E2B6-FA32F443F2FD}"/>
              </a:ext>
            </a:extLst>
          </p:cNvPr>
          <p:cNvSpPr txBox="1"/>
          <p:nvPr/>
        </p:nvSpPr>
        <p:spPr>
          <a:xfrm>
            <a:off x="646822" y="4278999"/>
            <a:ext cx="4943352" cy="16979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Cambria"/>
                <a:ea typeface="Cambria"/>
                <a:cs typeface="Arial"/>
              </a:rPr>
              <a:t>Almeida et al. (2024) </a:t>
            </a:r>
            <a:r>
              <a:rPr lang="en-US" sz="1400">
                <a:latin typeface="Cambria"/>
                <a:ea typeface="Cambria"/>
                <a:cs typeface="Arial"/>
              </a:rPr>
              <a:t> </a:t>
            </a:r>
          </a:p>
          <a:p>
            <a:pPr>
              <a:spcBef>
                <a:spcPts val="1000"/>
              </a:spcBef>
            </a:pPr>
            <a:r>
              <a:rPr lang="en-US" sz="1400">
                <a:latin typeface="Cambria"/>
                <a:ea typeface="Cambria"/>
                <a:cs typeface="Arial"/>
              </a:rPr>
              <a:t>Results of 14% VRP in monthly BTC Options compared to 2% VRP in SPX</a:t>
            </a:r>
            <a:endParaRPr lang="en-US" sz="1400">
              <a:latin typeface="Cambria"/>
              <a:ea typeface="Cambria"/>
            </a:endParaRPr>
          </a:p>
          <a:p>
            <a:endParaRPr lang="en-US">
              <a:latin typeface="Cambria"/>
              <a:ea typeface="Cambria"/>
            </a:endParaRPr>
          </a:p>
          <a:p>
            <a:endParaRPr lang="en-US">
              <a:latin typeface="Cambria"/>
              <a:ea typeface="Cambria"/>
            </a:endParaRPr>
          </a:p>
          <a:p>
            <a:endParaRPr lang="en-US">
              <a:latin typeface="Cambria"/>
              <a:ea typeface="Cambria"/>
            </a:endParaRPr>
          </a:p>
        </p:txBody>
      </p:sp>
    </p:spTree>
    <p:extLst>
      <p:ext uri="{BB962C8B-B14F-4D97-AF65-F5344CB8AC3E}">
        <p14:creationId xmlns:p14="http://schemas.microsoft.com/office/powerpoint/2010/main" val="2283680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10A0D-B04D-9321-890C-7D65A4F28443}"/>
              </a:ext>
            </a:extLst>
          </p:cNvPr>
          <p:cNvSpPr>
            <a:spLocks noGrp="1"/>
          </p:cNvSpPr>
          <p:nvPr>
            <p:ph type="title"/>
          </p:nvPr>
        </p:nvSpPr>
        <p:spPr/>
        <p:txBody>
          <a:bodyPr/>
          <a:lstStyle/>
          <a:p>
            <a:r>
              <a:rPr lang="en-GB">
                <a:latin typeface="Cambria"/>
                <a:ea typeface="Cambria"/>
              </a:rPr>
              <a:t>Data Acquisition</a:t>
            </a:r>
          </a:p>
        </p:txBody>
      </p:sp>
      <p:sp>
        <p:nvSpPr>
          <p:cNvPr id="3" name="Content Placeholder 2">
            <a:extLst>
              <a:ext uri="{FF2B5EF4-FFF2-40B4-BE49-F238E27FC236}">
                <a16:creationId xmlns:a16="http://schemas.microsoft.com/office/drawing/2014/main" id="{64739071-47C2-241A-7DBC-962E9E575DF9}"/>
              </a:ext>
            </a:extLst>
          </p:cNvPr>
          <p:cNvSpPr>
            <a:spLocks noGrp="1"/>
          </p:cNvSpPr>
          <p:nvPr>
            <p:ph idx="1"/>
          </p:nvPr>
        </p:nvSpPr>
        <p:spPr/>
        <p:txBody>
          <a:bodyPr vert="horz" lIns="91440" tIns="45720" rIns="91440" bIns="45720" rtlCol="0" anchor="t">
            <a:normAutofit/>
          </a:bodyPr>
          <a:lstStyle/>
          <a:p>
            <a:pPr marL="171450" indent="-171450">
              <a:buChar char="•"/>
            </a:pPr>
            <a:r>
              <a:rPr lang="en-GB" sz="1400">
                <a:latin typeface="Cambria"/>
                <a:ea typeface="Cambria"/>
              </a:rPr>
              <a:t>Underlying Hourly BTC Data from Coinbase</a:t>
            </a:r>
          </a:p>
          <a:p>
            <a:pPr marL="171450" indent="-171450">
              <a:buChar char="•"/>
            </a:pPr>
            <a:r>
              <a:rPr lang="en-GB" sz="1400">
                <a:latin typeface="Cambria"/>
                <a:ea typeface="Cambria"/>
              </a:rPr>
              <a:t>Period: January 2023 to December 2025</a:t>
            </a:r>
          </a:p>
        </p:txBody>
      </p:sp>
      <p:sp>
        <p:nvSpPr>
          <p:cNvPr id="4" name="Content Placeholder 3">
            <a:extLst>
              <a:ext uri="{FF2B5EF4-FFF2-40B4-BE49-F238E27FC236}">
                <a16:creationId xmlns:a16="http://schemas.microsoft.com/office/drawing/2014/main" id="{3790B2FB-1833-CD40-21F2-2299E952F347}"/>
              </a:ext>
            </a:extLst>
          </p:cNvPr>
          <p:cNvSpPr>
            <a:spLocks noGrp="1"/>
          </p:cNvSpPr>
          <p:nvPr>
            <p:ph idx="14"/>
          </p:nvPr>
        </p:nvSpPr>
        <p:spPr>
          <a:xfrm>
            <a:off x="6391564" y="1831341"/>
            <a:ext cx="5647542" cy="4334480"/>
          </a:xfrm>
        </p:spPr>
        <p:txBody>
          <a:bodyPr vert="horz" lIns="91440" tIns="45720" rIns="91440" bIns="45720" rtlCol="0" anchor="t">
            <a:normAutofit/>
          </a:bodyPr>
          <a:lstStyle/>
          <a:p>
            <a:pPr marL="171450" indent="-171450" algn="just">
              <a:buFont typeface="Arial" panose="020B0604020202020204" pitchFamily="34" charset="0"/>
              <a:buChar char="•"/>
            </a:pPr>
            <a:r>
              <a:rPr lang="en-GB" sz="1400">
                <a:latin typeface="Cambria"/>
                <a:ea typeface="Cambria"/>
              </a:rPr>
              <a:t>Options Data from </a:t>
            </a:r>
            <a:r>
              <a:rPr lang="en-GB" sz="1400" err="1">
                <a:latin typeface="Cambria"/>
                <a:ea typeface="Cambria"/>
              </a:rPr>
              <a:t>Derebit</a:t>
            </a:r>
            <a:endParaRPr lang="en-US" sz="1400">
              <a:latin typeface="Cambria"/>
              <a:ea typeface="Cambria"/>
            </a:endParaRPr>
          </a:p>
          <a:p>
            <a:pPr marL="171450" indent="-171450" algn="just">
              <a:buFont typeface="Arial" panose="020B0604020202020204" pitchFamily="34" charset="0"/>
              <a:buChar char="•"/>
            </a:pPr>
            <a:r>
              <a:rPr lang="en-GB" sz="1400">
                <a:latin typeface="Cambria"/>
                <a:ea typeface="Cambria"/>
              </a:rPr>
              <a:t>Period: January 2023 to December 2025</a:t>
            </a:r>
          </a:p>
          <a:p>
            <a:pPr marL="171450" indent="-171450" algn="just">
              <a:buFont typeface="Arial" panose="020B0604020202020204" pitchFamily="34" charset="0"/>
              <a:buChar char="•"/>
            </a:pPr>
            <a:r>
              <a:rPr lang="en-GB" sz="1400">
                <a:latin typeface="Cambria"/>
                <a:ea typeface="Cambria"/>
              </a:rPr>
              <a:t>For each day, at session open (08:00 UTC), four legs identified from the first two hours</a:t>
            </a:r>
          </a:p>
          <a:p>
            <a:pPr algn="just"/>
            <a:r>
              <a:rPr lang="en-GB" sz="1400">
                <a:latin typeface="Cambria"/>
                <a:ea typeface="Cambria"/>
              </a:rPr>
              <a:t> - ATM call and put (strike closest to spot) </a:t>
            </a:r>
            <a:endParaRPr lang="en-GB"/>
          </a:p>
          <a:p>
            <a:pPr algn="just"/>
            <a:r>
              <a:rPr lang="en-GB" sz="1400">
                <a:latin typeface="Cambria"/>
                <a:ea typeface="Cambria"/>
              </a:rPr>
              <a:t> - OTM call (strike closest to 115% of spot) </a:t>
            </a:r>
          </a:p>
          <a:p>
            <a:pPr algn="just"/>
            <a:r>
              <a:rPr lang="en-GB" sz="1400">
                <a:latin typeface="Cambria"/>
                <a:ea typeface="Cambria"/>
              </a:rPr>
              <a:t> - OTM put (strike closest to 85% of spot)</a:t>
            </a:r>
          </a:p>
          <a:p>
            <a:pPr marL="171450" indent="-171450" algn="just">
              <a:buChar char="•"/>
            </a:pPr>
            <a:r>
              <a:rPr lang="en-GB" sz="1400">
                <a:latin typeface="Cambria"/>
                <a:ea typeface="Cambria"/>
              </a:rPr>
              <a:t>All options expire at 08:00 UTC the following day (</a:t>
            </a:r>
            <a:r>
              <a:rPr lang="en-GB" sz="1400" err="1">
                <a:latin typeface="Cambria"/>
                <a:ea typeface="Cambria"/>
              </a:rPr>
              <a:t>Deribit</a:t>
            </a:r>
            <a:r>
              <a:rPr lang="en-GB" sz="1400">
                <a:latin typeface="Cambria"/>
                <a:ea typeface="Cambria"/>
              </a:rPr>
              <a:t> daily expiries)</a:t>
            </a:r>
          </a:p>
          <a:p>
            <a:pPr marL="171450" indent="-171450" algn="just">
              <a:buChar char="•"/>
            </a:pPr>
            <a:r>
              <a:rPr lang="en-GB" sz="1400">
                <a:latin typeface="Cambria"/>
                <a:ea typeface="Cambria"/>
              </a:rPr>
              <a:t>Entry price taken from nearest trade to 08:00 UTC within 2h window</a:t>
            </a:r>
          </a:p>
          <a:p>
            <a:pPr marL="171450" indent="-171450" algn="just">
              <a:buFont typeface="Arial" panose="020B0604020202020204" pitchFamily="34" charset="0"/>
              <a:buChar char="•"/>
            </a:pPr>
            <a:r>
              <a:rPr lang="en-GB" sz="1400">
                <a:latin typeface="Cambria"/>
                <a:ea typeface="Cambria"/>
              </a:rPr>
              <a:t>Data quality filter: legs where nearest trade &gt; 2h from open excluded</a:t>
            </a:r>
          </a:p>
          <a:p>
            <a:pPr marL="171450" indent="-171450" algn="just">
              <a:buChar char="•"/>
            </a:pPr>
            <a:endParaRPr lang="en-GB">
              <a:latin typeface="Cambria"/>
              <a:ea typeface="Cambria"/>
              <a:cs typeface="Calibri"/>
            </a:endParaRPr>
          </a:p>
        </p:txBody>
      </p:sp>
      <p:sp>
        <p:nvSpPr>
          <p:cNvPr id="9" name="Text Placeholder 8">
            <a:extLst>
              <a:ext uri="{FF2B5EF4-FFF2-40B4-BE49-F238E27FC236}">
                <a16:creationId xmlns:a16="http://schemas.microsoft.com/office/drawing/2014/main" id="{B5926E5F-3AC8-65AC-C486-76B806DC458A}"/>
              </a:ext>
            </a:extLst>
          </p:cNvPr>
          <p:cNvSpPr>
            <a:spLocks noGrp="1"/>
          </p:cNvSpPr>
          <p:nvPr>
            <p:ph type="body" sz="quarter" idx="16"/>
          </p:nvPr>
        </p:nvSpPr>
        <p:spPr/>
        <p:txBody>
          <a:bodyPr vert="horz" lIns="91440" tIns="45720" rIns="91440" bIns="45720" rtlCol="0" anchor="t">
            <a:noAutofit/>
          </a:bodyPr>
          <a:lstStyle/>
          <a:p>
            <a:r>
              <a:rPr lang="en-GB" sz="1600" b="1">
                <a:latin typeface="Cambria"/>
                <a:ea typeface="Cambria"/>
              </a:rPr>
              <a:t>BTC Underlying Data</a:t>
            </a:r>
          </a:p>
        </p:txBody>
      </p:sp>
      <p:sp>
        <p:nvSpPr>
          <p:cNvPr id="10" name="Text Placeholder 9">
            <a:extLst>
              <a:ext uri="{FF2B5EF4-FFF2-40B4-BE49-F238E27FC236}">
                <a16:creationId xmlns:a16="http://schemas.microsoft.com/office/drawing/2014/main" id="{AE06EE9F-DAB7-503C-E91F-04B26120926E}"/>
              </a:ext>
            </a:extLst>
          </p:cNvPr>
          <p:cNvSpPr>
            <a:spLocks noGrp="1"/>
          </p:cNvSpPr>
          <p:nvPr>
            <p:ph type="body" sz="quarter" idx="19"/>
          </p:nvPr>
        </p:nvSpPr>
        <p:spPr/>
        <p:txBody>
          <a:bodyPr vert="horz" lIns="91440" tIns="45720" rIns="91440" bIns="45720" rtlCol="0" anchor="t">
            <a:noAutofit/>
          </a:bodyPr>
          <a:lstStyle/>
          <a:p>
            <a:r>
              <a:rPr lang="en-GB" sz="1600" b="1">
                <a:latin typeface="Cambria"/>
                <a:ea typeface="Cambria"/>
              </a:rPr>
              <a:t>Options Data</a:t>
            </a:r>
          </a:p>
        </p:txBody>
      </p:sp>
      <p:sp>
        <p:nvSpPr>
          <p:cNvPr id="7" name="Slide Number Placeholder 6">
            <a:extLst>
              <a:ext uri="{FF2B5EF4-FFF2-40B4-BE49-F238E27FC236}">
                <a16:creationId xmlns:a16="http://schemas.microsoft.com/office/drawing/2014/main" id="{C19535D1-0045-13DF-D7FF-57BAB787F95D}"/>
              </a:ext>
            </a:extLst>
          </p:cNvPr>
          <p:cNvSpPr>
            <a:spLocks noGrp="1"/>
          </p:cNvSpPr>
          <p:nvPr>
            <p:ph type="sldNum" sz="quarter" idx="23"/>
          </p:nvPr>
        </p:nvSpPr>
        <p:spPr/>
        <p:txBody>
          <a:bodyPr/>
          <a:lstStyle/>
          <a:p>
            <a:fld id="{225705C9-C93A-4611-A575-E7A979D414CC}" type="slidenum">
              <a:rPr lang="en-GB" smtClean="0"/>
              <a:pPr/>
              <a:t>5</a:t>
            </a:fld>
            <a:endParaRPr lang="en-GB"/>
          </a:p>
        </p:txBody>
      </p:sp>
      <p:pic>
        <p:nvPicPr>
          <p:cNvPr id="5" name="Picture 4" descr="A graph showing the price of bitcoin&#10;&#10;AI-generated content may be incorrect.">
            <a:extLst>
              <a:ext uri="{FF2B5EF4-FFF2-40B4-BE49-F238E27FC236}">
                <a16:creationId xmlns:a16="http://schemas.microsoft.com/office/drawing/2014/main" id="{FA8541E3-AD8E-70C0-F42F-E5DFF9A00B16}"/>
              </a:ext>
            </a:extLst>
          </p:cNvPr>
          <p:cNvPicPr>
            <a:picLocks noChangeAspect="1"/>
          </p:cNvPicPr>
          <p:nvPr/>
        </p:nvPicPr>
        <p:blipFill>
          <a:blip r:embed="rId2"/>
          <a:stretch>
            <a:fillRect/>
          </a:stretch>
        </p:blipFill>
        <p:spPr>
          <a:xfrm>
            <a:off x="396397" y="2974482"/>
            <a:ext cx="5599127" cy="2299870"/>
          </a:xfrm>
          <a:prstGeom prst="rect">
            <a:avLst/>
          </a:prstGeom>
        </p:spPr>
      </p:pic>
    </p:spTree>
    <p:extLst>
      <p:ext uri="{BB962C8B-B14F-4D97-AF65-F5344CB8AC3E}">
        <p14:creationId xmlns:p14="http://schemas.microsoft.com/office/powerpoint/2010/main" val="2858355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AD4B5-E540-C207-93D6-81747DB33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97C716-6A10-4AB6-AF9E-592C0F8D058E}"/>
              </a:ext>
            </a:extLst>
          </p:cNvPr>
          <p:cNvSpPr>
            <a:spLocks noGrp="1"/>
          </p:cNvSpPr>
          <p:nvPr>
            <p:ph type="title"/>
          </p:nvPr>
        </p:nvSpPr>
        <p:spPr/>
        <p:txBody>
          <a:bodyPr/>
          <a:lstStyle/>
          <a:p>
            <a:r>
              <a:rPr lang="en-US">
                <a:latin typeface="Cambria"/>
                <a:ea typeface="Cambria"/>
              </a:rPr>
              <a:t>Model for RV</a:t>
            </a:r>
          </a:p>
        </p:txBody>
      </p:sp>
      <p:pic>
        <p:nvPicPr>
          <p:cNvPr id="13" name="Content Placeholder 12" descr="A black and white math equation&#10;&#10;AI-generated content may be incorrect.">
            <a:extLst>
              <a:ext uri="{FF2B5EF4-FFF2-40B4-BE49-F238E27FC236}">
                <a16:creationId xmlns:a16="http://schemas.microsoft.com/office/drawing/2014/main" id="{F9E8A175-6AA1-F888-DB4B-DFED0A25E9DF}"/>
              </a:ext>
            </a:extLst>
          </p:cNvPr>
          <p:cNvPicPr>
            <a:picLocks noGrp="1" noChangeAspect="1"/>
          </p:cNvPicPr>
          <p:nvPr>
            <p:ph idx="1"/>
          </p:nvPr>
        </p:nvPicPr>
        <p:blipFill>
          <a:blip r:embed="rId2"/>
          <a:srcRect t="-163" r="-615" b="3459"/>
          <a:stretch>
            <a:fillRect/>
          </a:stretch>
        </p:blipFill>
        <p:spPr>
          <a:xfrm>
            <a:off x="282370" y="2025162"/>
            <a:ext cx="4701398" cy="1210759"/>
          </a:xfrm>
          <a:prstGeom prst="rect">
            <a:avLst/>
          </a:prstGeom>
        </p:spPr>
      </p:pic>
      <p:pic>
        <p:nvPicPr>
          <p:cNvPr id="12" name="Content Placeholder 11">
            <a:extLst>
              <a:ext uri="{FF2B5EF4-FFF2-40B4-BE49-F238E27FC236}">
                <a16:creationId xmlns:a16="http://schemas.microsoft.com/office/drawing/2014/main" id="{6F6E3378-B718-4169-BA7F-2C8A2F7EF6A6}"/>
              </a:ext>
            </a:extLst>
          </p:cNvPr>
          <p:cNvPicPr>
            <a:picLocks noGrp="1" noChangeAspect="1"/>
          </p:cNvPicPr>
          <p:nvPr>
            <p:ph idx="14"/>
          </p:nvPr>
        </p:nvPicPr>
        <p:blipFill>
          <a:blip r:embed="rId3"/>
          <a:stretch>
            <a:fillRect/>
          </a:stretch>
        </p:blipFill>
        <p:spPr>
          <a:xfrm>
            <a:off x="6415628" y="2025944"/>
            <a:ext cx="4522416" cy="1089779"/>
          </a:xfrm>
          <a:prstGeom prst="rect">
            <a:avLst/>
          </a:prstGeom>
        </p:spPr>
      </p:pic>
      <p:sp>
        <p:nvSpPr>
          <p:cNvPr id="8" name="Text Placeholder 7">
            <a:extLst>
              <a:ext uri="{FF2B5EF4-FFF2-40B4-BE49-F238E27FC236}">
                <a16:creationId xmlns:a16="http://schemas.microsoft.com/office/drawing/2014/main" id="{907F31C9-6413-75DA-F0FC-6B88931E7D77}"/>
              </a:ext>
            </a:extLst>
          </p:cNvPr>
          <p:cNvSpPr>
            <a:spLocks noGrp="1"/>
          </p:cNvSpPr>
          <p:nvPr>
            <p:ph type="body" sz="quarter" idx="16"/>
          </p:nvPr>
        </p:nvSpPr>
        <p:spPr/>
        <p:txBody>
          <a:bodyPr vert="horz" lIns="91440" tIns="45720" rIns="91440" bIns="45720" rtlCol="0" anchor="t">
            <a:noAutofit/>
          </a:bodyPr>
          <a:lstStyle/>
          <a:p>
            <a:r>
              <a:rPr lang="en-US" sz="1600" b="1">
                <a:latin typeface="Cambria"/>
                <a:ea typeface="Cambria"/>
              </a:rPr>
              <a:t>Rolling RV</a:t>
            </a:r>
          </a:p>
        </p:txBody>
      </p:sp>
      <p:sp>
        <p:nvSpPr>
          <p:cNvPr id="5" name="Text Placeholder 4">
            <a:extLst>
              <a:ext uri="{FF2B5EF4-FFF2-40B4-BE49-F238E27FC236}">
                <a16:creationId xmlns:a16="http://schemas.microsoft.com/office/drawing/2014/main" id="{A7621079-9A9B-21FD-8A03-9351456274AD}"/>
              </a:ext>
            </a:extLst>
          </p:cNvPr>
          <p:cNvSpPr>
            <a:spLocks noGrp="1"/>
          </p:cNvSpPr>
          <p:nvPr>
            <p:ph type="body" sz="quarter" idx="19"/>
          </p:nvPr>
        </p:nvSpPr>
        <p:spPr/>
        <p:txBody>
          <a:bodyPr vert="horz" lIns="91440" tIns="45720" rIns="91440" bIns="45720" rtlCol="0" anchor="t">
            <a:noAutofit/>
          </a:bodyPr>
          <a:lstStyle/>
          <a:p>
            <a:r>
              <a:rPr lang="en-GB" sz="1600" b="1">
                <a:latin typeface="Cambria"/>
                <a:ea typeface="Cambria"/>
              </a:rPr>
              <a:t>DOW-adjusted RV  </a:t>
            </a:r>
          </a:p>
        </p:txBody>
      </p:sp>
      <p:sp>
        <p:nvSpPr>
          <p:cNvPr id="7" name="Slide Number Placeholder 6">
            <a:extLst>
              <a:ext uri="{FF2B5EF4-FFF2-40B4-BE49-F238E27FC236}">
                <a16:creationId xmlns:a16="http://schemas.microsoft.com/office/drawing/2014/main" id="{814E4A86-7CC9-7A95-54D4-914F88D3C2C0}"/>
              </a:ext>
            </a:extLst>
          </p:cNvPr>
          <p:cNvSpPr>
            <a:spLocks noGrp="1"/>
          </p:cNvSpPr>
          <p:nvPr>
            <p:ph type="sldNum" sz="quarter" idx="23"/>
          </p:nvPr>
        </p:nvSpPr>
        <p:spPr/>
        <p:txBody>
          <a:bodyPr/>
          <a:lstStyle/>
          <a:p>
            <a:fld id="{225705C9-C93A-4611-A575-E7A979D414CC}" type="slidenum">
              <a:rPr lang="en-GB" smtClean="0"/>
              <a:pPr/>
              <a:t>6</a:t>
            </a:fld>
            <a:endParaRPr lang="en-GB"/>
          </a:p>
        </p:txBody>
      </p:sp>
      <p:pic>
        <p:nvPicPr>
          <p:cNvPr id="15" name="Picture 14" descr="A white background with black text&#10;&#10;AI-generated content may be incorrect.">
            <a:extLst>
              <a:ext uri="{FF2B5EF4-FFF2-40B4-BE49-F238E27FC236}">
                <a16:creationId xmlns:a16="http://schemas.microsoft.com/office/drawing/2014/main" id="{33FD5103-CB7C-9721-8B96-6253160D236F}"/>
              </a:ext>
            </a:extLst>
          </p:cNvPr>
          <p:cNvPicPr>
            <a:picLocks noChangeAspect="1"/>
          </p:cNvPicPr>
          <p:nvPr/>
        </p:nvPicPr>
        <p:blipFill>
          <a:blip r:embed="rId4"/>
          <a:srcRect t="-193" r="6225"/>
          <a:stretch>
            <a:fillRect/>
          </a:stretch>
        </p:blipFill>
        <p:spPr>
          <a:xfrm>
            <a:off x="6416593" y="3430261"/>
            <a:ext cx="5671859" cy="1326029"/>
          </a:xfrm>
          <a:prstGeom prst="rect">
            <a:avLst/>
          </a:prstGeom>
        </p:spPr>
      </p:pic>
      <p:pic>
        <p:nvPicPr>
          <p:cNvPr id="16" name="Picture 15" descr="A math equations on a white background&#10;&#10;AI-generated content may be incorrect.">
            <a:extLst>
              <a:ext uri="{FF2B5EF4-FFF2-40B4-BE49-F238E27FC236}">
                <a16:creationId xmlns:a16="http://schemas.microsoft.com/office/drawing/2014/main" id="{BD96F6A3-4B01-E352-495C-15B4725794DA}"/>
              </a:ext>
            </a:extLst>
          </p:cNvPr>
          <p:cNvPicPr>
            <a:picLocks noChangeAspect="1"/>
          </p:cNvPicPr>
          <p:nvPr/>
        </p:nvPicPr>
        <p:blipFill>
          <a:blip r:embed="rId5"/>
          <a:srcRect t="1979" r="32031" b="481"/>
          <a:stretch>
            <a:fillRect/>
          </a:stretch>
        </p:blipFill>
        <p:spPr>
          <a:xfrm>
            <a:off x="280240" y="3425168"/>
            <a:ext cx="2416249" cy="929780"/>
          </a:xfrm>
          <a:prstGeom prst="rect">
            <a:avLst/>
          </a:prstGeom>
        </p:spPr>
      </p:pic>
      <p:pic>
        <p:nvPicPr>
          <p:cNvPr id="3" name="Picture 2" descr="A graph with blue squares&#10;&#10;AI-generated content may be incorrect.">
            <a:extLst>
              <a:ext uri="{FF2B5EF4-FFF2-40B4-BE49-F238E27FC236}">
                <a16:creationId xmlns:a16="http://schemas.microsoft.com/office/drawing/2014/main" id="{A13C8248-7A15-1A77-5C57-62BBCD4AB2C5}"/>
              </a:ext>
            </a:extLst>
          </p:cNvPr>
          <p:cNvPicPr>
            <a:picLocks noChangeAspect="1"/>
          </p:cNvPicPr>
          <p:nvPr/>
        </p:nvPicPr>
        <p:blipFill>
          <a:blip r:embed="rId6"/>
          <a:stretch>
            <a:fillRect/>
          </a:stretch>
        </p:blipFill>
        <p:spPr>
          <a:xfrm>
            <a:off x="2693771" y="3396587"/>
            <a:ext cx="3172009" cy="2802106"/>
          </a:xfrm>
          <a:prstGeom prst="rect">
            <a:avLst/>
          </a:prstGeom>
        </p:spPr>
      </p:pic>
    </p:spTree>
    <p:extLst>
      <p:ext uri="{BB962C8B-B14F-4D97-AF65-F5344CB8AC3E}">
        <p14:creationId xmlns:p14="http://schemas.microsoft.com/office/powerpoint/2010/main" val="3562550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BE676-5766-6CFB-932A-724CBB7AD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7053C-D898-63C2-4093-3A2CF65F4E84}"/>
              </a:ext>
            </a:extLst>
          </p:cNvPr>
          <p:cNvSpPr>
            <a:spLocks noGrp="1"/>
          </p:cNvSpPr>
          <p:nvPr>
            <p:ph type="title"/>
          </p:nvPr>
        </p:nvSpPr>
        <p:spPr/>
        <p:txBody>
          <a:bodyPr/>
          <a:lstStyle/>
          <a:p>
            <a:r>
              <a:rPr lang="en-US">
                <a:latin typeface="Cambria"/>
                <a:ea typeface="Cambria"/>
              </a:rPr>
              <a:t>VRP Results</a:t>
            </a:r>
          </a:p>
        </p:txBody>
      </p:sp>
      <p:pic>
        <p:nvPicPr>
          <p:cNvPr id="9" name="Content Placeholder 8" descr="A graph with blue rectangles&#10;&#10;AI-generated content may be incorrect.">
            <a:extLst>
              <a:ext uri="{FF2B5EF4-FFF2-40B4-BE49-F238E27FC236}">
                <a16:creationId xmlns:a16="http://schemas.microsoft.com/office/drawing/2014/main" id="{26B1A454-58AC-C089-A5F7-4D0064FAD439}"/>
              </a:ext>
            </a:extLst>
          </p:cNvPr>
          <p:cNvPicPr>
            <a:picLocks noGrp="1" noChangeAspect="1"/>
          </p:cNvPicPr>
          <p:nvPr>
            <p:ph idx="1"/>
          </p:nvPr>
        </p:nvPicPr>
        <p:blipFill>
          <a:blip r:embed="rId2"/>
          <a:stretch>
            <a:fillRect/>
          </a:stretch>
        </p:blipFill>
        <p:spPr>
          <a:xfrm>
            <a:off x="531358" y="1422179"/>
            <a:ext cx="4604147" cy="3971989"/>
          </a:xfrm>
          <a:prstGeom prst="rect">
            <a:avLst/>
          </a:prstGeom>
        </p:spPr>
      </p:pic>
      <p:sp>
        <p:nvSpPr>
          <p:cNvPr id="7" name="Slide Number Placeholder 6">
            <a:extLst>
              <a:ext uri="{FF2B5EF4-FFF2-40B4-BE49-F238E27FC236}">
                <a16:creationId xmlns:a16="http://schemas.microsoft.com/office/drawing/2014/main" id="{AEB82920-4981-F9A7-8E78-BB9DD4D9B8D7}"/>
              </a:ext>
            </a:extLst>
          </p:cNvPr>
          <p:cNvSpPr>
            <a:spLocks noGrp="1"/>
          </p:cNvSpPr>
          <p:nvPr>
            <p:ph type="sldNum" sz="quarter" idx="17"/>
          </p:nvPr>
        </p:nvSpPr>
        <p:spPr/>
        <p:txBody>
          <a:bodyPr/>
          <a:lstStyle/>
          <a:p>
            <a:fld id="{225705C9-C93A-4611-A575-E7A979D414CC}" type="slidenum">
              <a:rPr lang="en-GB" smtClean="0"/>
              <a:pPr/>
              <a:t>7</a:t>
            </a:fld>
            <a:endParaRPr lang="en-GB"/>
          </a:p>
        </p:txBody>
      </p:sp>
      <p:graphicFrame>
        <p:nvGraphicFramePr>
          <p:cNvPr id="3" name="Table 2">
            <a:extLst>
              <a:ext uri="{FF2B5EF4-FFF2-40B4-BE49-F238E27FC236}">
                <a16:creationId xmlns:a16="http://schemas.microsoft.com/office/drawing/2014/main" id="{EA5F7C74-86A2-CC0E-31EB-010B5FB607B3}"/>
              </a:ext>
            </a:extLst>
          </p:cNvPr>
          <p:cNvGraphicFramePr>
            <a:graphicFrameLocks noGrp="1"/>
          </p:cNvGraphicFramePr>
          <p:nvPr>
            <p:extLst>
              <p:ext uri="{D42A27DB-BD31-4B8C-83A1-F6EECF244321}">
                <p14:modId xmlns:p14="http://schemas.microsoft.com/office/powerpoint/2010/main" val="2233245483"/>
              </p:ext>
            </p:extLst>
          </p:nvPr>
        </p:nvGraphicFramePr>
        <p:xfrm>
          <a:off x="6089245" y="3577549"/>
          <a:ext cx="5274748" cy="2651760"/>
        </p:xfrm>
        <a:graphic>
          <a:graphicData uri="http://schemas.openxmlformats.org/drawingml/2006/table">
            <a:tbl>
              <a:tblPr firstRow="1" bandRow="1">
                <a:tableStyleId>{5C22544A-7EE6-4342-B048-85BDC9FD1C3A}</a:tableStyleId>
              </a:tblPr>
              <a:tblGrid>
                <a:gridCol w="1167485">
                  <a:extLst>
                    <a:ext uri="{9D8B030D-6E8A-4147-A177-3AD203B41FA5}">
                      <a16:colId xmlns:a16="http://schemas.microsoft.com/office/drawing/2014/main" val="2527307208"/>
                    </a:ext>
                  </a:extLst>
                </a:gridCol>
                <a:gridCol w="1190089">
                  <a:extLst>
                    <a:ext uri="{9D8B030D-6E8A-4147-A177-3AD203B41FA5}">
                      <a16:colId xmlns:a16="http://schemas.microsoft.com/office/drawing/2014/main" val="171445459"/>
                    </a:ext>
                  </a:extLst>
                </a:gridCol>
                <a:gridCol w="807274">
                  <a:extLst>
                    <a:ext uri="{9D8B030D-6E8A-4147-A177-3AD203B41FA5}">
                      <a16:colId xmlns:a16="http://schemas.microsoft.com/office/drawing/2014/main" val="2863244543"/>
                    </a:ext>
                  </a:extLst>
                </a:gridCol>
                <a:gridCol w="1054950">
                  <a:extLst>
                    <a:ext uri="{9D8B030D-6E8A-4147-A177-3AD203B41FA5}">
                      <a16:colId xmlns:a16="http://schemas.microsoft.com/office/drawing/2014/main" val="3082429821"/>
                    </a:ext>
                  </a:extLst>
                </a:gridCol>
                <a:gridCol w="1054950">
                  <a:extLst>
                    <a:ext uri="{9D8B030D-6E8A-4147-A177-3AD203B41FA5}">
                      <a16:colId xmlns:a16="http://schemas.microsoft.com/office/drawing/2014/main" val="2717839104"/>
                    </a:ext>
                  </a:extLst>
                </a:gridCol>
              </a:tblGrid>
              <a:tr h="347630">
                <a:tc>
                  <a:txBody>
                    <a:bodyPr/>
                    <a:lstStyle/>
                    <a:p>
                      <a:r>
                        <a:rPr lang="en-GB" sz="1400">
                          <a:latin typeface="Cambria"/>
                          <a:ea typeface="Cambria"/>
                        </a:rPr>
                        <a:t>Day of Week</a:t>
                      </a:r>
                    </a:p>
                  </a:txBody>
                  <a:tcPr/>
                </a:tc>
                <a:tc>
                  <a:txBody>
                    <a:bodyPr/>
                    <a:lstStyle/>
                    <a:p>
                      <a:r>
                        <a:rPr lang="en-GB" sz="1400">
                          <a:latin typeface="Cambria"/>
                          <a:ea typeface="Cambria"/>
                        </a:rPr>
                        <a:t>Mean VRP</a:t>
                      </a:r>
                    </a:p>
                  </a:txBody>
                  <a:tcPr/>
                </a:tc>
                <a:tc>
                  <a:txBody>
                    <a:bodyPr/>
                    <a:lstStyle/>
                    <a:p>
                      <a:r>
                        <a:rPr lang="en-GB" sz="1400">
                          <a:latin typeface="Cambria"/>
                          <a:ea typeface="Cambria"/>
                        </a:rPr>
                        <a:t>t</a:t>
                      </a:r>
                    </a:p>
                  </a:txBody>
                  <a:tcPr/>
                </a:tc>
                <a:tc>
                  <a:txBody>
                    <a:bodyPr/>
                    <a:lstStyle/>
                    <a:p>
                      <a:r>
                        <a:rPr lang="en-GB" sz="1400">
                          <a:latin typeface="Cambria"/>
                          <a:ea typeface="Cambria"/>
                        </a:rPr>
                        <a:t>p</a:t>
                      </a:r>
                    </a:p>
                  </a:txBody>
                  <a:tcPr/>
                </a:tc>
                <a:tc>
                  <a:txBody>
                    <a:bodyPr/>
                    <a:lstStyle/>
                    <a:p>
                      <a:r>
                        <a:rPr lang="en-GB" sz="1400">
                          <a:latin typeface="Cambria"/>
                          <a:ea typeface="Cambria"/>
                        </a:rPr>
                        <a:t>n</a:t>
                      </a:r>
                    </a:p>
                  </a:txBody>
                  <a:tcPr/>
                </a:tc>
                <a:extLst>
                  <a:ext uri="{0D108BD9-81ED-4DB2-BD59-A6C34878D82A}">
                    <a16:rowId xmlns:a16="http://schemas.microsoft.com/office/drawing/2014/main" val="19148511"/>
                  </a:ext>
                </a:extLst>
              </a:tr>
              <a:tr h="205158">
                <a:tc>
                  <a:txBody>
                    <a:bodyPr/>
                    <a:lstStyle/>
                    <a:p>
                      <a:r>
                        <a:rPr lang="en-GB" sz="1400">
                          <a:latin typeface="Cambria"/>
                          <a:ea typeface="Cambria"/>
                        </a:rPr>
                        <a:t>Monday</a:t>
                      </a:r>
                    </a:p>
                  </a:txBody>
                  <a:tcPr/>
                </a:tc>
                <a:tc>
                  <a:txBody>
                    <a:bodyPr/>
                    <a:lstStyle/>
                    <a:p>
                      <a:r>
                        <a:rPr lang="en-GB" sz="1400">
                          <a:latin typeface="Cambria"/>
                          <a:ea typeface="Cambria"/>
                        </a:rPr>
                        <a:t>-0.0249</a:t>
                      </a:r>
                    </a:p>
                  </a:txBody>
                  <a:tcPr/>
                </a:tc>
                <a:tc>
                  <a:txBody>
                    <a:bodyPr/>
                    <a:lstStyle/>
                    <a:p>
                      <a:r>
                        <a:rPr lang="en-GB" sz="1400">
                          <a:latin typeface="Cambria"/>
                          <a:ea typeface="Cambria"/>
                        </a:rPr>
                        <a:t>-1.67</a:t>
                      </a:r>
                    </a:p>
                  </a:txBody>
                  <a:tcPr/>
                </a:tc>
                <a:tc>
                  <a:txBody>
                    <a:bodyPr/>
                    <a:lstStyle/>
                    <a:p>
                      <a:r>
                        <a:rPr lang="en-GB" sz="1400">
                          <a:latin typeface="Cambria"/>
                          <a:ea typeface="Cambria"/>
                        </a:rPr>
                        <a:t>0.096</a:t>
                      </a:r>
                    </a:p>
                  </a:txBody>
                  <a:tcPr/>
                </a:tc>
                <a:tc>
                  <a:txBody>
                    <a:bodyPr/>
                    <a:lstStyle/>
                    <a:p>
                      <a:r>
                        <a:rPr lang="en-GB" sz="1400">
                          <a:latin typeface="Cambria"/>
                          <a:ea typeface="Cambria"/>
                        </a:rPr>
                        <a:t>158</a:t>
                      </a:r>
                    </a:p>
                  </a:txBody>
                  <a:tcPr/>
                </a:tc>
                <a:extLst>
                  <a:ext uri="{0D108BD9-81ED-4DB2-BD59-A6C34878D82A}">
                    <a16:rowId xmlns:a16="http://schemas.microsoft.com/office/drawing/2014/main" val="1307770677"/>
                  </a:ext>
                </a:extLst>
              </a:tr>
              <a:tr h="205158">
                <a:tc>
                  <a:txBody>
                    <a:bodyPr/>
                    <a:lstStyle/>
                    <a:p>
                      <a:r>
                        <a:rPr lang="en-GB" sz="1400">
                          <a:latin typeface="Cambria"/>
                          <a:ea typeface="Cambria"/>
                        </a:rPr>
                        <a:t>Tuesday</a:t>
                      </a:r>
                    </a:p>
                  </a:txBody>
                  <a:tcPr/>
                </a:tc>
                <a:tc>
                  <a:txBody>
                    <a:bodyPr/>
                    <a:lstStyle/>
                    <a:p>
                      <a:r>
                        <a:rPr lang="en-GB" sz="1400">
                          <a:latin typeface="Cambria"/>
                          <a:ea typeface="Cambria"/>
                        </a:rPr>
                        <a:t>-0.0117</a:t>
                      </a:r>
                    </a:p>
                  </a:txBody>
                  <a:tcPr/>
                </a:tc>
                <a:tc>
                  <a:txBody>
                    <a:bodyPr/>
                    <a:lstStyle/>
                    <a:p>
                      <a:r>
                        <a:rPr lang="en-GB" sz="1400">
                          <a:latin typeface="Cambria"/>
                          <a:ea typeface="Cambria"/>
                        </a:rPr>
                        <a:t>-0.84</a:t>
                      </a:r>
                    </a:p>
                  </a:txBody>
                  <a:tcPr/>
                </a:tc>
                <a:tc>
                  <a:txBody>
                    <a:bodyPr/>
                    <a:lstStyle/>
                    <a:p>
                      <a:r>
                        <a:rPr lang="en-GB" sz="1400">
                          <a:latin typeface="Cambria"/>
                          <a:ea typeface="Cambria"/>
                        </a:rPr>
                        <a:t>0.401</a:t>
                      </a:r>
                    </a:p>
                  </a:txBody>
                  <a:tcPr/>
                </a:tc>
                <a:tc>
                  <a:txBody>
                    <a:bodyPr/>
                    <a:lstStyle/>
                    <a:p>
                      <a:r>
                        <a:rPr lang="en-GB" sz="1400">
                          <a:latin typeface="Cambria"/>
                          <a:ea typeface="Cambria"/>
                        </a:rPr>
                        <a:t>157</a:t>
                      </a:r>
                    </a:p>
                  </a:txBody>
                  <a:tcPr/>
                </a:tc>
                <a:extLst>
                  <a:ext uri="{0D108BD9-81ED-4DB2-BD59-A6C34878D82A}">
                    <a16:rowId xmlns:a16="http://schemas.microsoft.com/office/drawing/2014/main" val="484950840"/>
                  </a:ext>
                </a:extLst>
              </a:tr>
              <a:tr h="205158">
                <a:tc>
                  <a:txBody>
                    <a:bodyPr/>
                    <a:lstStyle/>
                    <a:p>
                      <a:r>
                        <a:rPr lang="en-GB" sz="1400">
                          <a:latin typeface="Cambria"/>
                          <a:ea typeface="Cambria"/>
                        </a:rPr>
                        <a:t>Wednesday</a:t>
                      </a:r>
                    </a:p>
                  </a:txBody>
                  <a:tcPr/>
                </a:tc>
                <a:tc>
                  <a:txBody>
                    <a:bodyPr/>
                    <a:lstStyle/>
                    <a:p>
                      <a:r>
                        <a:rPr lang="en-GB" sz="1400">
                          <a:latin typeface="Cambria"/>
                          <a:ea typeface="Cambria"/>
                        </a:rPr>
                        <a:t>0.0012</a:t>
                      </a:r>
                    </a:p>
                  </a:txBody>
                  <a:tcPr/>
                </a:tc>
                <a:tc>
                  <a:txBody>
                    <a:bodyPr/>
                    <a:lstStyle/>
                    <a:p>
                      <a:r>
                        <a:rPr lang="en-GB" sz="1400">
                          <a:latin typeface="Cambria"/>
                          <a:ea typeface="Cambria"/>
                        </a:rPr>
                        <a:t>0.08</a:t>
                      </a:r>
                    </a:p>
                  </a:txBody>
                  <a:tcPr/>
                </a:tc>
                <a:tc>
                  <a:txBody>
                    <a:bodyPr/>
                    <a:lstStyle/>
                    <a:p>
                      <a:r>
                        <a:rPr lang="en-GB" sz="1400">
                          <a:latin typeface="Cambria"/>
                          <a:ea typeface="Cambria"/>
                        </a:rPr>
                        <a:t>0.939</a:t>
                      </a:r>
                    </a:p>
                  </a:txBody>
                  <a:tcPr/>
                </a:tc>
                <a:tc>
                  <a:txBody>
                    <a:bodyPr/>
                    <a:lstStyle/>
                    <a:p>
                      <a:r>
                        <a:rPr lang="en-GB" sz="1400">
                          <a:latin typeface="Cambria"/>
                          <a:ea typeface="Cambria"/>
                        </a:rPr>
                        <a:t>158</a:t>
                      </a:r>
                    </a:p>
                  </a:txBody>
                  <a:tcPr/>
                </a:tc>
                <a:extLst>
                  <a:ext uri="{0D108BD9-81ED-4DB2-BD59-A6C34878D82A}">
                    <a16:rowId xmlns:a16="http://schemas.microsoft.com/office/drawing/2014/main" val="3405999060"/>
                  </a:ext>
                </a:extLst>
              </a:tr>
              <a:tr h="205158">
                <a:tc>
                  <a:txBody>
                    <a:bodyPr/>
                    <a:lstStyle/>
                    <a:p>
                      <a:r>
                        <a:rPr lang="en-GB" sz="1400">
                          <a:latin typeface="Cambria"/>
                          <a:ea typeface="Cambria"/>
                        </a:rPr>
                        <a:t>Thursday</a:t>
                      </a:r>
                    </a:p>
                  </a:txBody>
                  <a:tcPr/>
                </a:tc>
                <a:tc>
                  <a:txBody>
                    <a:bodyPr/>
                    <a:lstStyle/>
                    <a:p>
                      <a:r>
                        <a:rPr lang="en-GB" sz="1400">
                          <a:latin typeface="Cambria"/>
                          <a:ea typeface="Cambria"/>
                        </a:rPr>
                        <a:t>-0.0205</a:t>
                      </a:r>
                    </a:p>
                  </a:txBody>
                  <a:tcPr/>
                </a:tc>
                <a:tc>
                  <a:txBody>
                    <a:bodyPr/>
                    <a:lstStyle/>
                    <a:p>
                      <a:r>
                        <a:rPr lang="en-GB" sz="1400">
                          <a:latin typeface="Cambria"/>
                          <a:ea typeface="Cambria"/>
                        </a:rPr>
                        <a:t>-1.32</a:t>
                      </a:r>
                    </a:p>
                  </a:txBody>
                  <a:tcPr/>
                </a:tc>
                <a:tc>
                  <a:txBody>
                    <a:bodyPr/>
                    <a:lstStyle/>
                    <a:p>
                      <a:r>
                        <a:rPr lang="en-GB" sz="1400">
                          <a:latin typeface="Cambria"/>
                          <a:ea typeface="Cambria"/>
                        </a:rPr>
                        <a:t>0.189</a:t>
                      </a:r>
                    </a:p>
                  </a:txBody>
                  <a:tcPr/>
                </a:tc>
                <a:tc>
                  <a:txBody>
                    <a:bodyPr/>
                    <a:lstStyle/>
                    <a:p>
                      <a:r>
                        <a:rPr lang="en-GB" sz="1400">
                          <a:latin typeface="Cambria"/>
                          <a:ea typeface="Cambria"/>
                        </a:rPr>
                        <a:t>158</a:t>
                      </a:r>
                    </a:p>
                  </a:txBody>
                  <a:tcPr/>
                </a:tc>
                <a:extLst>
                  <a:ext uri="{0D108BD9-81ED-4DB2-BD59-A6C34878D82A}">
                    <a16:rowId xmlns:a16="http://schemas.microsoft.com/office/drawing/2014/main" val="2047156798"/>
                  </a:ext>
                </a:extLst>
              </a:tr>
              <a:tr h="205158">
                <a:tc>
                  <a:txBody>
                    <a:bodyPr/>
                    <a:lstStyle/>
                    <a:p>
                      <a:r>
                        <a:rPr lang="en-GB" sz="1400">
                          <a:latin typeface="Cambria"/>
                          <a:ea typeface="Cambria"/>
                        </a:rPr>
                        <a:t>Friday</a:t>
                      </a:r>
                    </a:p>
                  </a:txBody>
                  <a:tcPr/>
                </a:tc>
                <a:tc>
                  <a:txBody>
                    <a:bodyPr/>
                    <a:lstStyle/>
                    <a:p>
                      <a:r>
                        <a:rPr lang="en-GB" sz="1400">
                          <a:latin typeface="Cambria"/>
                          <a:ea typeface="Cambria"/>
                        </a:rPr>
                        <a:t>0.0329</a:t>
                      </a:r>
                    </a:p>
                  </a:txBody>
                  <a:tcPr/>
                </a:tc>
                <a:tc>
                  <a:txBody>
                    <a:bodyPr/>
                    <a:lstStyle/>
                    <a:p>
                      <a:r>
                        <a:rPr lang="en-GB" sz="1400">
                          <a:latin typeface="Cambria"/>
                          <a:ea typeface="Cambria"/>
                        </a:rPr>
                        <a:t>2.68</a:t>
                      </a:r>
                    </a:p>
                  </a:txBody>
                  <a:tcPr/>
                </a:tc>
                <a:tc>
                  <a:txBody>
                    <a:bodyPr/>
                    <a:lstStyle/>
                    <a:p>
                      <a:r>
                        <a:rPr lang="en-GB" sz="1400">
                          <a:latin typeface="Cambria"/>
                          <a:ea typeface="Cambria"/>
                        </a:rPr>
                        <a:t>0.008</a:t>
                      </a:r>
                    </a:p>
                  </a:txBody>
                  <a:tcPr/>
                </a:tc>
                <a:tc>
                  <a:txBody>
                    <a:bodyPr/>
                    <a:lstStyle/>
                    <a:p>
                      <a:r>
                        <a:rPr lang="en-GB" sz="1400">
                          <a:latin typeface="Cambria"/>
                          <a:ea typeface="Cambria"/>
                        </a:rPr>
                        <a:t>157</a:t>
                      </a:r>
                    </a:p>
                  </a:txBody>
                  <a:tcPr/>
                </a:tc>
                <a:extLst>
                  <a:ext uri="{0D108BD9-81ED-4DB2-BD59-A6C34878D82A}">
                    <a16:rowId xmlns:a16="http://schemas.microsoft.com/office/drawing/2014/main" val="4017087077"/>
                  </a:ext>
                </a:extLst>
              </a:tr>
              <a:tr h="245051">
                <a:tc>
                  <a:txBody>
                    <a:bodyPr/>
                    <a:lstStyle/>
                    <a:p>
                      <a:r>
                        <a:rPr lang="en-GB" sz="1400">
                          <a:latin typeface="Cambria"/>
                          <a:ea typeface="Cambria"/>
                        </a:rPr>
                        <a:t>Saturday</a:t>
                      </a:r>
                    </a:p>
                  </a:txBody>
                  <a:tcPr/>
                </a:tc>
                <a:tc>
                  <a:txBody>
                    <a:bodyPr/>
                    <a:lstStyle/>
                    <a:p>
                      <a:r>
                        <a:rPr lang="en-GB" sz="1400">
                          <a:latin typeface="Cambria"/>
                          <a:ea typeface="Cambria"/>
                        </a:rPr>
                        <a:t>0.0048</a:t>
                      </a:r>
                    </a:p>
                  </a:txBody>
                  <a:tcPr/>
                </a:tc>
                <a:tc>
                  <a:txBody>
                    <a:bodyPr/>
                    <a:lstStyle/>
                    <a:p>
                      <a:r>
                        <a:rPr lang="en-GB" sz="1400">
                          <a:latin typeface="Cambria"/>
                          <a:ea typeface="Cambria"/>
                        </a:rPr>
                        <a:t>0.61</a:t>
                      </a:r>
                    </a:p>
                  </a:txBody>
                  <a:tcPr/>
                </a:tc>
                <a:tc>
                  <a:txBody>
                    <a:bodyPr/>
                    <a:lstStyle/>
                    <a:p>
                      <a:r>
                        <a:rPr lang="en-GB" sz="1400">
                          <a:latin typeface="Cambria"/>
                          <a:ea typeface="Cambria"/>
                        </a:rPr>
                        <a:t>0.541</a:t>
                      </a:r>
                    </a:p>
                  </a:txBody>
                  <a:tcPr/>
                </a:tc>
                <a:tc>
                  <a:txBody>
                    <a:bodyPr/>
                    <a:lstStyle/>
                    <a:p>
                      <a:r>
                        <a:rPr lang="en-GB" sz="1400">
                          <a:latin typeface="Cambria"/>
                          <a:ea typeface="Cambria"/>
                        </a:rPr>
                        <a:t>156</a:t>
                      </a:r>
                    </a:p>
                  </a:txBody>
                  <a:tcPr/>
                </a:tc>
                <a:extLst>
                  <a:ext uri="{0D108BD9-81ED-4DB2-BD59-A6C34878D82A}">
                    <a16:rowId xmlns:a16="http://schemas.microsoft.com/office/drawing/2014/main" val="1980422848"/>
                  </a:ext>
                </a:extLst>
              </a:tr>
              <a:tr h="205158">
                <a:tc>
                  <a:txBody>
                    <a:bodyPr/>
                    <a:lstStyle/>
                    <a:p>
                      <a:r>
                        <a:rPr lang="en-GB" sz="1400">
                          <a:latin typeface="Cambria"/>
                          <a:ea typeface="Cambria"/>
                        </a:rPr>
                        <a:t>Sunday</a:t>
                      </a:r>
                    </a:p>
                  </a:txBody>
                  <a:tcPr/>
                </a:tc>
                <a:tc>
                  <a:txBody>
                    <a:bodyPr/>
                    <a:lstStyle/>
                    <a:p>
                      <a:r>
                        <a:rPr lang="en-GB" sz="1400">
                          <a:latin typeface="Cambria"/>
                          <a:ea typeface="Cambria"/>
                        </a:rPr>
                        <a:t>-0.0529</a:t>
                      </a:r>
                    </a:p>
                  </a:txBody>
                  <a:tcPr/>
                </a:tc>
                <a:tc>
                  <a:txBody>
                    <a:bodyPr/>
                    <a:lstStyle/>
                    <a:p>
                      <a:r>
                        <a:rPr lang="en-GB" sz="1400">
                          <a:latin typeface="Cambria"/>
                          <a:ea typeface="Cambria"/>
                        </a:rPr>
                        <a:t>-3.73</a:t>
                      </a:r>
                    </a:p>
                  </a:txBody>
                  <a:tcPr/>
                </a:tc>
                <a:tc>
                  <a:txBody>
                    <a:bodyPr/>
                    <a:lstStyle/>
                    <a:p>
                      <a:r>
                        <a:rPr lang="en-GB" sz="1400">
                          <a:latin typeface="Cambria"/>
                          <a:ea typeface="Cambria"/>
                        </a:rPr>
                        <a:t>0.000</a:t>
                      </a:r>
                    </a:p>
                  </a:txBody>
                  <a:tcPr/>
                </a:tc>
                <a:tc>
                  <a:txBody>
                    <a:bodyPr/>
                    <a:lstStyle/>
                    <a:p>
                      <a:r>
                        <a:rPr lang="en-GB" sz="1400">
                          <a:latin typeface="Cambria"/>
                          <a:ea typeface="Cambria"/>
                        </a:rPr>
                        <a:t>157</a:t>
                      </a:r>
                    </a:p>
                  </a:txBody>
                  <a:tcPr/>
                </a:tc>
                <a:extLst>
                  <a:ext uri="{0D108BD9-81ED-4DB2-BD59-A6C34878D82A}">
                    <a16:rowId xmlns:a16="http://schemas.microsoft.com/office/drawing/2014/main" val="3076182684"/>
                  </a:ext>
                </a:extLst>
              </a:tr>
            </a:tbl>
          </a:graphicData>
        </a:graphic>
      </p:graphicFrame>
      <p:pic>
        <p:nvPicPr>
          <p:cNvPr id="4" name="Picture 3" descr="A diagram of a graph&#10;&#10;AI-generated content may be incorrect.">
            <a:extLst>
              <a:ext uri="{FF2B5EF4-FFF2-40B4-BE49-F238E27FC236}">
                <a16:creationId xmlns:a16="http://schemas.microsoft.com/office/drawing/2014/main" id="{1E75ABC8-3152-197A-E470-47B5BC20C190}"/>
              </a:ext>
            </a:extLst>
          </p:cNvPr>
          <p:cNvPicPr>
            <a:picLocks noChangeAspect="1"/>
          </p:cNvPicPr>
          <p:nvPr/>
        </p:nvPicPr>
        <p:blipFill>
          <a:blip r:embed="rId3"/>
          <a:stretch>
            <a:fillRect/>
          </a:stretch>
        </p:blipFill>
        <p:spPr>
          <a:xfrm>
            <a:off x="6107097" y="1109709"/>
            <a:ext cx="2322991" cy="2315592"/>
          </a:xfrm>
          <a:prstGeom prst="rect">
            <a:avLst/>
          </a:prstGeom>
        </p:spPr>
      </p:pic>
    </p:spTree>
    <p:extLst>
      <p:ext uri="{BB962C8B-B14F-4D97-AF65-F5344CB8AC3E}">
        <p14:creationId xmlns:p14="http://schemas.microsoft.com/office/powerpoint/2010/main" val="2860054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0DD48-0EFE-16F3-C70E-1489DA3DFF2C}"/>
              </a:ext>
            </a:extLst>
          </p:cNvPr>
          <p:cNvSpPr>
            <a:spLocks noGrp="1"/>
          </p:cNvSpPr>
          <p:nvPr>
            <p:ph type="title"/>
          </p:nvPr>
        </p:nvSpPr>
        <p:spPr/>
        <p:txBody>
          <a:bodyPr/>
          <a:lstStyle/>
          <a:p>
            <a:r>
              <a:rPr lang="en-GB">
                <a:latin typeface="Cambria"/>
                <a:ea typeface="Cambria"/>
              </a:rPr>
              <a:t>Trading Strategy</a:t>
            </a:r>
            <a:endParaRPr lang="en-US">
              <a:latin typeface="Cambria"/>
              <a:ea typeface="Cambria"/>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4679EB3-530E-86AC-92E9-2EAD586FE463}"/>
                  </a:ext>
                </a:extLst>
              </p:cNvPr>
              <p:cNvSpPr>
                <a:spLocks noGrp="1"/>
              </p:cNvSpPr>
              <p:nvPr>
                <p:ph idx="1"/>
              </p:nvPr>
            </p:nvSpPr>
            <p:spPr/>
            <p:txBody>
              <a:bodyPr vert="horz" lIns="91440" tIns="45720" rIns="91440" bIns="45720" rtlCol="0" anchor="t">
                <a:normAutofit/>
              </a:bodyPr>
              <a:lstStyle/>
              <a:p>
                <a:pPr marL="171450" indent="-171450">
                  <a:buFont typeface="Calibri" panose="020B0604020202020204" pitchFamily="34" charset="0"/>
                  <a:buChar char="-"/>
                </a:pPr>
                <a:r>
                  <a:rPr lang="en-US" sz="1400">
                    <a:latin typeface="Cambria" panose="02040503050406030204" pitchFamily="18" charset="0"/>
                  </a:rPr>
                  <a:t>We make an estimate of VRP, </a:t>
                </a:r>
                <a14:m>
                  <m:oMath xmlns:m="http://schemas.openxmlformats.org/officeDocument/2006/math">
                    <m:acc>
                      <m:accPr>
                        <m:chr m:val="̂"/>
                        <m:ctrlPr>
                          <a:rPr lang="en-US" sz="1400" i="1">
                            <a:latin typeface="Cambria Math" panose="02040503050406030204" pitchFamily="18" charset="0"/>
                          </a:rPr>
                        </m:ctrlPr>
                      </m:accPr>
                      <m:e>
                        <m:r>
                          <a:rPr lang="en-US" sz="1400" i="1">
                            <a:latin typeface="Cambria Math" panose="02040503050406030204" pitchFamily="18" charset="0"/>
                          </a:rPr>
                          <m:t>𝑉𝑅𝑃</m:t>
                        </m:r>
                      </m:e>
                    </m:acc>
                  </m:oMath>
                </a14:m>
                <a:r>
                  <a:rPr lang="en-US" sz="1400">
                    <a:latin typeface="Cambria" panose="02040503050406030204" pitchFamily="18" charset="0"/>
                  </a:rPr>
                  <a:t>, as</a:t>
                </a:r>
              </a:p>
              <a:p>
                <a:pPr marL="172800" indent="-172800"/>
                <a:r>
                  <a:rPr lang="en-US" sz="1400">
                    <a:latin typeface="Cambria" panose="02040503050406030204" pitchFamily="18" charset="0"/>
                  </a:rPr>
                  <a:t>	</a:t>
                </a:r>
              </a:p>
              <a:p>
                <a:pPr marL="172800" indent="-172800"/>
                <a:r>
                  <a:rPr lang="en-US" sz="1400">
                    <a:latin typeface="Cambria" panose="02040503050406030204" pitchFamily="18" charset="0"/>
                  </a:rPr>
                  <a:t>	where</a:t>
                </a:r>
              </a:p>
              <a:p>
                <a:pPr marL="172800" indent="-172800"/>
                <a:endParaRPr lang="en-US" sz="1400">
                  <a:latin typeface="Cambria" panose="02040503050406030204" pitchFamily="18" charset="0"/>
                </a:endParaRPr>
              </a:p>
              <a:p>
                <a:pPr marL="172800" indent="-172800"/>
                <a:r>
                  <a:rPr lang="en-US" sz="1400">
                    <a:latin typeface="Cambria" panose="02040503050406030204" pitchFamily="18" charset="0"/>
                  </a:rPr>
                  <a:t>	and </a:t>
                </a:r>
              </a:p>
              <a:p>
                <a:pPr marL="172800" indent="-172800"/>
                <a:endParaRPr lang="en-US" sz="1400">
                  <a:latin typeface="Cambria" panose="02040503050406030204" pitchFamily="18" charset="0"/>
                </a:endParaRPr>
              </a:p>
              <a:p>
                <a:pPr marL="172800" indent="-172800"/>
                <a:endParaRPr lang="en-US" sz="1400">
                  <a:latin typeface="Cambria" panose="02040503050406030204" pitchFamily="18" charset="0"/>
                </a:endParaRPr>
              </a:p>
              <a:p>
                <a:pPr marL="171450" indent="-171450" algn="just">
                  <a:buFont typeface="Calibri" panose="020B0604020202020204" pitchFamily="34" charset="0"/>
                  <a:buChar char="-"/>
                </a:pPr>
                <a:r>
                  <a:rPr lang="en-US" sz="1400">
                    <a:latin typeface="Cambria" panose="02040503050406030204" pitchFamily="18" charset="0"/>
                  </a:rPr>
                  <a:t>We then calculate a VRP z-score using the 30-day rolling mean and standard deviation</a:t>
                </a:r>
              </a:p>
              <a:p>
                <a:pPr marL="171450" indent="-171450" algn="just">
                  <a:buFont typeface="Calibri" panose="020B0604020202020204" pitchFamily="34" charset="0"/>
                  <a:buChar char="-"/>
                </a:pPr>
                <a:endParaRPr lang="en-US" sz="1400">
                  <a:latin typeface="Cambria" panose="02040503050406030204" pitchFamily="18" charset="0"/>
                </a:endParaRPr>
              </a:p>
              <a:p>
                <a:pPr marL="171450" indent="-171450" algn="just">
                  <a:buFont typeface="Calibri" panose="020B0604020202020204" pitchFamily="34" charset="0"/>
                  <a:buChar char="-"/>
                </a:pPr>
                <a:endParaRPr lang="en-US" sz="1400">
                  <a:latin typeface="Cambria" panose="02040503050406030204" pitchFamily="18" charset="0"/>
                </a:endParaRPr>
              </a:p>
              <a:p>
                <a:pPr algn="just"/>
                <a:endParaRPr lang="en-US" sz="1400">
                  <a:latin typeface="Cambria" panose="02040503050406030204" pitchFamily="18" charset="0"/>
                </a:endParaRPr>
              </a:p>
              <a:p>
                <a:pPr marL="172800" indent="-172800" algn="just"/>
                <a:r>
                  <a:rPr lang="en-US" sz="1400">
                    <a:latin typeface="Cambria" panose="02040503050406030204" pitchFamily="18" charset="0"/>
                  </a:rPr>
                  <a:t>	</a:t>
                </a:r>
              </a:p>
              <a:p>
                <a:pPr algn="just"/>
                <a:endParaRPr lang="en-US" sz="1400">
                  <a:latin typeface="Cambria" panose="02040503050406030204" pitchFamily="18" charset="0"/>
                </a:endParaRPr>
              </a:p>
              <a:p>
                <a:pPr algn="just"/>
                <a:endParaRPr lang="en-US" sz="1400">
                  <a:latin typeface="Cambria" panose="02040503050406030204" pitchFamily="18" charset="0"/>
                </a:endParaRPr>
              </a:p>
            </p:txBody>
          </p:sp>
        </mc:Choice>
        <mc:Fallback xmlns="">
          <p:sp>
            <p:nvSpPr>
              <p:cNvPr id="3" name="Content Placeholder 2">
                <a:extLst>
                  <a:ext uri="{FF2B5EF4-FFF2-40B4-BE49-F238E27FC236}">
                    <a16:creationId xmlns:a16="http://schemas.microsoft.com/office/drawing/2014/main" id="{A4679EB3-530E-86AC-92E9-2EAD586FE463}"/>
                  </a:ext>
                </a:extLst>
              </p:cNvPr>
              <p:cNvSpPr>
                <a:spLocks noGrp="1" noRot="1" noChangeAspect="1" noMove="1" noResize="1" noEditPoints="1" noAdjustHandles="1" noChangeArrowheads="1" noChangeShapeType="1" noTextEdit="1"/>
              </p:cNvSpPr>
              <p:nvPr>
                <p:ph idx="1"/>
              </p:nvPr>
            </p:nvSpPr>
            <p:spPr>
              <a:blipFill>
                <a:blip r:embed="rId2"/>
                <a:stretch>
                  <a:fillRect l="-236" t="-877" r="-236"/>
                </a:stretch>
              </a:blipFill>
            </p:spPr>
            <p:txBody>
              <a:bodyPr/>
              <a:lstStyle/>
              <a:p>
                <a:r>
                  <a:rPr lang="en-US">
                    <a:noFill/>
                  </a:rPr>
                  <a:t> </a:t>
                </a:r>
              </a:p>
            </p:txBody>
          </p:sp>
        </mc:Fallback>
      </mc:AlternateContent>
      <p:sp>
        <p:nvSpPr>
          <p:cNvPr id="5" name="Text Placeholder 4">
            <a:extLst>
              <a:ext uri="{FF2B5EF4-FFF2-40B4-BE49-F238E27FC236}">
                <a16:creationId xmlns:a16="http://schemas.microsoft.com/office/drawing/2014/main" id="{ABD987DB-B89E-E799-98A5-2A54AC570B21}"/>
              </a:ext>
            </a:extLst>
          </p:cNvPr>
          <p:cNvSpPr>
            <a:spLocks noGrp="1"/>
          </p:cNvSpPr>
          <p:nvPr>
            <p:ph type="body" sz="quarter" idx="16"/>
          </p:nvPr>
        </p:nvSpPr>
        <p:spPr/>
        <p:txBody>
          <a:bodyPr vert="horz" lIns="91440" tIns="45720" rIns="91440" bIns="45720" rtlCol="0" anchor="t">
            <a:noAutofit/>
          </a:bodyPr>
          <a:lstStyle/>
          <a:p>
            <a:r>
              <a:rPr lang="en-GB" b="1">
                <a:latin typeface="Cambria"/>
                <a:ea typeface="Cambria"/>
              </a:rPr>
              <a:t>Signal Generation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F33E9A5-7850-2597-04EB-D6A952908579}"/>
                  </a:ext>
                </a:extLst>
              </p:cNvPr>
              <p:cNvSpPr>
                <a:spLocks noGrp="1"/>
              </p:cNvSpPr>
              <p:nvPr>
                <p:ph idx="14"/>
              </p:nvPr>
            </p:nvSpPr>
            <p:spPr/>
            <p:txBody>
              <a:bodyPr>
                <a:normAutofit/>
              </a:bodyPr>
              <a:lstStyle/>
              <a:p>
                <a:r>
                  <a:rPr lang="en-GB" sz="1400">
                    <a:latin typeface="Cambria" panose="02040503050406030204" pitchFamily="18" charset="0"/>
                  </a:rPr>
                  <a:t>We conduct a short iron butterfly trade when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𝑧</m:t>
                        </m:r>
                      </m:e>
                      <m:sub>
                        <m:r>
                          <a:rPr lang="en-US" sz="1400" i="1">
                            <a:latin typeface="Cambria Math" panose="02040503050406030204" pitchFamily="18" charset="0"/>
                          </a:rPr>
                          <m:t>𝑉𝑅𝑃</m:t>
                        </m:r>
                      </m:sub>
                    </m:sSub>
                    <m:r>
                      <a:rPr lang="en-US" sz="1400" b="0" i="1" smtClean="0">
                        <a:latin typeface="Cambria Math" panose="02040503050406030204" pitchFamily="18" charset="0"/>
                      </a:rPr>
                      <m:t>&gt;1</m:t>
                    </m:r>
                  </m:oMath>
                </a14:m>
                <a:r>
                  <a:rPr lang="en-GB" sz="1400">
                    <a:latin typeface="Cambria" panose="02040503050406030204" pitchFamily="18" charset="0"/>
                  </a:rPr>
                  <a:t> and a long straddle trade when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𝑧</m:t>
                        </m:r>
                      </m:e>
                      <m:sub>
                        <m:r>
                          <a:rPr lang="en-US" sz="1400" i="1">
                            <a:latin typeface="Cambria Math" panose="02040503050406030204" pitchFamily="18" charset="0"/>
                          </a:rPr>
                          <m:t>𝑉𝑅𝑃</m:t>
                        </m:r>
                      </m:sub>
                    </m:sSub>
                    <m:r>
                      <a:rPr lang="en-US" sz="1400" b="0" i="1" smtClean="0">
                        <a:latin typeface="Cambria Math" panose="02040503050406030204" pitchFamily="18" charset="0"/>
                      </a:rPr>
                      <m:t>&lt;−1</m:t>
                    </m:r>
                  </m:oMath>
                </a14:m>
                <a:r>
                  <a:rPr lang="en-GB" sz="1400">
                    <a:latin typeface="Cambria" panose="02040503050406030204" pitchFamily="18" charset="0"/>
                  </a:rPr>
                  <a:t>.</a:t>
                </a:r>
              </a:p>
              <a:p>
                <a:r>
                  <a:rPr lang="en-GB" sz="1400">
                    <a:latin typeface="Cambria" panose="02040503050406030204" pitchFamily="18" charset="0"/>
                  </a:rPr>
                  <a:t> </a:t>
                </a:r>
              </a:p>
            </p:txBody>
          </p:sp>
        </mc:Choice>
        <mc:Fallback xmlns="">
          <p:sp>
            <p:nvSpPr>
              <p:cNvPr id="4" name="Content Placeholder 3">
                <a:extLst>
                  <a:ext uri="{FF2B5EF4-FFF2-40B4-BE49-F238E27FC236}">
                    <a16:creationId xmlns:a16="http://schemas.microsoft.com/office/drawing/2014/main" id="{4F33E9A5-7850-2597-04EB-D6A952908579}"/>
                  </a:ext>
                </a:extLst>
              </p:cNvPr>
              <p:cNvSpPr>
                <a:spLocks noGrp="1" noRot="1" noChangeAspect="1" noMove="1" noResize="1" noEditPoints="1" noAdjustHandles="1" noChangeArrowheads="1" noChangeShapeType="1" noTextEdit="1"/>
              </p:cNvSpPr>
              <p:nvPr>
                <p:ph idx="14"/>
              </p:nvPr>
            </p:nvSpPr>
            <p:spPr>
              <a:blipFill>
                <a:blip r:embed="rId3"/>
                <a:stretch>
                  <a:fillRect l="-478" t="-20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0A7EACD4-1C67-0A64-2D03-B2E39DB73461}"/>
                  </a:ext>
                </a:extLst>
              </p:cNvPr>
              <p:cNvSpPr>
                <a:spLocks noGrp="1"/>
              </p:cNvSpPr>
              <p:nvPr>
                <p:ph idx="15"/>
              </p:nvPr>
            </p:nvSpPr>
            <p:spPr/>
            <p:txBody>
              <a:bodyPr vert="horz" lIns="91440" tIns="45720" rIns="91440" bIns="45720" rtlCol="0" anchor="t">
                <a:normAutofit/>
              </a:bodyPr>
              <a:lstStyle/>
              <a:p>
                <a:pPr algn="just"/>
                <a:r>
                  <a:rPr lang="en-GB" sz="1400">
                    <a:latin typeface="Cambria" panose="02040503050406030204" pitchFamily="18" charset="0"/>
                    <a:ea typeface="+mn-lt"/>
                    <a:cs typeface="+mn-lt"/>
                  </a:rPr>
                  <a:t>We conduct a short iron butterfly trade when </a:t>
                </a:r>
                <a14:m>
                  <m:oMath xmlns:m="http://schemas.openxmlformats.org/officeDocument/2006/math">
                    <m:acc>
                      <m:accPr>
                        <m:chr m:val="̂"/>
                        <m:ctrlPr>
                          <a:rPr lang="en-US" sz="1400" b="0" i="1" dirty="0" smtClean="0">
                            <a:latin typeface="Cambria Math" panose="02040503050406030204" pitchFamily="18" charset="0"/>
                            <a:ea typeface="+mn-lt"/>
                            <a:cs typeface="+mn-lt"/>
                          </a:rPr>
                        </m:ctrlPr>
                      </m:accPr>
                      <m:e>
                        <m:r>
                          <a:rPr lang="en-US" sz="1400" i="1">
                            <a:latin typeface="Cambria Math" panose="02040503050406030204" pitchFamily="18" charset="0"/>
                          </a:rPr>
                          <m:t>𝑉𝑅𝑃</m:t>
                        </m:r>
                      </m:e>
                    </m:acc>
                    <m:r>
                      <a:rPr lang="en-US" sz="1400" b="0" i="1" smtClean="0">
                        <a:latin typeface="Cambria Math" panose="02040503050406030204" pitchFamily="18" charset="0"/>
                      </a:rPr>
                      <m:t>&gt;0.05</m:t>
                    </m:r>
                  </m:oMath>
                </a14:m>
                <a:r>
                  <a:rPr lang="en-GB" sz="1400">
                    <a:latin typeface="Cambria" panose="02040503050406030204" pitchFamily="18" charset="0"/>
                    <a:ea typeface="+mn-lt"/>
                    <a:cs typeface="+mn-lt"/>
                  </a:rPr>
                  <a:t> and </a:t>
                </a:r>
                <a14:m>
                  <m:oMath xmlns:m="http://schemas.openxmlformats.org/officeDocument/2006/math">
                    <m:r>
                      <a:rPr lang="en-US" sz="1400" b="0" i="1" smtClean="0">
                        <a:latin typeface="Cambria Math" panose="02040503050406030204" pitchFamily="18" charset="0"/>
                      </a:rPr>
                      <m:t>𝐼𝑉</m:t>
                    </m:r>
                    <m:r>
                      <a:rPr lang="en-US" sz="1400" b="0" i="1" smtClean="0">
                        <a:latin typeface="Cambria Math" panose="02040503050406030204" pitchFamily="18" charset="0"/>
                      </a:rPr>
                      <m:t> </m:t>
                    </m:r>
                    <m:r>
                      <m:rPr>
                        <m:sty m:val="p"/>
                      </m:rPr>
                      <a:rPr lang="en-US" sz="1400" b="0" i="0" smtClean="0">
                        <a:latin typeface="Cambria Math" panose="02040503050406030204" pitchFamily="18" charset="0"/>
                      </a:rPr>
                      <m:t>rank</m:t>
                    </m:r>
                    <m:r>
                      <a:rPr lang="en-US" sz="1400" b="0" i="0" smtClean="0">
                        <a:latin typeface="Cambria Math" panose="02040503050406030204" pitchFamily="18" charset="0"/>
                      </a:rPr>
                      <m:t>&gt;0.4</m:t>
                    </m:r>
                  </m:oMath>
                </a14:m>
                <a:r>
                  <a:rPr lang="en-GB" sz="1400">
                    <a:latin typeface="Cambria" panose="02040503050406030204" pitchFamily="18" charset="0"/>
                  </a:rPr>
                  <a:t> and a long straddle trade when </a:t>
                </a:r>
                <a14:m>
                  <m:oMath xmlns:m="http://schemas.openxmlformats.org/officeDocument/2006/math">
                    <m:acc>
                      <m:accPr>
                        <m:chr m:val="̂"/>
                        <m:ctrlPr>
                          <a:rPr lang="en-US" sz="1400" i="1" dirty="0">
                            <a:latin typeface="Cambria Math" panose="02040503050406030204" pitchFamily="18" charset="0"/>
                            <a:ea typeface="+mn-lt"/>
                            <a:cs typeface="+mn-lt"/>
                          </a:rPr>
                        </m:ctrlPr>
                      </m:accPr>
                      <m:e>
                        <m:r>
                          <a:rPr lang="en-US" sz="1400" i="1">
                            <a:latin typeface="Cambria Math" panose="02040503050406030204" pitchFamily="18" charset="0"/>
                          </a:rPr>
                          <m:t>𝑉𝑅𝑃</m:t>
                        </m:r>
                      </m:e>
                    </m:acc>
                    <m:r>
                      <a:rPr lang="en-US" sz="1400" b="0" i="1" smtClean="0">
                        <a:latin typeface="Cambria Math" panose="02040503050406030204" pitchFamily="18" charset="0"/>
                      </a:rPr>
                      <m:t>&lt;−</m:t>
                    </m:r>
                    <m:r>
                      <a:rPr lang="en-US" sz="1400" i="1">
                        <a:latin typeface="Cambria Math" panose="02040503050406030204" pitchFamily="18" charset="0"/>
                      </a:rPr>
                      <m:t>0.05</m:t>
                    </m:r>
                  </m:oMath>
                </a14:m>
                <a:r>
                  <a:rPr lang="en-GB" sz="1400">
                    <a:latin typeface="Cambria" panose="02040503050406030204" pitchFamily="18" charset="0"/>
                    <a:ea typeface="+mn-lt"/>
                    <a:cs typeface="+mn-lt"/>
                  </a:rPr>
                  <a:t> and </a:t>
                </a:r>
                <a14:m>
                  <m:oMath xmlns:m="http://schemas.openxmlformats.org/officeDocument/2006/math">
                    <m:r>
                      <a:rPr lang="en-US" sz="1400" b="0" i="1" dirty="0" smtClean="0">
                        <a:latin typeface="Cambria Math" panose="02040503050406030204" pitchFamily="18" charset="0"/>
                        <a:ea typeface="+mn-lt"/>
                        <a:cs typeface="+mn-lt"/>
                      </a:rPr>
                      <m:t>𝐼𝑉</m:t>
                    </m:r>
                    <m:r>
                      <a:rPr lang="en-US" sz="1400" b="0" i="0" dirty="0" smtClean="0">
                        <a:latin typeface="Cambria Math" panose="02040503050406030204" pitchFamily="18" charset="0"/>
                        <a:ea typeface="+mn-lt"/>
                        <a:cs typeface="+mn-lt"/>
                      </a:rPr>
                      <m:t> </m:t>
                    </m:r>
                    <m:r>
                      <m:rPr>
                        <m:sty m:val="p"/>
                      </m:rPr>
                      <a:rPr lang="en-US" sz="1400" b="0" i="0" dirty="0" smtClean="0">
                        <a:latin typeface="Cambria Math" panose="02040503050406030204" pitchFamily="18" charset="0"/>
                        <a:ea typeface="+mn-lt"/>
                        <a:cs typeface="+mn-lt"/>
                      </a:rPr>
                      <m:t>rank</m:t>
                    </m:r>
                    <m:r>
                      <a:rPr lang="en-US" sz="1400" b="0" i="1" dirty="0" smtClean="0">
                        <a:latin typeface="Cambria Math" panose="02040503050406030204" pitchFamily="18" charset="0"/>
                        <a:ea typeface="+mn-lt"/>
                        <a:cs typeface="+mn-lt"/>
                      </a:rPr>
                      <m:t>&lt;0.6</m:t>
                    </m:r>
                  </m:oMath>
                </a14:m>
                <a:r>
                  <a:rPr lang="en-GB" sz="1400">
                    <a:latin typeface="Cambria" panose="02040503050406030204" pitchFamily="18" charset="0"/>
                    <a:ea typeface="+mn-lt"/>
                    <a:cs typeface="+mn-lt"/>
                  </a:rPr>
                  <a:t> </a:t>
                </a:r>
                <a:endParaRPr lang="en-GB" sz="1400">
                  <a:latin typeface="Cambria" panose="02040503050406030204" pitchFamily="18" charset="0"/>
                </a:endParaRPr>
              </a:p>
            </p:txBody>
          </p:sp>
        </mc:Choice>
        <mc:Fallback xmlns="">
          <p:sp>
            <p:nvSpPr>
              <p:cNvPr id="11" name="Content Placeholder 10">
                <a:extLst>
                  <a:ext uri="{FF2B5EF4-FFF2-40B4-BE49-F238E27FC236}">
                    <a16:creationId xmlns:a16="http://schemas.microsoft.com/office/drawing/2014/main" id="{0A7EACD4-1C67-0A64-2D03-B2E39DB73461}"/>
                  </a:ext>
                </a:extLst>
              </p:cNvPr>
              <p:cNvSpPr>
                <a:spLocks noGrp="1" noRot="1" noChangeAspect="1" noMove="1" noResize="1" noEditPoints="1" noAdjustHandles="1" noChangeArrowheads="1" noChangeShapeType="1" noTextEdit="1"/>
              </p:cNvSpPr>
              <p:nvPr>
                <p:ph idx="15"/>
              </p:nvPr>
            </p:nvSpPr>
            <p:spPr>
              <a:blipFill>
                <a:blip r:embed="rId4"/>
                <a:stretch>
                  <a:fillRect l="-478" t="-1333" r="-239"/>
                </a:stretch>
              </a:blipFill>
            </p:spPr>
            <p:txBody>
              <a:bodyPr/>
              <a:lstStyle/>
              <a:p>
                <a:r>
                  <a:rPr lang="en-US">
                    <a:noFill/>
                  </a:rPr>
                  <a:t> </a:t>
                </a:r>
              </a:p>
            </p:txBody>
          </p:sp>
        </mc:Fallback>
      </mc:AlternateContent>
      <p:sp>
        <p:nvSpPr>
          <p:cNvPr id="6" name="Text Placeholder 5">
            <a:extLst>
              <a:ext uri="{FF2B5EF4-FFF2-40B4-BE49-F238E27FC236}">
                <a16:creationId xmlns:a16="http://schemas.microsoft.com/office/drawing/2014/main" id="{57B79A40-356A-655F-4D20-ADEA5417366F}"/>
              </a:ext>
            </a:extLst>
          </p:cNvPr>
          <p:cNvSpPr>
            <a:spLocks noGrp="1"/>
          </p:cNvSpPr>
          <p:nvPr>
            <p:ph type="body" sz="quarter" idx="18"/>
          </p:nvPr>
        </p:nvSpPr>
        <p:spPr/>
        <p:txBody>
          <a:bodyPr vert="horz" lIns="91440" tIns="45720" rIns="91440" bIns="45720" rtlCol="0" anchor="t">
            <a:noAutofit/>
          </a:bodyPr>
          <a:lstStyle/>
          <a:p>
            <a:r>
              <a:rPr lang="en-GB" b="1">
                <a:latin typeface="Cambria"/>
                <a:ea typeface="Cambria"/>
              </a:rPr>
              <a:t>Trading Strategy 2</a:t>
            </a:r>
          </a:p>
        </p:txBody>
      </p:sp>
      <p:sp>
        <p:nvSpPr>
          <p:cNvPr id="15" name="Text Placeholder 14">
            <a:extLst>
              <a:ext uri="{FF2B5EF4-FFF2-40B4-BE49-F238E27FC236}">
                <a16:creationId xmlns:a16="http://schemas.microsoft.com/office/drawing/2014/main" id="{C2CE5DA4-9A97-72B9-4511-4F5BECD30640}"/>
              </a:ext>
            </a:extLst>
          </p:cNvPr>
          <p:cNvSpPr>
            <a:spLocks noGrp="1"/>
          </p:cNvSpPr>
          <p:nvPr>
            <p:ph type="body" sz="quarter" idx="19"/>
          </p:nvPr>
        </p:nvSpPr>
        <p:spPr/>
        <p:txBody>
          <a:bodyPr vert="horz" lIns="91440" tIns="45720" rIns="91440" bIns="45720" rtlCol="0" anchor="t">
            <a:noAutofit/>
          </a:bodyPr>
          <a:lstStyle/>
          <a:p>
            <a:r>
              <a:rPr lang="en-GB" b="1">
                <a:latin typeface="Gotham Medium"/>
              </a:rPr>
              <a:t>Trading Strategy 1</a:t>
            </a:r>
            <a:endParaRPr lang="en-GB" b="1"/>
          </a:p>
        </p:txBody>
      </p:sp>
      <p:sp>
        <p:nvSpPr>
          <p:cNvPr id="10" name="Slide Number Placeholder 9">
            <a:extLst>
              <a:ext uri="{FF2B5EF4-FFF2-40B4-BE49-F238E27FC236}">
                <a16:creationId xmlns:a16="http://schemas.microsoft.com/office/drawing/2014/main" id="{4A501C0C-014C-308F-3F45-BE0D3D0F8BDD}"/>
              </a:ext>
            </a:extLst>
          </p:cNvPr>
          <p:cNvSpPr>
            <a:spLocks noGrp="1"/>
          </p:cNvSpPr>
          <p:nvPr>
            <p:ph type="sldNum" sz="quarter" idx="23"/>
          </p:nvPr>
        </p:nvSpPr>
        <p:spPr/>
        <p:txBody>
          <a:bodyPr/>
          <a:lstStyle/>
          <a:p>
            <a:fld id="{225705C9-C93A-4611-A575-E7A979D414CC}" type="slidenum">
              <a:rPr lang="en-GB" smtClean="0"/>
              <a:pPr/>
              <a:t>8</a:t>
            </a:fld>
            <a:endParaRPr lang="en-GB"/>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2F95C1A-5CDD-D430-193B-4D492005D8C7}"/>
                  </a:ext>
                </a:extLst>
              </p:cNvPr>
              <p:cNvSpPr txBox="1"/>
              <p:nvPr/>
            </p:nvSpPr>
            <p:spPr>
              <a:xfrm>
                <a:off x="2292067" y="2172441"/>
                <a:ext cx="2192844" cy="2804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1600" b="0" i="1" smtClean="0">
                              <a:latin typeface="Cambria Math" panose="02040503050406030204" pitchFamily="18" charset="0"/>
                            </a:rPr>
                          </m:ctrlPr>
                        </m:accPr>
                        <m:e>
                          <m:r>
                            <a:rPr lang="en-US" sz="1600" i="1">
                              <a:latin typeface="Cambria Math" panose="02040503050406030204" pitchFamily="18" charset="0"/>
                            </a:rPr>
                            <m:t>𝑉𝑅</m:t>
                          </m:r>
                          <m:sSub>
                            <m:sSubPr>
                              <m:ctrlPr>
                                <a:rPr lang="en-US" sz="1600" b="0" i="1" smtClean="0">
                                  <a:latin typeface="Cambria Math" panose="02040503050406030204" pitchFamily="18" charset="0"/>
                                </a:rPr>
                              </m:ctrlPr>
                            </m:sSubPr>
                            <m:e>
                              <m:r>
                                <a:rPr lang="en-US" sz="1600" i="1">
                                  <a:latin typeface="Cambria Math" panose="02040503050406030204" pitchFamily="18" charset="0"/>
                                </a:rPr>
                                <m:t>𝑃</m:t>
                              </m:r>
                            </m:e>
                            <m:sub>
                              <m:r>
                                <a:rPr lang="en-US" sz="1600" b="0" i="1" smtClean="0">
                                  <a:latin typeface="Cambria Math" panose="02040503050406030204" pitchFamily="18" charset="0"/>
                                </a:rPr>
                                <m:t>𝑡</m:t>
                              </m:r>
                            </m:sub>
                          </m:sSub>
                        </m:e>
                      </m:acc>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m:rPr>
                              <m:sty m:val="p"/>
                            </m:rPr>
                            <a:rPr lang="en-US" sz="1600" b="0" i="0" smtClean="0">
                              <a:latin typeface="Cambria Math" panose="02040503050406030204" pitchFamily="18" charset="0"/>
                            </a:rPr>
                            <m:t>imp</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𝜎</m:t>
                              </m:r>
                            </m:e>
                          </m:acc>
                        </m:e>
                        <m:sub>
                          <m:r>
                            <m:rPr>
                              <m:sty m:val="p"/>
                            </m:rPr>
                            <a:rPr lang="en-US" sz="1600">
                              <a:latin typeface="Cambria Math" panose="02040503050406030204" pitchFamily="18" charset="0"/>
                            </a:rPr>
                            <m:t>realised</m:t>
                          </m:r>
                          <m:r>
                            <a:rPr lang="en-US" sz="1600" b="0" i="0" smtClean="0">
                              <a:latin typeface="Cambria Math" panose="02040503050406030204" pitchFamily="18" charset="0"/>
                            </a:rPr>
                            <m:t>,</m:t>
                          </m:r>
                          <m:r>
                            <a:rPr lang="en-US" sz="1600" b="0" i="1" smtClean="0">
                              <a:latin typeface="Cambria Math" panose="02040503050406030204" pitchFamily="18" charset="0"/>
                            </a:rPr>
                            <m:t> </m:t>
                          </m:r>
                          <m:r>
                            <a:rPr lang="en-US" sz="1600" b="0" i="1" smtClean="0">
                              <a:latin typeface="Cambria Math" panose="02040503050406030204" pitchFamily="18" charset="0"/>
                            </a:rPr>
                            <m:t>𝑡</m:t>
                          </m:r>
                        </m:sub>
                      </m:sSub>
                    </m:oMath>
                  </m:oMathPara>
                </a14:m>
                <a:endParaRPr lang="en-US" sz="1600" b="0"/>
              </a:p>
            </p:txBody>
          </p:sp>
        </mc:Choice>
        <mc:Fallback xmlns="">
          <p:sp>
            <p:nvSpPr>
              <p:cNvPr id="12" name="TextBox 11">
                <a:extLst>
                  <a:ext uri="{FF2B5EF4-FFF2-40B4-BE49-F238E27FC236}">
                    <a16:creationId xmlns:a16="http://schemas.microsoft.com/office/drawing/2014/main" id="{B2F95C1A-5CDD-D430-193B-4D492005D8C7}"/>
                  </a:ext>
                </a:extLst>
              </p:cNvPr>
              <p:cNvSpPr txBox="1">
                <a:spLocks noRot="1" noChangeAspect="1" noMove="1" noResize="1" noEditPoints="1" noAdjustHandles="1" noChangeArrowheads="1" noChangeShapeType="1" noTextEdit="1"/>
              </p:cNvSpPr>
              <p:nvPr/>
            </p:nvSpPr>
            <p:spPr>
              <a:xfrm>
                <a:off x="2292067" y="2172441"/>
                <a:ext cx="2192844" cy="280461"/>
              </a:xfrm>
              <a:prstGeom prst="rect">
                <a:avLst/>
              </a:prstGeom>
              <a:blipFill>
                <a:blip r:embed="rId5"/>
                <a:stretch>
                  <a:fillRect l="-1724" t="-8696"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B779832-9406-EEC7-48AE-1DFB78C7F1D7}"/>
                  </a:ext>
                </a:extLst>
              </p:cNvPr>
              <p:cNvSpPr txBox="1"/>
              <p:nvPr/>
            </p:nvSpPr>
            <p:spPr>
              <a:xfrm>
                <a:off x="2293221" y="4700992"/>
                <a:ext cx="2044662" cy="52142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𝑧</m:t>
                          </m:r>
                        </m:e>
                        <m:sub>
                          <m:r>
                            <a:rPr lang="en-US" sz="1600" b="0" i="1" smtClean="0">
                              <a:latin typeface="Cambria Math" panose="02040503050406030204" pitchFamily="18" charset="0"/>
                            </a:rPr>
                            <m:t>𝑉𝑅𝑃</m:t>
                          </m:r>
                        </m:sub>
                      </m:sSub>
                      <m:r>
                        <a:rPr lang="en-US" sz="1600" b="0" i="0" smtClean="0">
                          <a:latin typeface="Cambria Math" panose="02040503050406030204" pitchFamily="18" charset="0"/>
                        </a:rPr>
                        <m:t>=</m:t>
                      </m:r>
                      <m:f>
                        <m:fPr>
                          <m:ctrlPr>
                            <a:rPr lang="en-US" sz="1600" b="0" i="1" smtClean="0">
                              <a:latin typeface="Cambria Math" panose="02040503050406030204" pitchFamily="18" charset="0"/>
                            </a:rPr>
                          </m:ctrlPr>
                        </m:fPr>
                        <m:num>
                          <m:r>
                            <m:rPr>
                              <m:sty m:val="p"/>
                            </m:rPr>
                            <a:rPr lang="en-US" sz="1600" b="0" i="0" smtClean="0">
                              <a:latin typeface="Cambria Math" panose="02040503050406030204" pitchFamily="18" charset="0"/>
                            </a:rPr>
                            <m:t>VRP</m:t>
                          </m:r>
                          <m:r>
                            <a:rPr lang="en-US" sz="1600" b="0" i="0"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𝜇</m:t>
                              </m:r>
                            </m:e>
                            <m:sub>
                              <m:r>
                                <m:rPr>
                                  <m:sty m:val="p"/>
                                </m:rPr>
                                <a:rPr lang="en-US" sz="1600" b="0" i="0" smtClean="0">
                                  <a:latin typeface="Cambria Math" panose="02040503050406030204" pitchFamily="18" charset="0"/>
                                </a:rPr>
                                <m:t>VRP</m:t>
                              </m:r>
                              <m:r>
                                <a:rPr lang="en-US" sz="1600" b="0" i="1" smtClean="0">
                                  <a:latin typeface="Cambria Math" panose="02040503050406030204" pitchFamily="18" charset="0"/>
                                </a:rPr>
                                <m:t>, 30</m:t>
                              </m:r>
                              <m:r>
                                <m:rPr>
                                  <m:sty m:val="p"/>
                                </m:rPr>
                                <a:rPr lang="en-US" sz="1600" b="0" i="0" smtClean="0">
                                  <a:latin typeface="Cambria Math" panose="02040503050406030204" pitchFamily="18" charset="0"/>
                                </a:rPr>
                                <m:t>d</m:t>
                              </m:r>
                            </m:sub>
                          </m:sSub>
                        </m:num>
                        <m:den>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m:rPr>
                                  <m:sty m:val="p"/>
                                </m:rPr>
                                <a:rPr lang="en-US" sz="1600" b="0" i="0" smtClean="0">
                                  <a:latin typeface="Cambria Math" panose="02040503050406030204" pitchFamily="18" charset="0"/>
                                </a:rPr>
                                <m:t>VRP</m:t>
                              </m:r>
                              <m:r>
                                <a:rPr lang="en-US" sz="1600" b="0" i="1" smtClean="0">
                                  <a:latin typeface="Cambria Math" panose="02040503050406030204" pitchFamily="18" charset="0"/>
                                </a:rPr>
                                <m:t>,</m:t>
                              </m:r>
                              <m:r>
                                <a:rPr lang="en-US" sz="1600" b="0" i="0" smtClean="0">
                                  <a:latin typeface="Cambria Math" panose="02040503050406030204" pitchFamily="18" charset="0"/>
                                </a:rPr>
                                <m:t>30</m:t>
                              </m:r>
                              <m:r>
                                <m:rPr>
                                  <m:sty m:val="p"/>
                                </m:rPr>
                                <a:rPr lang="en-US" sz="1600" b="0" i="0" smtClean="0">
                                  <a:latin typeface="Cambria Math" panose="02040503050406030204" pitchFamily="18" charset="0"/>
                                </a:rPr>
                                <m:t>d</m:t>
                              </m:r>
                            </m:sub>
                          </m:sSub>
                        </m:den>
                      </m:f>
                    </m:oMath>
                  </m:oMathPara>
                </a14:m>
                <a:endParaRPr lang="en-US" sz="1600" b="0"/>
              </a:p>
            </p:txBody>
          </p:sp>
        </mc:Choice>
        <mc:Fallback xmlns="">
          <p:sp>
            <p:nvSpPr>
              <p:cNvPr id="13" name="TextBox 12">
                <a:extLst>
                  <a:ext uri="{FF2B5EF4-FFF2-40B4-BE49-F238E27FC236}">
                    <a16:creationId xmlns:a16="http://schemas.microsoft.com/office/drawing/2014/main" id="{6B779832-9406-EEC7-48AE-1DFB78C7F1D7}"/>
                  </a:ext>
                </a:extLst>
              </p:cNvPr>
              <p:cNvSpPr txBox="1">
                <a:spLocks noRot="1" noChangeAspect="1" noMove="1" noResize="1" noEditPoints="1" noAdjustHandles="1" noChangeArrowheads="1" noChangeShapeType="1" noTextEdit="1"/>
              </p:cNvSpPr>
              <p:nvPr/>
            </p:nvSpPr>
            <p:spPr>
              <a:xfrm>
                <a:off x="2293221" y="4700992"/>
                <a:ext cx="2044662" cy="521425"/>
              </a:xfrm>
              <a:prstGeom prst="rect">
                <a:avLst/>
              </a:prstGeom>
              <a:blipFill>
                <a:blip r:embed="rId6"/>
                <a:stretch>
                  <a:fillRect l="-617" t="-2381" r="-617" b="-47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51D85DB-4900-CB2D-A544-9F495B729E45}"/>
                  </a:ext>
                </a:extLst>
              </p:cNvPr>
              <p:cNvSpPr txBox="1"/>
              <p:nvPr/>
            </p:nvSpPr>
            <p:spPr>
              <a:xfrm>
                <a:off x="1635028" y="2787345"/>
                <a:ext cx="3506921" cy="2857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m:rPr>
                              <m:sty m:val="p"/>
                            </m:rPr>
                            <a:rPr lang="en-US" sz="1600" b="0" i="0" smtClean="0">
                              <a:latin typeface="Cambria Math" panose="02040503050406030204" pitchFamily="18" charset="0"/>
                            </a:rPr>
                            <m:t>imp</m:t>
                          </m:r>
                        </m:sub>
                      </m:sSub>
                      <m:r>
                        <a:rPr lang="en-US" sz="1600" b="0" i="1" smtClean="0">
                          <a:latin typeface="Cambria Math" panose="02040503050406030204" pitchFamily="18" charset="0"/>
                        </a:rPr>
                        <m:t>=0.5</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m:rPr>
                                  <m:sty m:val="p"/>
                                </m:rPr>
                                <a:rPr lang="en-US" sz="1600" b="0" i="0" smtClean="0">
                                  <a:latin typeface="Cambria Math" panose="02040503050406030204" pitchFamily="18" charset="0"/>
                                </a:rPr>
                                <m:t>imp</m:t>
                              </m:r>
                              <m:r>
                                <a:rPr lang="en-US" sz="1600" b="0" i="1" smtClean="0">
                                  <a:latin typeface="Cambria Math" panose="02040503050406030204" pitchFamily="18" charset="0"/>
                                </a:rPr>
                                <m:t>,  </m:t>
                              </m:r>
                              <m:r>
                                <m:rPr>
                                  <m:sty m:val="p"/>
                                </m:rPr>
                                <a:rPr lang="en-US" sz="1600" b="0" i="0" smtClean="0">
                                  <a:latin typeface="Cambria Math" panose="02040503050406030204" pitchFamily="18" charset="0"/>
                                </a:rPr>
                                <m:t>ATM</m:t>
                              </m:r>
                              <m:r>
                                <a:rPr lang="en-US" sz="1600" b="0" i="0" smtClean="0">
                                  <a:latin typeface="Cambria Math" panose="02040503050406030204" pitchFamily="18" charset="0"/>
                                </a:rPr>
                                <m:t> </m:t>
                              </m:r>
                              <m:r>
                                <m:rPr>
                                  <m:sty m:val="p"/>
                                </m:rPr>
                                <a:rPr lang="en-US" sz="1600" b="0" i="0" smtClean="0">
                                  <a:latin typeface="Cambria Math" panose="02040503050406030204" pitchFamily="18" charset="0"/>
                                </a:rPr>
                                <m:t>call</m:t>
                              </m:r>
                            </m:sub>
                          </m:sSub>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𝜎</m:t>
                              </m:r>
                            </m:e>
                            <m:sub>
                              <m:r>
                                <m:rPr>
                                  <m:sty m:val="p"/>
                                </m:rPr>
                                <a:rPr lang="en-US" sz="1600">
                                  <a:latin typeface="Cambria Math" panose="02040503050406030204" pitchFamily="18" charset="0"/>
                                </a:rPr>
                                <m:t>imp</m:t>
                              </m:r>
                              <m:r>
                                <a:rPr lang="en-US" sz="1600" i="1">
                                  <a:latin typeface="Cambria Math" panose="02040503050406030204" pitchFamily="18" charset="0"/>
                                </a:rPr>
                                <m:t>,  </m:t>
                              </m:r>
                              <m:r>
                                <m:rPr>
                                  <m:sty m:val="p"/>
                                </m:rPr>
                                <a:rPr lang="en-US" sz="1600">
                                  <a:latin typeface="Cambria Math" panose="02040503050406030204" pitchFamily="18" charset="0"/>
                                </a:rPr>
                                <m:t>ATM</m:t>
                              </m:r>
                              <m:r>
                                <a:rPr lang="en-US" sz="1600">
                                  <a:latin typeface="Cambria Math" panose="02040503050406030204" pitchFamily="18" charset="0"/>
                                </a:rPr>
                                <m:t> </m:t>
                              </m:r>
                              <m:r>
                                <m:rPr>
                                  <m:sty m:val="p"/>
                                </m:rPr>
                                <a:rPr lang="en-US" sz="1600" b="0" i="0" smtClean="0">
                                  <a:latin typeface="Cambria Math" panose="02040503050406030204" pitchFamily="18" charset="0"/>
                                </a:rPr>
                                <m:t>put</m:t>
                              </m:r>
                            </m:sub>
                          </m:sSub>
                        </m:e>
                      </m:d>
                    </m:oMath>
                  </m:oMathPara>
                </a14:m>
                <a:endParaRPr lang="en-US" sz="1600" b="0"/>
              </a:p>
            </p:txBody>
          </p:sp>
        </mc:Choice>
        <mc:Fallback xmlns="">
          <p:sp>
            <p:nvSpPr>
              <p:cNvPr id="14" name="TextBox 13">
                <a:extLst>
                  <a:ext uri="{FF2B5EF4-FFF2-40B4-BE49-F238E27FC236}">
                    <a16:creationId xmlns:a16="http://schemas.microsoft.com/office/drawing/2014/main" id="{A51D85DB-4900-CB2D-A544-9F495B729E45}"/>
                  </a:ext>
                </a:extLst>
              </p:cNvPr>
              <p:cNvSpPr txBox="1">
                <a:spLocks noRot="1" noChangeAspect="1" noMove="1" noResize="1" noEditPoints="1" noAdjustHandles="1" noChangeArrowheads="1" noChangeShapeType="1" noTextEdit="1"/>
              </p:cNvSpPr>
              <p:nvPr/>
            </p:nvSpPr>
            <p:spPr>
              <a:xfrm>
                <a:off x="1635028" y="2787345"/>
                <a:ext cx="3506921" cy="285784"/>
              </a:xfrm>
              <a:prstGeom prst="rect">
                <a:avLst/>
              </a:prstGeom>
              <a:blipFill>
                <a:blip r:embed="rId7"/>
                <a:stretch>
                  <a:fillRect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3A2B50A-0C33-3207-18BC-6892D9723D67}"/>
                  </a:ext>
                </a:extLst>
              </p:cNvPr>
              <p:cNvSpPr txBox="1"/>
              <p:nvPr/>
            </p:nvSpPr>
            <p:spPr>
              <a:xfrm>
                <a:off x="2202297" y="3473130"/>
                <a:ext cx="2372381" cy="4804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𝜎</m:t>
                              </m:r>
                            </m:e>
                          </m:acc>
                        </m:e>
                        <m:sub>
                          <m:r>
                            <m:rPr>
                              <m:sty m:val="p"/>
                            </m:rPr>
                            <a:rPr lang="en-US" sz="1600">
                              <a:latin typeface="Cambria Math" panose="02040503050406030204" pitchFamily="18" charset="0"/>
                            </a:rPr>
                            <m:t>realised</m:t>
                          </m:r>
                        </m:sub>
                      </m:sSub>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r>
                            <a:rPr lang="en-US" sz="1600" b="0" i="1" smtClean="0">
                              <a:latin typeface="Cambria Math" panose="02040503050406030204" pitchFamily="18" charset="0"/>
                            </a:rPr>
                            <m:t>𝜎</m:t>
                          </m:r>
                        </m:e>
                        <m:sub>
                          <m:r>
                            <a:rPr lang="en-US" sz="1600" b="0" i="1" smtClean="0">
                              <a:latin typeface="Cambria Math" panose="02040503050406030204" pitchFamily="18" charset="0"/>
                            </a:rPr>
                            <m:t>1</m:t>
                          </m:r>
                          <m:r>
                            <m:rPr>
                              <m:sty m:val="p"/>
                            </m:rPr>
                            <a:rPr lang="en-US" sz="1600" b="0" i="0" smtClean="0">
                              <a:latin typeface="Cambria Math" panose="02040503050406030204" pitchFamily="18" charset="0"/>
                            </a:rPr>
                            <m:t>d</m:t>
                          </m:r>
                          <m:r>
                            <a:rPr lang="en-US" sz="1600" b="0" i="0" smtClean="0">
                              <a:latin typeface="Cambria Math" panose="02040503050406030204" pitchFamily="18" charset="0"/>
                            </a:rPr>
                            <m:t>, </m:t>
                          </m:r>
                          <m:r>
                            <a:rPr lang="en-US" sz="1600" b="0" i="1" smtClean="0">
                              <a:latin typeface="Cambria Math" panose="02040503050406030204" pitchFamily="18" charset="0"/>
                            </a:rPr>
                            <m:t>𝑡</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𝜇</m:t>
                              </m:r>
                            </m:e>
                            <m:sub>
                              <m:r>
                                <m:rPr>
                                  <m:sty m:val="p"/>
                                </m:rPr>
                                <a:rPr lang="en-US" sz="1600" b="0" i="0" smtClean="0">
                                  <a:latin typeface="Cambria Math" panose="02040503050406030204" pitchFamily="18" charset="0"/>
                                </a:rPr>
                                <m:t>DO</m:t>
                              </m:r>
                              <m:r>
                                <a:rPr lang="en-US" sz="1600" b="0" i="1" smtClean="0">
                                  <a:latin typeface="Cambria Math" panose="02040503050406030204" pitchFamily="18" charset="0"/>
                                </a:rPr>
                                <m:t>𝑊</m:t>
                              </m:r>
                              <m:r>
                                <a:rPr lang="en-US" sz="1600" b="0" i="1" smtClean="0">
                                  <a:latin typeface="Cambria Math" panose="02040503050406030204" pitchFamily="18" charset="0"/>
                                </a:rPr>
                                <m:t>,</m:t>
                              </m:r>
                              <m:r>
                                <a:rPr lang="en-US" sz="1600" b="0" i="1" smtClean="0">
                                  <a:latin typeface="Cambria Math" panose="02040503050406030204" pitchFamily="18" charset="0"/>
                                </a:rPr>
                                <m:t>𝑡</m:t>
                              </m:r>
                            </m:sub>
                          </m:sSub>
                        </m:num>
                        <m:den>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𝜇</m:t>
                              </m:r>
                            </m:e>
                            <m:sub>
                              <m:r>
                                <m:rPr>
                                  <m:sty m:val="p"/>
                                </m:rPr>
                                <a:rPr lang="en-US" sz="1600" b="0" i="0" smtClean="0">
                                  <a:latin typeface="Cambria Math" panose="02040503050406030204" pitchFamily="18" charset="0"/>
                                </a:rPr>
                                <m:t>DOW</m:t>
                              </m:r>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−1</m:t>
                              </m:r>
                            </m:sub>
                          </m:sSub>
                        </m:den>
                      </m:f>
                    </m:oMath>
                  </m:oMathPara>
                </a14:m>
                <a:endParaRPr lang="en-US" sz="1600" b="0"/>
              </a:p>
            </p:txBody>
          </p:sp>
        </mc:Choice>
        <mc:Fallback xmlns="">
          <p:sp>
            <p:nvSpPr>
              <p:cNvPr id="18" name="TextBox 17">
                <a:extLst>
                  <a:ext uri="{FF2B5EF4-FFF2-40B4-BE49-F238E27FC236}">
                    <a16:creationId xmlns:a16="http://schemas.microsoft.com/office/drawing/2014/main" id="{A3A2B50A-0C33-3207-18BC-6892D9723D67}"/>
                  </a:ext>
                </a:extLst>
              </p:cNvPr>
              <p:cNvSpPr txBox="1">
                <a:spLocks noRot="1" noChangeAspect="1" noMove="1" noResize="1" noEditPoints="1" noAdjustHandles="1" noChangeArrowheads="1" noChangeShapeType="1" noTextEdit="1"/>
              </p:cNvSpPr>
              <p:nvPr/>
            </p:nvSpPr>
            <p:spPr>
              <a:xfrm>
                <a:off x="2202297" y="3473130"/>
                <a:ext cx="2372381" cy="480453"/>
              </a:xfrm>
              <a:prstGeom prst="rect">
                <a:avLst/>
              </a:prstGeom>
              <a:blipFill>
                <a:blip r:embed="rId8"/>
                <a:stretch>
                  <a:fillRect l="-535" r="-535" b="-7692"/>
                </a:stretch>
              </a:blipFill>
            </p:spPr>
            <p:txBody>
              <a:bodyPr/>
              <a:lstStyle/>
              <a:p>
                <a:r>
                  <a:rPr lang="en-US">
                    <a:noFill/>
                  </a:rPr>
                  <a:t> </a:t>
                </a:r>
              </a:p>
            </p:txBody>
          </p:sp>
        </mc:Fallback>
      </mc:AlternateContent>
      <p:graphicFrame>
        <p:nvGraphicFramePr>
          <p:cNvPr id="7" name="Table 6">
            <a:extLst>
              <a:ext uri="{FF2B5EF4-FFF2-40B4-BE49-F238E27FC236}">
                <a16:creationId xmlns:a16="http://schemas.microsoft.com/office/drawing/2014/main" id="{186FABE8-D277-C052-0022-CC97A4763050}"/>
              </a:ext>
            </a:extLst>
          </p:cNvPr>
          <p:cNvGraphicFramePr>
            <a:graphicFrameLocks noGrp="1"/>
          </p:cNvGraphicFramePr>
          <p:nvPr>
            <p:extLst>
              <p:ext uri="{D42A27DB-BD31-4B8C-83A1-F6EECF244321}">
                <p14:modId xmlns:p14="http://schemas.microsoft.com/office/powerpoint/2010/main" val="2858446923"/>
              </p:ext>
            </p:extLst>
          </p:nvPr>
        </p:nvGraphicFramePr>
        <p:xfrm>
          <a:off x="6871525" y="2713714"/>
          <a:ext cx="4332513" cy="944880"/>
        </p:xfrm>
        <a:graphic>
          <a:graphicData uri="http://schemas.openxmlformats.org/drawingml/2006/table">
            <a:tbl>
              <a:tblPr firstRow="1" bandRow="1">
                <a:tableStyleId>{5C22544A-7EE6-4342-B048-85BDC9FD1C3A}</a:tableStyleId>
              </a:tblPr>
              <a:tblGrid>
                <a:gridCol w="1444171">
                  <a:extLst>
                    <a:ext uri="{9D8B030D-6E8A-4147-A177-3AD203B41FA5}">
                      <a16:colId xmlns:a16="http://schemas.microsoft.com/office/drawing/2014/main" val="4092348480"/>
                    </a:ext>
                  </a:extLst>
                </a:gridCol>
                <a:gridCol w="1444171">
                  <a:extLst>
                    <a:ext uri="{9D8B030D-6E8A-4147-A177-3AD203B41FA5}">
                      <a16:colId xmlns:a16="http://schemas.microsoft.com/office/drawing/2014/main" val="1035600465"/>
                    </a:ext>
                  </a:extLst>
                </a:gridCol>
                <a:gridCol w="1444171">
                  <a:extLst>
                    <a:ext uri="{9D8B030D-6E8A-4147-A177-3AD203B41FA5}">
                      <a16:colId xmlns:a16="http://schemas.microsoft.com/office/drawing/2014/main" val="4180631773"/>
                    </a:ext>
                  </a:extLst>
                </a:gridCol>
              </a:tblGrid>
              <a:tr h="271945">
                <a:tc>
                  <a:txBody>
                    <a:bodyPr/>
                    <a:lstStyle/>
                    <a:p>
                      <a:endParaRPr lang="en-US" sz="1600">
                        <a:latin typeface="Cambria" panose="02040503050406030204" pitchFamily="18" charset="0"/>
                      </a:endParaRPr>
                    </a:p>
                  </a:txBody>
                  <a:tcPr/>
                </a:tc>
                <a:tc>
                  <a:txBody>
                    <a:bodyPr/>
                    <a:lstStyle/>
                    <a:p>
                      <a:r>
                        <a:rPr lang="en-US" sz="1600">
                          <a:latin typeface="Cambria" panose="02040503050406030204" pitchFamily="18" charset="0"/>
                        </a:rPr>
                        <a:t>Short Trade</a:t>
                      </a:r>
                    </a:p>
                  </a:txBody>
                  <a:tcPr/>
                </a:tc>
                <a:tc>
                  <a:txBody>
                    <a:bodyPr/>
                    <a:lstStyle/>
                    <a:p>
                      <a:r>
                        <a:rPr lang="en-US" sz="1600">
                          <a:latin typeface="Cambria" panose="02040503050406030204" pitchFamily="18" charset="0"/>
                        </a:rPr>
                        <a:t>Long Trade</a:t>
                      </a:r>
                    </a:p>
                  </a:txBody>
                  <a:tcPr/>
                </a:tc>
                <a:extLst>
                  <a:ext uri="{0D108BD9-81ED-4DB2-BD59-A6C34878D82A}">
                    <a16:rowId xmlns:a16="http://schemas.microsoft.com/office/drawing/2014/main" val="2209559571"/>
                  </a:ext>
                </a:extLst>
              </a:tr>
              <a:tr h="271945">
                <a:tc>
                  <a:txBody>
                    <a:bodyPr/>
                    <a:lstStyle/>
                    <a:p>
                      <a:r>
                        <a:rPr lang="en-US" sz="1400">
                          <a:latin typeface="Cambria" panose="02040503050406030204" pitchFamily="18" charset="0"/>
                        </a:rPr>
                        <a:t>Trade Count</a:t>
                      </a:r>
                    </a:p>
                  </a:txBody>
                  <a:tcPr/>
                </a:tc>
                <a:tc>
                  <a:txBody>
                    <a:bodyPr/>
                    <a:lstStyle/>
                    <a:p>
                      <a:r>
                        <a:rPr lang="en-US" sz="1400">
                          <a:latin typeface="Cambria" panose="02040503050406030204" pitchFamily="18" charset="0"/>
                        </a:rPr>
                        <a:t>113</a:t>
                      </a:r>
                    </a:p>
                  </a:txBody>
                  <a:tcPr/>
                </a:tc>
                <a:tc>
                  <a:txBody>
                    <a:bodyPr/>
                    <a:lstStyle/>
                    <a:p>
                      <a:r>
                        <a:rPr lang="en-US" sz="1400">
                          <a:latin typeface="Cambria" panose="02040503050406030204" pitchFamily="18" charset="0"/>
                        </a:rPr>
                        <a:t>147</a:t>
                      </a:r>
                    </a:p>
                  </a:txBody>
                  <a:tcPr/>
                </a:tc>
                <a:extLst>
                  <a:ext uri="{0D108BD9-81ED-4DB2-BD59-A6C34878D82A}">
                    <a16:rowId xmlns:a16="http://schemas.microsoft.com/office/drawing/2014/main" val="4114279967"/>
                  </a:ext>
                </a:extLst>
              </a:tr>
              <a:tr h="271945">
                <a:tc>
                  <a:txBody>
                    <a:bodyPr/>
                    <a:lstStyle/>
                    <a:p>
                      <a:r>
                        <a:rPr lang="en-US" sz="1400">
                          <a:latin typeface="Cambria" panose="02040503050406030204" pitchFamily="18" charset="0"/>
                        </a:rPr>
                        <a:t>Trade Freq</a:t>
                      </a:r>
                    </a:p>
                  </a:txBody>
                  <a:tcPr/>
                </a:tc>
                <a:tc>
                  <a:txBody>
                    <a:bodyPr/>
                    <a:lstStyle/>
                    <a:p>
                      <a:r>
                        <a:rPr lang="en-US" sz="1400">
                          <a:latin typeface="Cambria" panose="02040503050406030204" pitchFamily="18" charset="0"/>
                        </a:rPr>
                        <a:t>10.3%</a:t>
                      </a:r>
                    </a:p>
                  </a:txBody>
                  <a:tcPr/>
                </a:tc>
                <a:tc>
                  <a:txBody>
                    <a:bodyPr/>
                    <a:lstStyle/>
                    <a:p>
                      <a:r>
                        <a:rPr lang="en-US" sz="1400">
                          <a:latin typeface="Cambria" panose="02040503050406030204" pitchFamily="18" charset="0"/>
                        </a:rPr>
                        <a:t>13.4%</a:t>
                      </a:r>
                    </a:p>
                  </a:txBody>
                  <a:tcPr/>
                </a:tc>
                <a:extLst>
                  <a:ext uri="{0D108BD9-81ED-4DB2-BD59-A6C34878D82A}">
                    <a16:rowId xmlns:a16="http://schemas.microsoft.com/office/drawing/2014/main" val="3730455679"/>
                  </a:ext>
                </a:extLst>
              </a:tr>
            </a:tbl>
          </a:graphicData>
        </a:graphic>
      </p:graphicFrame>
      <p:graphicFrame>
        <p:nvGraphicFramePr>
          <p:cNvPr id="8" name="Table 7">
            <a:extLst>
              <a:ext uri="{FF2B5EF4-FFF2-40B4-BE49-F238E27FC236}">
                <a16:creationId xmlns:a16="http://schemas.microsoft.com/office/drawing/2014/main" id="{EFB02CF9-1A81-BD6A-F94D-B0518591DEF0}"/>
              </a:ext>
            </a:extLst>
          </p:cNvPr>
          <p:cNvGraphicFramePr>
            <a:graphicFrameLocks noGrp="1"/>
          </p:cNvGraphicFramePr>
          <p:nvPr>
            <p:extLst>
              <p:ext uri="{D42A27DB-BD31-4B8C-83A1-F6EECF244321}">
                <p14:modId xmlns:p14="http://schemas.microsoft.com/office/powerpoint/2010/main" val="3703952591"/>
              </p:ext>
            </p:extLst>
          </p:nvPr>
        </p:nvGraphicFramePr>
        <p:xfrm>
          <a:off x="6871525" y="5123086"/>
          <a:ext cx="4332513" cy="944880"/>
        </p:xfrm>
        <a:graphic>
          <a:graphicData uri="http://schemas.openxmlformats.org/drawingml/2006/table">
            <a:tbl>
              <a:tblPr firstRow="1" bandRow="1">
                <a:tableStyleId>{5C22544A-7EE6-4342-B048-85BDC9FD1C3A}</a:tableStyleId>
              </a:tblPr>
              <a:tblGrid>
                <a:gridCol w="1444171">
                  <a:extLst>
                    <a:ext uri="{9D8B030D-6E8A-4147-A177-3AD203B41FA5}">
                      <a16:colId xmlns:a16="http://schemas.microsoft.com/office/drawing/2014/main" val="4092348480"/>
                    </a:ext>
                  </a:extLst>
                </a:gridCol>
                <a:gridCol w="1444171">
                  <a:extLst>
                    <a:ext uri="{9D8B030D-6E8A-4147-A177-3AD203B41FA5}">
                      <a16:colId xmlns:a16="http://schemas.microsoft.com/office/drawing/2014/main" val="1035600465"/>
                    </a:ext>
                  </a:extLst>
                </a:gridCol>
                <a:gridCol w="1444171">
                  <a:extLst>
                    <a:ext uri="{9D8B030D-6E8A-4147-A177-3AD203B41FA5}">
                      <a16:colId xmlns:a16="http://schemas.microsoft.com/office/drawing/2014/main" val="4180631773"/>
                    </a:ext>
                  </a:extLst>
                </a:gridCol>
              </a:tblGrid>
              <a:tr h="271945">
                <a:tc>
                  <a:txBody>
                    <a:bodyPr/>
                    <a:lstStyle/>
                    <a:p>
                      <a:endParaRPr lang="en-US" sz="1600">
                        <a:latin typeface="Cambria" panose="02040503050406030204" pitchFamily="18" charset="0"/>
                      </a:endParaRPr>
                    </a:p>
                  </a:txBody>
                  <a:tcPr/>
                </a:tc>
                <a:tc>
                  <a:txBody>
                    <a:bodyPr/>
                    <a:lstStyle/>
                    <a:p>
                      <a:r>
                        <a:rPr lang="en-US" sz="1600">
                          <a:latin typeface="Cambria" panose="02040503050406030204" pitchFamily="18" charset="0"/>
                        </a:rPr>
                        <a:t>Short Trade</a:t>
                      </a:r>
                    </a:p>
                  </a:txBody>
                  <a:tcPr/>
                </a:tc>
                <a:tc>
                  <a:txBody>
                    <a:bodyPr/>
                    <a:lstStyle/>
                    <a:p>
                      <a:r>
                        <a:rPr lang="en-US" sz="1600">
                          <a:latin typeface="Cambria" panose="02040503050406030204" pitchFamily="18" charset="0"/>
                        </a:rPr>
                        <a:t>Long Trade</a:t>
                      </a:r>
                    </a:p>
                  </a:txBody>
                  <a:tcPr/>
                </a:tc>
                <a:extLst>
                  <a:ext uri="{0D108BD9-81ED-4DB2-BD59-A6C34878D82A}">
                    <a16:rowId xmlns:a16="http://schemas.microsoft.com/office/drawing/2014/main" val="2209559571"/>
                  </a:ext>
                </a:extLst>
              </a:tr>
              <a:tr h="271945">
                <a:tc>
                  <a:txBody>
                    <a:bodyPr/>
                    <a:lstStyle/>
                    <a:p>
                      <a:r>
                        <a:rPr lang="en-US" sz="1400">
                          <a:latin typeface="Cambria" panose="02040503050406030204" pitchFamily="18" charset="0"/>
                        </a:rPr>
                        <a:t>Trade Count</a:t>
                      </a:r>
                    </a:p>
                  </a:txBody>
                  <a:tcPr/>
                </a:tc>
                <a:tc>
                  <a:txBody>
                    <a:bodyPr/>
                    <a:lstStyle/>
                    <a:p>
                      <a:r>
                        <a:rPr lang="en-US" sz="1400">
                          <a:latin typeface="Cambria" panose="02040503050406030204" pitchFamily="18" charset="0"/>
                        </a:rPr>
                        <a:t>99</a:t>
                      </a:r>
                    </a:p>
                  </a:txBody>
                  <a:tcPr/>
                </a:tc>
                <a:tc>
                  <a:txBody>
                    <a:bodyPr/>
                    <a:lstStyle/>
                    <a:p>
                      <a:r>
                        <a:rPr lang="en-US" sz="1400">
                          <a:latin typeface="Cambria" panose="02040503050406030204" pitchFamily="18" charset="0"/>
                        </a:rPr>
                        <a:t>314</a:t>
                      </a:r>
                    </a:p>
                  </a:txBody>
                  <a:tcPr/>
                </a:tc>
                <a:extLst>
                  <a:ext uri="{0D108BD9-81ED-4DB2-BD59-A6C34878D82A}">
                    <a16:rowId xmlns:a16="http://schemas.microsoft.com/office/drawing/2014/main" val="4114279967"/>
                  </a:ext>
                </a:extLst>
              </a:tr>
              <a:tr h="271945">
                <a:tc>
                  <a:txBody>
                    <a:bodyPr/>
                    <a:lstStyle/>
                    <a:p>
                      <a:r>
                        <a:rPr lang="en-US" sz="1400">
                          <a:latin typeface="Cambria" panose="02040503050406030204" pitchFamily="18" charset="0"/>
                        </a:rPr>
                        <a:t>Trade Freq</a:t>
                      </a:r>
                    </a:p>
                  </a:txBody>
                  <a:tcPr/>
                </a:tc>
                <a:tc>
                  <a:txBody>
                    <a:bodyPr/>
                    <a:lstStyle/>
                    <a:p>
                      <a:r>
                        <a:rPr lang="en-US" sz="1400">
                          <a:latin typeface="Cambria" panose="02040503050406030204" pitchFamily="18" charset="0"/>
                        </a:rPr>
                        <a:t>9.0%</a:t>
                      </a:r>
                    </a:p>
                  </a:txBody>
                  <a:tcPr/>
                </a:tc>
                <a:tc>
                  <a:txBody>
                    <a:bodyPr/>
                    <a:lstStyle/>
                    <a:p>
                      <a:r>
                        <a:rPr lang="en-US" sz="1400">
                          <a:latin typeface="Cambria" panose="02040503050406030204" pitchFamily="18" charset="0"/>
                        </a:rPr>
                        <a:t>28.6%</a:t>
                      </a:r>
                    </a:p>
                  </a:txBody>
                  <a:tcPr/>
                </a:tc>
                <a:extLst>
                  <a:ext uri="{0D108BD9-81ED-4DB2-BD59-A6C34878D82A}">
                    <a16:rowId xmlns:a16="http://schemas.microsoft.com/office/drawing/2014/main" val="3730455679"/>
                  </a:ext>
                </a:extLst>
              </a:tr>
            </a:tbl>
          </a:graphicData>
        </a:graphic>
      </p:graphicFrame>
    </p:spTree>
    <p:extLst>
      <p:ext uri="{BB962C8B-B14F-4D97-AF65-F5344CB8AC3E}">
        <p14:creationId xmlns:p14="http://schemas.microsoft.com/office/powerpoint/2010/main" val="1875480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B8C96-F4E6-86F2-0090-D5716C9CC2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17D429-B24F-A294-5B52-70C09876CA42}"/>
              </a:ext>
            </a:extLst>
          </p:cNvPr>
          <p:cNvSpPr>
            <a:spLocks noGrp="1"/>
          </p:cNvSpPr>
          <p:nvPr>
            <p:ph type="title"/>
          </p:nvPr>
        </p:nvSpPr>
        <p:spPr/>
        <p:txBody>
          <a:bodyPr/>
          <a:lstStyle/>
          <a:p>
            <a:r>
              <a:rPr lang="en-GB">
                <a:latin typeface="Novecento sans wide UltraLight"/>
              </a:rPr>
              <a:t>Strategy Results</a:t>
            </a:r>
            <a:endParaRPr lang="en-GB"/>
          </a:p>
        </p:txBody>
      </p:sp>
      <p:graphicFrame>
        <p:nvGraphicFramePr>
          <p:cNvPr id="14" name="Content Placeholder 13">
            <a:extLst>
              <a:ext uri="{FF2B5EF4-FFF2-40B4-BE49-F238E27FC236}">
                <a16:creationId xmlns:a16="http://schemas.microsoft.com/office/drawing/2014/main" id="{FC202DDD-8AB7-BBC2-F2DC-35AC49C89201}"/>
              </a:ext>
            </a:extLst>
          </p:cNvPr>
          <p:cNvGraphicFramePr>
            <a:graphicFrameLocks noGrp="1"/>
          </p:cNvGraphicFramePr>
          <p:nvPr>
            <p:ph idx="1"/>
            <p:extLst>
              <p:ext uri="{D42A27DB-BD31-4B8C-83A1-F6EECF244321}">
                <p14:modId xmlns:p14="http://schemas.microsoft.com/office/powerpoint/2010/main" val="4275587554"/>
              </p:ext>
            </p:extLst>
          </p:nvPr>
        </p:nvGraphicFramePr>
        <p:xfrm>
          <a:off x="396117" y="3534954"/>
          <a:ext cx="5250138" cy="2603786"/>
        </p:xfrm>
        <a:graphic>
          <a:graphicData uri="http://schemas.openxmlformats.org/drawingml/2006/table">
            <a:tbl>
              <a:tblPr firstRow="1" bandRow="1">
                <a:tableStyleId>{5C22544A-7EE6-4342-B048-85BDC9FD1C3A}</a:tableStyleId>
              </a:tblPr>
              <a:tblGrid>
                <a:gridCol w="1313741">
                  <a:extLst>
                    <a:ext uri="{9D8B030D-6E8A-4147-A177-3AD203B41FA5}">
                      <a16:colId xmlns:a16="http://schemas.microsoft.com/office/drawing/2014/main" val="43091286"/>
                    </a:ext>
                  </a:extLst>
                </a:gridCol>
                <a:gridCol w="1992309">
                  <a:extLst>
                    <a:ext uri="{9D8B030D-6E8A-4147-A177-3AD203B41FA5}">
                      <a16:colId xmlns:a16="http://schemas.microsoft.com/office/drawing/2014/main" val="3523063748"/>
                    </a:ext>
                  </a:extLst>
                </a:gridCol>
                <a:gridCol w="1944088">
                  <a:extLst>
                    <a:ext uri="{9D8B030D-6E8A-4147-A177-3AD203B41FA5}">
                      <a16:colId xmlns:a16="http://schemas.microsoft.com/office/drawing/2014/main" val="1447515755"/>
                    </a:ext>
                  </a:extLst>
                </a:gridCol>
              </a:tblGrid>
              <a:tr h="558862">
                <a:tc>
                  <a:txBody>
                    <a:bodyPr/>
                    <a:lstStyle/>
                    <a:p>
                      <a:r>
                        <a:rPr lang="en-US" sz="1400">
                          <a:latin typeface="Cambria"/>
                          <a:ea typeface="Cambria"/>
                        </a:rPr>
                        <a:t>Day of Week</a:t>
                      </a:r>
                    </a:p>
                  </a:txBody>
                  <a:tcPr/>
                </a:tc>
                <a:tc>
                  <a:txBody>
                    <a:bodyPr/>
                    <a:lstStyle/>
                    <a:p>
                      <a:pPr marL="0" marR="0" lvl="0" indent="0" algn="l" rtl="0">
                        <a:lnSpc>
                          <a:spcPct val="100000"/>
                        </a:lnSpc>
                        <a:spcBef>
                          <a:spcPts val="0"/>
                        </a:spcBef>
                        <a:spcAft>
                          <a:spcPts val="0"/>
                        </a:spcAft>
                        <a:buClrTx/>
                        <a:buSzTx/>
                        <a:buFontTx/>
                        <a:buNone/>
                      </a:pPr>
                      <a:r>
                        <a:rPr lang="en-US" sz="1400">
                          <a:latin typeface="Cambria"/>
                          <a:ea typeface="Cambria"/>
                        </a:rPr>
                        <a:t>Sharpe Ratio (Long Strategy)</a:t>
                      </a:r>
                      <a:endParaRPr lang="en-US"/>
                    </a:p>
                  </a:txBody>
                  <a:tcPr/>
                </a:tc>
                <a:tc>
                  <a:txBody>
                    <a:bodyPr/>
                    <a:lstStyle/>
                    <a:p>
                      <a:r>
                        <a:rPr lang="en-US" sz="1400">
                          <a:latin typeface="Cambria"/>
                          <a:ea typeface="Cambria"/>
                        </a:rPr>
                        <a:t>Sharpe Ratio (Short Strategy)</a:t>
                      </a:r>
                    </a:p>
                  </a:txBody>
                  <a:tcPr/>
                </a:tc>
                <a:extLst>
                  <a:ext uri="{0D108BD9-81ED-4DB2-BD59-A6C34878D82A}">
                    <a16:rowId xmlns:a16="http://schemas.microsoft.com/office/drawing/2014/main" val="2610362047"/>
                  </a:ext>
                </a:extLst>
              </a:tr>
              <a:tr h="292132">
                <a:tc>
                  <a:txBody>
                    <a:bodyPr/>
                    <a:lstStyle/>
                    <a:p>
                      <a:r>
                        <a:rPr lang="en-US" sz="1200">
                          <a:latin typeface="Cambria"/>
                          <a:ea typeface="Cambria"/>
                        </a:rPr>
                        <a:t>Monday</a:t>
                      </a:r>
                    </a:p>
                  </a:txBody>
                  <a:tcPr/>
                </a:tc>
                <a:tc>
                  <a:txBody>
                    <a:bodyPr/>
                    <a:lstStyle/>
                    <a:p>
                      <a:pPr lvl="0">
                        <a:buNone/>
                      </a:pPr>
                      <a:r>
                        <a:rPr lang="en-US" sz="1200">
                          <a:latin typeface="Cambria"/>
                          <a:ea typeface="Cambria"/>
                        </a:rPr>
                        <a:t>1.23</a:t>
                      </a:r>
                      <a:endParaRPr lang="en-US"/>
                    </a:p>
                  </a:txBody>
                  <a:tcPr/>
                </a:tc>
                <a:tc>
                  <a:txBody>
                    <a:bodyPr/>
                    <a:lstStyle/>
                    <a:p>
                      <a:r>
                        <a:rPr lang="en-US" sz="1200">
                          <a:latin typeface="Cambria"/>
                          <a:ea typeface="Cambria"/>
                        </a:rPr>
                        <a:t>-1.03</a:t>
                      </a:r>
                    </a:p>
                  </a:txBody>
                  <a:tcPr/>
                </a:tc>
                <a:extLst>
                  <a:ext uri="{0D108BD9-81ED-4DB2-BD59-A6C34878D82A}">
                    <a16:rowId xmlns:a16="http://schemas.microsoft.com/office/drawing/2014/main" val="579673832"/>
                  </a:ext>
                </a:extLst>
              </a:tr>
              <a:tr h="292132">
                <a:tc>
                  <a:txBody>
                    <a:bodyPr/>
                    <a:lstStyle/>
                    <a:p>
                      <a:r>
                        <a:rPr lang="en-US" sz="1200">
                          <a:latin typeface="Cambria"/>
                          <a:ea typeface="Cambria"/>
                        </a:rPr>
                        <a:t>Tuesday</a:t>
                      </a:r>
                    </a:p>
                  </a:txBody>
                  <a:tcPr/>
                </a:tc>
                <a:tc>
                  <a:txBody>
                    <a:bodyPr/>
                    <a:lstStyle/>
                    <a:p>
                      <a:pPr lvl="0">
                        <a:buNone/>
                      </a:pPr>
                      <a:r>
                        <a:rPr lang="en-US" sz="1200">
                          <a:latin typeface="Cambria"/>
                          <a:ea typeface="Cambria"/>
                        </a:rPr>
                        <a:t>-2.21</a:t>
                      </a:r>
                      <a:endParaRPr lang="en-US"/>
                    </a:p>
                  </a:txBody>
                  <a:tcPr/>
                </a:tc>
                <a:tc>
                  <a:txBody>
                    <a:bodyPr/>
                    <a:lstStyle/>
                    <a:p>
                      <a:r>
                        <a:rPr lang="en-US" sz="1200">
                          <a:latin typeface="Cambria"/>
                          <a:ea typeface="Cambria"/>
                        </a:rPr>
                        <a:t>1.64</a:t>
                      </a:r>
                    </a:p>
                  </a:txBody>
                  <a:tcPr/>
                </a:tc>
                <a:extLst>
                  <a:ext uri="{0D108BD9-81ED-4DB2-BD59-A6C34878D82A}">
                    <a16:rowId xmlns:a16="http://schemas.microsoft.com/office/drawing/2014/main" val="2779399564"/>
                  </a:ext>
                </a:extLst>
              </a:tr>
              <a:tr h="292132">
                <a:tc>
                  <a:txBody>
                    <a:bodyPr/>
                    <a:lstStyle/>
                    <a:p>
                      <a:r>
                        <a:rPr lang="en-US" sz="1200">
                          <a:latin typeface="Cambria"/>
                          <a:ea typeface="Cambria"/>
                        </a:rPr>
                        <a:t>Wednesday</a:t>
                      </a:r>
                    </a:p>
                  </a:txBody>
                  <a:tcPr/>
                </a:tc>
                <a:tc>
                  <a:txBody>
                    <a:bodyPr/>
                    <a:lstStyle/>
                    <a:p>
                      <a:pPr lvl="0">
                        <a:buNone/>
                      </a:pPr>
                      <a:r>
                        <a:rPr lang="en-US" sz="1200">
                          <a:latin typeface="Cambria"/>
                          <a:ea typeface="Cambria"/>
                        </a:rPr>
                        <a:t>-1.90</a:t>
                      </a:r>
                      <a:endParaRPr lang="en-US"/>
                    </a:p>
                  </a:txBody>
                  <a:tcPr/>
                </a:tc>
                <a:tc>
                  <a:txBody>
                    <a:bodyPr/>
                    <a:lstStyle/>
                    <a:p>
                      <a:r>
                        <a:rPr lang="en-US" sz="1200">
                          <a:latin typeface="Cambria"/>
                          <a:ea typeface="Cambria"/>
                        </a:rPr>
                        <a:t>0.72</a:t>
                      </a:r>
                    </a:p>
                  </a:txBody>
                  <a:tcPr/>
                </a:tc>
                <a:extLst>
                  <a:ext uri="{0D108BD9-81ED-4DB2-BD59-A6C34878D82A}">
                    <a16:rowId xmlns:a16="http://schemas.microsoft.com/office/drawing/2014/main" val="3675646375"/>
                  </a:ext>
                </a:extLst>
              </a:tr>
              <a:tr h="292132">
                <a:tc>
                  <a:txBody>
                    <a:bodyPr/>
                    <a:lstStyle/>
                    <a:p>
                      <a:r>
                        <a:rPr lang="en-US" sz="1200">
                          <a:latin typeface="Cambria"/>
                          <a:ea typeface="Cambria"/>
                        </a:rPr>
                        <a:t>Thursday</a:t>
                      </a:r>
                    </a:p>
                  </a:txBody>
                  <a:tcPr/>
                </a:tc>
                <a:tc>
                  <a:txBody>
                    <a:bodyPr/>
                    <a:lstStyle/>
                    <a:p>
                      <a:pPr lvl="0">
                        <a:buNone/>
                      </a:pPr>
                      <a:r>
                        <a:rPr lang="en-US" sz="1200">
                          <a:latin typeface="Cambria"/>
                          <a:ea typeface="Cambria"/>
                        </a:rPr>
                        <a:t>1.47</a:t>
                      </a:r>
                      <a:endParaRPr lang="en-US"/>
                    </a:p>
                  </a:txBody>
                  <a:tcPr/>
                </a:tc>
                <a:tc>
                  <a:txBody>
                    <a:bodyPr/>
                    <a:lstStyle/>
                    <a:p>
                      <a:r>
                        <a:rPr lang="en-US" sz="1200">
                          <a:latin typeface="Cambria"/>
                          <a:ea typeface="Cambria"/>
                        </a:rPr>
                        <a:t>0.39</a:t>
                      </a:r>
                    </a:p>
                  </a:txBody>
                  <a:tcPr/>
                </a:tc>
                <a:extLst>
                  <a:ext uri="{0D108BD9-81ED-4DB2-BD59-A6C34878D82A}">
                    <a16:rowId xmlns:a16="http://schemas.microsoft.com/office/drawing/2014/main" val="3677813081"/>
                  </a:ext>
                </a:extLst>
              </a:tr>
              <a:tr h="292132">
                <a:tc>
                  <a:txBody>
                    <a:bodyPr/>
                    <a:lstStyle/>
                    <a:p>
                      <a:r>
                        <a:rPr lang="en-US" sz="1200">
                          <a:latin typeface="Cambria"/>
                          <a:ea typeface="Cambria"/>
                        </a:rPr>
                        <a:t>Friday</a:t>
                      </a:r>
                    </a:p>
                  </a:txBody>
                  <a:tcPr/>
                </a:tc>
                <a:tc>
                  <a:txBody>
                    <a:bodyPr/>
                    <a:lstStyle/>
                    <a:p>
                      <a:pPr lvl="0">
                        <a:buNone/>
                      </a:pPr>
                      <a:r>
                        <a:rPr lang="en-US" sz="1200">
                          <a:latin typeface="Cambria"/>
                          <a:ea typeface="Cambria"/>
                        </a:rPr>
                        <a:t>0.88</a:t>
                      </a:r>
                      <a:endParaRPr lang="en-US"/>
                    </a:p>
                  </a:txBody>
                  <a:tcPr/>
                </a:tc>
                <a:tc>
                  <a:txBody>
                    <a:bodyPr/>
                    <a:lstStyle/>
                    <a:p>
                      <a:r>
                        <a:rPr lang="en-US" sz="1200">
                          <a:latin typeface="Cambria"/>
                          <a:ea typeface="Cambria"/>
                        </a:rPr>
                        <a:t>1.12</a:t>
                      </a:r>
                    </a:p>
                  </a:txBody>
                  <a:tcPr/>
                </a:tc>
                <a:extLst>
                  <a:ext uri="{0D108BD9-81ED-4DB2-BD59-A6C34878D82A}">
                    <a16:rowId xmlns:a16="http://schemas.microsoft.com/office/drawing/2014/main" val="1036363437"/>
                  </a:ext>
                </a:extLst>
              </a:tr>
              <a:tr h="292132">
                <a:tc>
                  <a:txBody>
                    <a:bodyPr/>
                    <a:lstStyle/>
                    <a:p>
                      <a:r>
                        <a:rPr lang="en-US" sz="1200">
                          <a:latin typeface="Cambria"/>
                          <a:ea typeface="Cambria"/>
                        </a:rPr>
                        <a:t>Saturday</a:t>
                      </a:r>
                    </a:p>
                  </a:txBody>
                  <a:tcPr/>
                </a:tc>
                <a:tc>
                  <a:txBody>
                    <a:bodyPr/>
                    <a:lstStyle/>
                    <a:p>
                      <a:pPr lvl="0">
                        <a:buNone/>
                      </a:pPr>
                      <a:r>
                        <a:rPr lang="en-US" sz="1200">
                          <a:latin typeface="Cambria"/>
                          <a:ea typeface="Cambria"/>
                        </a:rPr>
                        <a:t>-0.94</a:t>
                      </a:r>
                      <a:endParaRPr lang="en-US"/>
                    </a:p>
                  </a:txBody>
                  <a:tcPr/>
                </a:tc>
                <a:tc>
                  <a:txBody>
                    <a:bodyPr/>
                    <a:lstStyle/>
                    <a:p>
                      <a:r>
                        <a:rPr lang="en-US" sz="1200">
                          <a:latin typeface="Cambria"/>
                          <a:ea typeface="Cambria"/>
                        </a:rPr>
                        <a:t>5.19</a:t>
                      </a:r>
                    </a:p>
                  </a:txBody>
                  <a:tcPr/>
                </a:tc>
                <a:extLst>
                  <a:ext uri="{0D108BD9-81ED-4DB2-BD59-A6C34878D82A}">
                    <a16:rowId xmlns:a16="http://schemas.microsoft.com/office/drawing/2014/main" val="2227504922"/>
                  </a:ext>
                </a:extLst>
              </a:tr>
              <a:tr h="292132">
                <a:tc>
                  <a:txBody>
                    <a:bodyPr/>
                    <a:lstStyle/>
                    <a:p>
                      <a:r>
                        <a:rPr lang="en-US" sz="1200">
                          <a:latin typeface="Cambria"/>
                          <a:ea typeface="Cambria"/>
                        </a:rPr>
                        <a:t>Sunday</a:t>
                      </a:r>
                    </a:p>
                  </a:txBody>
                  <a:tcPr/>
                </a:tc>
                <a:tc>
                  <a:txBody>
                    <a:bodyPr/>
                    <a:lstStyle/>
                    <a:p>
                      <a:pPr lvl="0">
                        <a:buNone/>
                      </a:pPr>
                      <a:r>
                        <a:rPr lang="en-US" sz="1200">
                          <a:latin typeface="Cambria"/>
                          <a:ea typeface="Cambria"/>
                        </a:rPr>
                        <a:t>1.55 </a:t>
                      </a:r>
                      <a:endParaRPr lang="en-US"/>
                    </a:p>
                  </a:txBody>
                  <a:tcPr/>
                </a:tc>
                <a:tc>
                  <a:txBody>
                    <a:bodyPr/>
                    <a:lstStyle/>
                    <a:p>
                      <a:r>
                        <a:rPr lang="en-US" sz="1200">
                          <a:latin typeface="Cambria"/>
                          <a:ea typeface="Cambria"/>
                        </a:rPr>
                        <a:t>-1.38</a:t>
                      </a:r>
                    </a:p>
                  </a:txBody>
                  <a:tcPr/>
                </a:tc>
                <a:extLst>
                  <a:ext uri="{0D108BD9-81ED-4DB2-BD59-A6C34878D82A}">
                    <a16:rowId xmlns:a16="http://schemas.microsoft.com/office/drawing/2014/main" val="863695163"/>
                  </a:ext>
                </a:extLst>
              </a:tr>
            </a:tbl>
          </a:graphicData>
        </a:graphic>
      </p:graphicFrame>
      <p:sp>
        <p:nvSpPr>
          <p:cNvPr id="7" name="Slide Number Placeholder 6">
            <a:extLst>
              <a:ext uri="{FF2B5EF4-FFF2-40B4-BE49-F238E27FC236}">
                <a16:creationId xmlns:a16="http://schemas.microsoft.com/office/drawing/2014/main" id="{3A1952EE-941D-3FF7-46FE-338C88C443A4}"/>
              </a:ext>
            </a:extLst>
          </p:cNvPr>
          <p:cNvSpPr>
            <a:spLocks noGrp="1"/>
          </p:cNvSpPr>
          <p:nvPr>
            <p:ph type="sldNum" sz="quarter" idx="17"/>
          </p:nvPr>
        </p:nvSpPr>
        <p:spPr/>
        <p:txBody>
          <a:bodyPr/>
          <a:lstStyle/>
          <a:p>
            <a:fld id="{225705C9-C93A-4611-A575-E7A979D414CC}" type="slidenum">
              <a:rPr lang="en-GB" smtClean="0"/>
              <a:pPr/>
              <a:t>9</a:t>
            </a:fld>
            <a:endParaRPr lang="en-GB"/>
          </a:p>
        </p:txBody>
      </p:sp>
      <p:pic>
        <p:nvPicPr>
          <p:cNvPr id="9" name="Picture 8">
            <a:extLst>
              <a:ext uri="{FF2B5EF4-FFF2-40B4-BE49-F238E27FC236}">
                <a16:creationId xmlns:a16="http://schemas.microsoft.com/office/drawing/2014/main" id="{6239AB7C-70DD-F21E-B8AA-0CEC69B525CD}"/>
              </a:ext>
            </a:extLst>
          </p:cNvPr>
          <p:cNvPicPr>
            <a:picLocks noChangeAspect="1"/>
          </p:cNvPicPr>
          <p:nvPr/>
        </p:nvPicPr>
        <p:blipFill>
          <a:blip r:embed="rId2"/>
          <a:stretch>
            <a:fillRect/>
          </a:stretch>
        </p:blipFill>
        <p:spPr>
          <a:xfrm>
            <a:off x="6396894" y="3602683"/>
            <a:ext cx="5042958" cy="2461500"/>
          </a:xfrm>
          <a:prstGeom prst="rect">
            <a:avLst/>
          </a:prstGeom>
        </p:spPr>
      </p:pic>
      <p:pic>
        <p:nvPicPr>
          <p:cNvPr id="10" name="Picture 9">
            <a:extLst>
              <a:ext uri="{FF2B5EF4-FFF2-40B4-BE49-F238E27FC236}">
                <a16:creationId xmlns:a16="http://schemas.microsoft.com/office/drawing/2014/main" id="{28613E86-FA71-A059-B336-8EAECC4BF97F}"/>
              </a:ext>
            </a:extLst>
          </p:cNvPr>
          <p:cNvPicPr>
            <a:picLocks noChangeAspect="1"/>
          </p:cNvPicPr>
          <p:nvPr/>
        </p:nvPicPr>
        <p:blipFill>
          <a:blip r:embed="rId3"/>
          <a:stretch>
            <a:fillRect/>
          </a:stretch>
        </p:blipFill>
        <p:spPr>
          <a:xfrm>
            <a:off x="6396893" y="937330"/>
            <a:ext cx="4924589" cy="2483694"/>
          </a:xfrm>
          <a:prstGeom prst="rect">
            <a:avLst/>
          </a:prstGeom>
        </p:spPr>
      </p:pic>
      <p:graphicFrame>
        <p:nvGraphicFramePr>
          <p:cNvPr id="5" name="Table 4">
            <a:extLst>
              <a:ext uri="{FF2B5EF4-FFF2-40B4-BE49-F238E27FC236}">
                <a16:creationId xmlns:a16="http://schemas.microsoft.com/office/drawing/2014/main" id="{F91C5EDA-5E6A-59EB-89A2-E4EDD89803E7}"/>
              </a:ext>
            </a:extLst>
          </p:cNvPr>
          <p:cNvGraphicFramePr>
            <a:graphicFrameLocks noGrp="1"/>
          </p:cNvGraphicFramePr>
          <p:nvPr>
            <p:extLst>
              <p:ext uri="{D42A27DB-BD31-4B8C-83A1-F6EECF244321}">
                <p14:modId xmlns:p14="http://schemas.microsoft.com/office/powerpoint/2010/main" val="3249028369"/>
              </p:ext>
            </p:extLst>
          </p:nvPr>
        </p:nvGraphicFramePr>
        <p:xfrm>
          <a:off x="399495" y="1390834"/>
          <a:ext cx="5570032" cy="1596491"/>
        </p:xfrm>
        <a:graphic>
          <a:graphicData uri="http://schemas.openxmlformats.org/drawingml/2006/table">
            <a:tbl>
              <a:tblPr firstRow="1" bandRow="1">
                <a:tableStyleId>{5C22544A-7EE6-4342-B048-85BDC9FD1C3A}</a:tableStyleId>
              </a:tblPr>
              <a:tblGrid>
                <a:gridCol w="1392508">
                  <a:extLst>
                    <a:ext uri="{9D8B030D-6E8A-4147-A177-3AD203B41FA5}">
                      <a16:colId xmlns:a16="http://schemas.microsoft.com/office/drawing/2014/main" val="256988382"/>
                    </a:ext>
                  </a:extLst>
                </a:gridCol>
                <a:gridCol w="1392508">
                  <a:extLst>
                    <a:ext uri="{9D8B030D-6E8A-4147-A177-3AD203B41FA5}">
                      <a16:colId xmlns:a16="http://schemas.microsoft.com/office/drawing/2014/main" val="2049057800"/>
                    </a:ext>
                  </a:extLst>
                </a:gridCol>
                <a:gridCol w="1392508">
                  <a:extLst>
                    <a:ext uri="{9D8B030D-6E8A-4147-A177-3AD203B41FA5}">
                      <a16:colId xmlns:a16="http://schemas.microsoft.com/office/drawing/2014/main" val="3663269397"/>
                    </a:ext>
                  </a:extLst>
                </a:gridCol>
                <a:gridCol w="1392508">
                  <a:extLst>
                    <a:ext uri="{9D8B030D-6E8A-4147-A177-3AD203B41FA5}">
                      <a16:colId xmlns:a16="http://schemas.microsoft.com/office/drawing/2014/main" val="34659111"/>
                    </a:ext>
                  </a:extLst>
                </a:gridCol>
              </a:tblGrid>
              <a:tr h="541421">
                <a:tc>
                  <a:txBody>
                    <a:bodyPr/>
                    <a:lstStyle/>
                    <a:p>
                      <a:endParaRPr lang="en-GB"/>
                    </a:p>
                  </a:txBody>
                  <a:tcPr/>
                </a:tc>
                <a:tc>
                  <a:txBody>
                    <a:bodyPr/>
                    <a:lstStyle/>
                    <a:p>
                      <a:r>
                        <a:rPr lang="en-GB" sz="1400">
                          <a:latin typeface="Cambria"/>
                          <a:ea typeface="Cambria"/>
                        </a:rPr>
                        <a:t>Sharpe Ratio</a:t>
                      </a:r>
                    </a:p>
                  </a:txBody>
                  <a:tcPr/>
                </a:tc>
                <a:tc>
                  <a:txBody>
                    <a:bodyPr/>
                    <a:lstStyle/>
                    <a:p>
                      <a:pPr lvl="0">
                        <a:buNone/>
                      </a:pPr>
                      <a:r>
                        <a:rPr lang="en-GB" sz="1400">
                          <a:latin typeface="Cambria"/>
                          <a:ea typeface="Cambria"/>
                        </a:rPr>
                        <a:t>Average PNL per trade ($)</a:t>
                      </a:r>
                    </a:p>
                  </a:txBody>
                  <a:tcPr/>
                </a:tc>
                <a:tc>
                  <a:txBody>
                    <a:bodyPr/>
                    <a:lstStyle/>
                    <a:p>
                      <a:r>
                        <a:rPr lang="en-GB" sz="1400">
                          <a:latin typeface="Cambria"/>
                          <a:ea typeface="Cambria"/>
                        </a:rPr>
                        <a:t>Win Rate</a:t>
                      </a:r>
                    </a:p>
                  </a:txBody>
                  <a:tcPr/>
                </a:tc>
                <a:extLst>
                  <a:ext uri="{0D108BD9-81ED-4DB2-BD59-A6C34878D82A}">
                    <a16:rowId xmlns:a16="http://schemas.microsoft.com/office/drawing/2014/main" val="3040884156"/>
                  </a:ext>
                </a:extLst>
              </a:tr>
              <a:tr h="527535">
                <a:tc>
                  <a:txBody>
                    <a:bodyPr/>
                    <a:lstStyle/>
                    <a:p>
                      <a:r>
                        <a:rPr lang="en-GB" sz="1400"/>
                        <a:t>Long Strategy</a:t>
                      </a:r>
                    </a:p>
                  </a:txBody>
                  <a:tcPr/>
                </a:tc>
                <a:tc>
                  <a:txBody>
                    <a:bodyPr/>
                    <a:lstStyle/>
                    <a:p>
                      <a:r>
                        <a:rPr lang="en-GB" sz="1400"/>
                        <a:t>0.53</a:t>
                      </a:r>
                    </a:p>
                  </a:txBody>
                  <a:tcPr/>
                </a:tc>
                <a:tc>
                  <a:txBody>
                    <a:bodyPr/>
                    <a:lstStyle/>
                    <a:p>
                      <a:pPr lvl="0">
                        <a:buNone/>
                      </a:pPr>
                      <a:r>
                        <a:rPr lang="en-GB" sz="1400"/>
                        <a:t>116</a:t>
                      </a:r>
                    </a:p>
                  </a:txBody>
                  <a:tcPr/>
                </a:tc>
                <a:tc>
                  <a:txBody>
                    <a:bodyPr/>
                    <a:lstStyle/>
                    <a:p>
                      <a:r>
                        <a:rPr lang="en-GB" sz="1400"/>
                        <a:t>37%</a:t>
                      </a:r>
                    </a:p>
                  </a:txBody>
                  <a:tcPr/>
                </a:tc>
                <a:extLst>
                  <a:ext uri="{0D108BD9-81ED-4DB2-BD59-A6C34878D82A}">
                    <a16:rowId xmlns:a16="http://schemas.microsoft.com/office/drawing/2014/main" val="1063713655"/>
                  </a:ext>
                </a:extLst>
              </a:tr>
              <a:tr h="527535">
                <a:tc>
                  <a:txBody>
                    <a:bodyPr/>
                    <a:lstStyle/>
                    <a:p>
                      <a:r>
                        <a:rPr lang="en-GB" sz="1400"/>
                        <a:t>Short Strategy</a:t>
                      </a:r>
                    </a:p>
                  </a:txBody>
                  <a:tcPr/>
                </a:tc>
                <a:tc>
                  <a:txBody>
                    <a:bodyPr/>
                    <a:lstStyle/>
                    <a:p>
                      <a:r>
                        <a:rPr lang="en-GB" sz="1400"/>
                        <a:t>0.47</a:t>
                      </a:r>
                    </a:p>
                  </a:txBody>
                  <a:tcPr/>
                </a:tc>
                <a:tc>
                  <a:txBody>
                    <a:bodyPr/>
                    <a:lstStyle/>
                    <a:p>
                      <a:pPr lvl="0">
                        <a:buNone/>
                      </a:pPr>
                      <a:r>
                        <a:rPr lang="en-GB" sz="1400"/>
                        <a:t>82</a:t>
                      </a:r>
                    </a:p>
                  </a:txBody>
                  <a:tcPr/>
                </a:tc>
                <a:tc>
                  <a:txBody>
                    <a:bodyPr/>
                    <a:lstStyle/>
                    <a:p>
                      <a:r>
                        <a:rPr lang="en-GB" sz="1400"/>
                        <a:t>62%</a:t>
                      </a:r>
                    </a:p>
                  </a:txBody>
                  <a:tcPr/>
                </a:tc>
                <a:extLst>
                  <a:ext uri="{0D108BD9-81ED-4DB2-BD59-A6C34878D82A}">
                    <a16:rowId xmlns:a16="http://schemas.microsoft.com/office/drawing/2014/main" val="3209655125"/>
                  </a:ext>
                </a:extLst>
              </a:tr>
            </a:tbl>
          </a:graphicData>
        </a:graphic>
      </p:graphicFrame>
    </p:spTree>
    <p:extLst>
      <p:ext uri="{BB962C8B-B14F-4D97-AF65-F5344CB8AC3E}">
        <p14:creationId xmlns:p14="http://schemas.microsoft.com/office/powerpoint/2010/main" val="3842879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25258-0A29-B060-3911-A6756E81D3C2}"/>
              </a:ext>
            </a:extLst>
          </p:cNvPr>
          <p:cNvSpPr>
            <a:spLocks noGrp="1"/>
          </p:cNvSpPr>
          <p:nvPr>
            <p:ph type="title"/>
          </p:nvPr>
        </p:nvSpPr>
        <p:spPr/>
        <p:txBody>
          <a:bodyPr/>
          <a:lstStyle/>
          <a:p>
            <a:r>
              <a:rPr lang="en-GB">
                <a:latin typeface="Cambria"/>
                <a:ea typeface="Cambria"/>
              </a:rPr>
              <a:t>Strategy 2 Results</a:t>
            </a:r>
          </a:p>
        </p:txBody>
      </p:sp>
      <p:pic>
        <p:nvPicPr>
          <p:cNvPr id="5" name="Content Placeholder 4" descr="A graph of blue and orange lines&#10;&#10;AI-generated content may be incorrect.">
            <a:extLst>
              <a:ext uri="{FF2B5EF4-FFF2-40B4-BE49-F238E27FC236}">
                <a16:creationId xmlns:a16="http://schemas.microsoft.com/office/drawing/2014/main" id="{D74B34BA-7039-FCD9-8D40-4467EED46923}"/>
              </a:ext>
            </a:extLst>
          </p:cNvPr>
          <p:cNvPicPr>
            <a:picLocks noGrp="1" noChangeAspect="1"/>
          </p:cNvPicPr>
          <p:nvPr>
            <p:ph idx="1"/>
          </p:nvPr>
        </p:nvPicPr>
        <p:blipFill>
          <a:blip r:embed="rId2"/>
          <a:stretch>
            <a:fillRect/>
          </a:stretch>
        </p:blipFill>
        <p:spPr>
          <a:xfrm>
            <a:off x="6239754" y="1576137"/>
            <a:ext cx="5497723" cy="2724519"/>
          </a:xfrm>
          <a:prstGeom prst="rect">
            <a:avLst/>
          </a:prstGeom>
        </p:spPr>
      </p:pic>
      <p:sp>
        <p:nvSpPr>
          <p:cNvPr id="7" name="Slide Number Placeholder 6">
            <a:extLst>
              <a:ext uri="{FF2B5EF4-FFF2-40B4-BE49-F238E27FC236}">
                <a16:creationId xmlns:a16="http://schemas.microsoft.com/office/drawing/2014/main" id="{DECF38E6-09C3-0B30-B802-AE1E76758029}"/>
              </a:ext>
            </a:extLst>
          </p:cNvPr>
          <p:cNvSpPr>
            <a:spLocks noGrp="1"/>
          </p:cNvSpPr>
          <p:nvPr>
            <p:ph type="sldNum" sz="quarter" idx="17"/>
          </p:nvPr>
        </p:nvSpPr>
        <p:spPr/>
        <p:txBody>
          <a:bodyPr/>
          <a:lstStyle/>
          <a:p>
            <a:fld id="{225705C9-C93A-4611-A575-E7A979D414CC}" type="slidenum">
              <a:rPr lang="en-GB" smtClean="0"/>
              <a:pPr/>
              <a:t>10</a:t>
            </a:fld>
            <a:endParaRPr lang="en-GB"/>
          </a:p>
        </p:txBody>
      </p:sp>
      <p:graphicFrame>
        <p:nvGraphicFramePr>
          <p:cNvPr id="9" name="Table 8">
            <a:extLst>
              <a:ext uri="{FF2B5EF4-FFF2-40B4-BE49-F238E27FC236}">
                <a16:creationId xmlns:a16="http://schemas.microsoft.com/office/drawing/2014/main" id="{5EF65FD2-77E8-A5CE-F13B-A8BE46606806}"/>
              </a:ext>
            </a:extLst>
          </p:cNvPr>
          <p:cNvGraphicFramePr>
            <a:graphicFrameLocks noGrp="1"/>
          </p:cNvGraphicFramePr>
          <p:nvPr>
            <p:extLst>
              <p:ext uri="{D42A27DB-BD31-4B8C-83A1-F6EECF244321}">
                <p14:modId xmlns:p14="http://schemas.microsoft.com/office/powerpoint/2010/main" val="1101203964"/>
              </p:ext>
            </p:extLst>
          </p:nvPr>
        </p:nvGraphicFramePr>
        <p:xfrm>
          <a:off x="425743" y="1310678"/>
          <a:ext cx="5570028" cy="1588140"/>
        </p:xfrm>
        <a:graphic>
          <a:graphicData uri="http://schemas.openxmlformats.org/drawingml/2006/table">
            <a:tbl>
              <a:tblPr firstRow="1" bandRow="1">
                <a:tableStyleId>{5C22544A-7EE6-4342-B048-85BDC9FD1C3A}</a:tableStyleId>
              </a:tblPr>
              <a:tblGrid>
                <a:gridCol w="1392507">
                  <a:extLst>
                    <a:ext uri="{9D8B030D-6E8A-4147-A177-3AD203B41FA5}">
                      <a16:colId xmlns:a16="http://schemas.microsoft.com/office/drawing/2014/main" val="3366727072"/>
                    </a:ext>
                  </a:extLst>
                </a:gridCol>
                <a:gridCol w="1392507">
                  <a:extLst>
                    <a:ext uri="{9D8B030D-6E8A-4147-A177-3AD203B41FA5}">
                      <a16:colId xmlns:a16="http://schemas.microsoft.com/office/drawing/2014/main" val="3147756538"/>
                    </a:ext>
                  </a:extLst>
                </a:gridCol>
                <a:gridCol w="1392507">
                  <a:extLst>
                    <a:ext uri="{9D8B030D-6E8A-4147-A177-3AD203B41FA5}">
                      <a16:colId xmlns:a16="http://schemas.microsoft.com/office/drawing/2014/main" val="2919527885"/>
                    </a:ext>
                  </a:extLst>
                </a:gridCol>
                <a:gridCol w="1392507">
                  <a:extLst>
                    <a:ext uri="{9D8B030D-6E8A-4147-A177-3AD203B41FA5}">
                      <a16:colId xmlns:a16="http://schemas.microsoft.com/office/drawing/2014/main" val="3214409092"/>
                    </a:ext>
                  </a:extLst>
                </a:gridCol>
              </a:tblGrid>
              <a:tr h="529380">
                <a:tc>
                  <a:txBody>
                    <a:bodyPr/>
                    <a:lstStyle/>
                    <a:p>
                      <a:pPr fontAlgn="t">
                        <a:buNone/>
                      </a:pPr>
                      <a:endParaRPr lang="en-GB">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30156" cap="flat" cmpd="sng" algn="ctr">
                      <a:solidFill>
                        <a:srgbClr val="FFFFFF"/>
                      </a:solidFill>
                      <a:prstDash val="solid"/>
                      <a:round/>
                      <a:headEnd type="none" w="med" len="med"/>
                      <a:tailEnd type="none" w="med" len="med"/>
                    </a:lnB>
                  </a:tcPr>
                </a:tc>
                <a:tc>
                  <a:txBody>
                    <a:bodyPr/>
                    <a:lstStyle/>
                    <a:p>
                      <a:pPr algn="l" rtl="0" fontAlgn="base">
                        <a:lnSpc>
                          <a:spcPts val="1350"/>
                        </a:lnSpc>
                        <a:buNone/>
                      </a:pPr>
                      <a:r>
                        <a:rPr lang="en-GB" sz="1400" b="1" i="0">
                          <a:solidFill>
                            <a:srgbClr val="FFFFFF"/>
                          </a:solidFill>
                          <a:effectLst/>
                          <a:latin typeface="Cambria" panose="02040503050406030204" pitchFamily="18" charset="0"/>
                        </a:rPr>
                        <a:t>Sharpe Ratio</a:t>
                      </a:r>
                      <a:endParaRPr lang="en-US" b="1" i="0">
                        <a:solidFill>
                          <a:srgbClr val="FFFFFF"/>
                        </a:solidFill>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30156" cap="flat" cmpd="sng" algn="ctr">
                      <a:solidFill>
                        <a:srgbClr val="FFFFFF"/>
                      </a:solidFill>
                      <a:prstDash val="solid"/>
                      <a:round/>
                      <a:headEnd type="none" w="med" len="med"/>
                      <a:tailEnd type="none" w="med" len="med"/>
                    </a:lnB>
                  </a:tcPr>
                </a:tc>
                <a:tc>
                  <a:txBody>
                    <a:bodyPr/>
                    <a:lstStyle/>
                    <a:p>
                      <a:pPr algn="l" rtl="0" fontAlgn="base">
                        <a:lnSpc>
                          <a:spcPts val="1350"/>
                        </a:lnSpc>
                        <a:buNone/>
                      </a:pPr>
                      <a:r>
                        <a:rPr lang="en-GB" sz="1400" b="1" i="0">
                          <a:solidFill>
                            <a:srgbClr val="FFFFFF"/>
                          </a:solidFill>
                          <a:effectLst/>
                          <a:latin typeface="Cambria"/>
                        </a:rPr>
                        <a:t>Average PNL per trade ($)</a:t>
                      </a:r>
                      <a:endParaRPr lang="en-US" b="1" i="0">
                        <a:solidFill>
                          <a:srgbClr val="FFFFFF"/>
                        </a:solidFill>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30156" cap="flat" cmpd="sng" algn="ctr">
                      <a:solidFill>
                        <a:srgbClr val="FFFFFF"/>
                      </a:solidFill>
                      <a:prstDash val="solid"/>
                      <a:round/>
                      <a:headEnd type="none" w="med" len="med"/>
                      <a:tailEnd type="none" w="med" len="med"/>
                    </a:lnB>
                  </a:tcPr>
                </a:tc>
                <a:tc>
                  <a:txBody>
                    <a:bodyPr/>
                    <a:lstStyle/>
                    <a:p>
                      <a:pPr algn="l" rtl="0" fontAlgn="base">
                        <a:lnSpc>
                          <a:spcPts val="1350"/>
                        </a:lnSpc>
                        <a:buNone/>
                      </a:pPr>
                      <a:r>
                        <a:rPr lang="en-GB" sz="1400" b="1" i="0">
                          <a:solidFill>
                            <a:srgbClr val="FFFFFF"/>
                          </a:solidFill>
                          <a:effectLst/>
                          <a:latin typeface="Cambria" panose="02040503050406030204" pitchFamily="18" charset="0"/>
                        </a:rPr>
                        <a:t>Win Rate</a:t>
                      </a:r>
                      <a:endParaRPr lang="en-US" b="1" i="0">
                        <a:solidFill>
                          <a:srgbClr val="FFFFFF"/>
                        </a:solidFill>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30156"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580380117"/>
                  </a:ext>
                </a:extLst>
              </a:tr>
              <a:tr h="529380">
                <a:tc>
                  <a:txBody>
                    <a:bodyPr/>
                    <a:lstStyle/>
                    <a:p>
                      <a:pPr algn="l" rtl="0" fontAlgn="base">
                        <a:lnSpc>
                          <a:spcPts val="1350"/>
                        </a:lnSpc>
                        <a:buNone/>
                      </a:pPr>
                      <a:r>
                        <a:rPr lang="en-GB" sz="1400" b="0" i="0">
                          <a:solidFill>
                            <a:srgbClr val="262626"/>
                          </a:solidFill>
                          <a:effectLst/>
                          <a:latin typeface="Myriad Set Pro"/>
                        </a:rPr>
                        <a:t>Long Strategy</a:t>
                      </a:r>
                      <a:endParaRPr lang="en-US" b="0" i="0">
                        <a:solidFill>
                          <a:srgbClr val="262626"/>
                        </a:solidFill>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30156"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350"/>
                        </a:lnSpc>
                        <a:buNone/>
                      </a:pPr>
                      <a:r>
                        <a:rPr lang="en-GB" sz="1400" b="0" i="0">
                          <a:solidFill>
                            <a:srgbClr val="262626"/>
                          </a:solidFill>
                          <a:effectLst/>
                          <a:latin typeface="Myriad Set Pro"/>
                        </a:rPr>
                        <a:t>0.852</a:t>
                      </a: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30156"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350"/>
                        </a:lnSpc>
                        <a:buNone/>
                      </a:pPr>
                      <a:r>
                        <a:rPr lang="en-GB" sz="1400" b="0" i="0">
                          <a:solidFill>
                            <a:srgbClr val="262626"/>
                          </a:solidFill>
                          <a:effectLst/>
                          <a:latin typeface="Myriad Set Pro"/>
                        </a:rPr>
                        <a:t>119</a:t>
                      </a:r>
                      <a:endParaRPr lang="en-US" b="0" i="0">
                        <a:solidFill>
                          <a:srgbClr val="262626"/>
                        </a:solidFill>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30156"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350"/>
                        </a:lnSpc>
                        <a:buNone/>
                      </a:pPr>
                      <a:r>
                        <a:rPr lang="en-GB" sz="1400" b="0" i="0">
                          <a:solidFill>
                            <a:srgbClr val="262626"/>
                          </a:solidFill>
                          <a:effectLst/>
                          <a:latin typeface="Myriad Set Pro"/>
                        </a:rPr>
                        <a:t>42%</a:t>
                      </a:r>
                      <a:endParaRPr lang="en-US" b="0" i="0">
                        <a:solidFill>
                          <a:srgbClr val="262626"/>
                        </a:solidFill>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30156"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823928383"/>
                  </a:ext>
                </a:extLst>
              </a:tr>
              <a:tr h="529380">
                <a:tc>
                  <a:txBody>
                    <a:bodyPr/>
                    <a:lstStyle/>
                    <a:p>
                      <a:pPr algn="l" rtl="0" fontAlgn="base">
                        <a:lnSpc>
                          <a:spcPts val="1350"/>
                        </a:lnSpc>
                        <a:buNone/>
                      </a:pPr>
                      <a:r>
                        <a:rPr lang="en-GB" sz="1400" b="0" i="0">
                          <a:solidFill>
                            <a:srgbClr val="262626"/>
                          </a:solidFill>
                          <a:effectLst/>
                          <a:latin typeface="Myriad Set Pro"/>
                        </a:rPr>
                        <a:t>Short Strategy</a:t>
                      </a:r>
                      <a:endParaRPr lang="en-US" b="0" i="0">
                        <a:solidFill>
                          <a:srgbClr val="262626"/>
                        </a:solidFill>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350"/>
                        </a:lnSpc>
                        <a:buNone/>
                      </a:pPr>
                      <a:r>
                        <a:rPr lang="en-GB" sz="1400" b="0" i="0">
                          <a:solidFill>
                            <a:srgbClr val="262626"/>
                          </a:solidFill>
                          <a:effectLst/>
                          <a:latin typeface="Myriad Set Pro"/>
                        </a:rPr>
                        <a:t>1.18</a:t>
                      </a: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350"/>
                        </a:lnSpc>
                        <a:buNone/>
                      </a:pPr>
                      <a:r>
                        <a:rPr lang="en-GB" sz="1400" b="0" i="0">
                          <a:solidFill>
                            <a:srgbClr val="262626"/>
                          </a:solidFill>
                          <a:effectLst/>
                          <a:latin typeface="Myriad Set Pro"/>
                        </a:rPr>
                        <a:t>234</a:t>
                      </a: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350"/>
                        </a:lnSpc>
                        <a:buNone/>
                      </a:pPr>
                      <a:r>
                        <a:rPr lang="en-GB" sz="1400" b="0" i="0">
                          <a:solidFill>
                            <a:srgbClr val="262626"/>
                          </a:solidFill>
                          <a:effectLst/>
                          <a:latin typeface="Myriad Set Pro"/>
                        </a:rPr>
                        <a:t>70%</a:t>
                      </a:r>
                      <a:endParaRPr lang="en-US" b="0" i="0">
                        <a:solidFill>
                          <a:srgbClr val="262626"/>
                        </a:solidFill>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6011269"/>
                  </a:ext>
                </a:extLst>
              </a:tr>
            </a:tbl>
          </a:graphicData>
        </a:graphic>
      </p:graphicFrame>
      <p:graphicFrame>
        <p:nvGraphicFramePr>
          <p:cNvPr id="11" name="Table 10">
            <a:extLst>
              <a:ext uri="{FF2B5EF4-FFF2-40B4-BE49-F238E27FC236}">
                <a16:creationId xmlns:a16="http://schemas.microsoft.com/office/drawing/2014/main" id="{86B393FE-656D-DA83-9221-9DD6A4F854B1}"/>
              </a:ext>
            </a:extLst>
          </p:cNvPr>
          <p:cNvGraphicFramePr>
            <a:graphicFrameLocks noGrp="1"/>
          </p:cNvGraphicFramePr>
          <p:nvPr>
            <p:extLst>
              <p:ext uri="{D42A27DB-BD31-4B8C-83A1-F6EECF244321}">
                <p14:modId xmlns:p14="http://schemas.microsoft.com/office/powerpoint/2010/main" val="4005858730"/>
              </p:ext>
            </p:extLst>
          </p:nvPr>
        </p:nvGraphicFramePr>
        <p:xfrm>
          <a:off x="429117" y="3429063"/>
          <a:ext cx="5364473" cy="2595265"/>
        </p:xfrm>
        <a:graphic>
          <a:graphicData uri="http://schemas.openxmlformats.org/drawingml/2006/table">
            <a:tbl>
              <a:tblPr firstRow="1" bandRow="1">
                <a:tableStyleId>{5C22544A-7EE6-4342-B048-85BDC9FD1C3A}</a:tableStyleId>
              </a:tblPr>
              <a:tblGrid>
                <a:gridCol w="1342350">
                  <a:extLst>
                    <a:ext uri="{9D8B030D-6E8A-4147-A177-3AD203B41FA5}">
                      <a16:colId xmlns:a16="http://schemas.microsoft.com/office/drawing/2014/main" val="1995853230"/>
                    </a:ext>
                  </a:extLst>
                </a:gridCol>
                <a:gridCol w="2035696">
                  <a:extLst>
                    <a:ext uri="{9D8B030D-6E8A-4147-A177-3AD203B41FA5}">
                      <a16:colId xmlns:a16="http://schemas.microsoft.com/office/drawing/2014/main" val="1112582275"/>
                    </a:ext>
                  </a:extLst>
                </a:gridCol>
                <a:gridCol w="1986427">
                  <a:extLst>
                    <a:ext uri="{9D8B030D-6E8A-4147-A177-3AD203B41FA5}">
                      <a16:colId xmlns:a16="http://schemas.microsoft.com/office/drawing/2014/main" val="2439495625"/>
                    </a:ext>
                  </a:extLst>
                </a:gridCol>
              </a:tblGrid>
              <a:tr h="557033">
                <a:tc>
                  <a:txBody>
                    <a:bodyPr/>
                    <a:lstStyle/>
                    <a:p>
                      <a:pPr algn="l" rtl="0" fontAlgn="base">
                        <a:lnSpc>
                          <a:spcPts val="1350"/>
                        </a:lnSpc>
                        <a:buNone/>
                      </a:pPr>
                      <a:r>
                        <a:rPr lang="en-US" sz="1400" b="1" i="0">
                          <a:solidFill>
                            <a:srgbClr val="FFFFFF"/>
                          </a:solidFill>
                          <a:effectLst/>
                          <a:latin typeface="Cambria" panose="02040503050406030204" pitchFamily="18" charset="0"/>
                        </a:rPr>
                        <a:t>Day of Week</a:t>
                      </a:r>
                      <a:endParaRPr lang="en-US" b="1" i="0">
                        <a:solidFill>
                          <a:srgbClr val="FFFFFF"/>
                        </a:solidFill>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30156" cap="flat" cmpd="sng" algn="ctr">
                      <a:solidFill>
                        <a:srgbClr val="FFFFFF"/>
                      </a:solidFill>
                      <a:prstDash val="solid"/>
                      <a:round/>
                      <a:headEnd type="none" w="med" len="med"/>
                      <a:tailEnd type="none" w="med" len="med"/>
                    </a:lnB>
                  </a:tcPr>
                </a:tc>
                <a:tc>
                  <a:txBody>
                    <a:bodyPr/>
                    <a:lstStyle/>
                    <a:p>
                      <a:pPr algn="l" rtl="0" fontAlgn="base">
                        <a:lnSpc>
                          <a:spcPts val="1350"/>
                        </a:lnSpc>
                        <a:buNone/>
                      </a:pPr>
                      <a:r>
                        <a:rPr lang="en-US" sz="1400" b="1" i="0">
                          <a:solidFill>
                            <a:srgbClr val="FFFFFF"/>
                          </a:solidFill>
                          <a:effectLst/>
                          <a:latin typeface="Cambria" panose="02040503050406030204" pitchFamily="18" charset="0"/>
                        </a:rPr>
                        <a:t>Sharpe Ratio (Long Strategy)</a:t>
                      </a:r>
                      <a:endParaRPr lang="en-US" b="1" i="0">
                        <a:solidFill>
                          <a:srgbClr val="FFFFFF"/>
                        </a:solidFill>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30156" cap="flat" cmpd="sng" algn="ctr">
                      <a:solidFill>
                        <a:srgbClr val="FFFFFF"/>
                      </a:solidFill>
                      <a:prstDash val="solid"/>
                      <a:round/>
                      <a:headEnd type="none" w="med" len="med"/>
                      <a:tailEnd type="none" w="med" len="med"/>
                    </a:lnB>
                  </a:tcPr>
                </a:tc>
                <a:tc>
                  <a:txBody>
                    <a:bodyPr/>
                    <a:lstStyle/>
                    <a:p>
                      <a:pPr algn="l" rtl="0" fontAlgn="base">
                        <a:lnSpc>
                          <a:spcPts val="1350"/>
                        </a:lnSpc>
                        <a:buNone/>
                      </a:pPr>
                      <a:r>
                        <a:rPr lang="en-US" sz="1400" b="1" i="0">
                          <a:solidFill>
                            <a:srgbClr val="FFFFFF"/>
                          </a:solidFill>
                          <a:effectLst/>
                          <a:latin typeface="Cambria" panose="02040503050406030204" pitchFamily="18" charset="0"/>
                        </a:rPr>
                        <a:t>Sharpe Ratio (Short Strategy)</a:t>
                      </a:r>
                      <a:endParaRPr lang="en-US" b="1" i="0">
                        <a:solidFill>
                          <a:srgbClr val="FFFFFF"/>
                        </a:solidFill>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30156"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713632848"/>
                  </a:ext>
                </a:extLst>
              </a:tr>
              <a:tr h="291176">
                <a:tc>
                  <a:txBody>
                    <a:bodyPr/>
                    <a:lstStyle/>
                    <a:p>
                      <a:pPr algn="l" rtl="0" fontAlgn="base">
                        <a:lnSpc>
                          <a:spcPts val="1125"/>
                        </a:lnSpc>
                        <a:buNone/>
                      </a:pPr>
                      <a:r>
                        <a:rPr lang="en-US" sz="1200" b="0" i="0">
                          <a:solidFill>
                            <a:srgbClr val="262626"/>
                          </a:solidFill>
                          <a:effectLst/>
                          <a:latin typeface="Cambria" panose="02040503050406030204" pitchFamily="18" charset="0"/>
                        </a:rPr>
                        <a:t>Monday</a:t>
                      </a:r>
                      <a:endParaRPr lang="en-US" b="0" i="0">
                        <a:solidFill>
                          <a:srgbClr val="262626"/>
                        </a:solidFill>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30156"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125"/>
                        </a:lnSpc>
                        <a:buNone/>
                      </a:pPr>
                      <a:r>
                        <a:rPr lang="en-US" sz="1200" b="0" i="0">
                          <a:solidFill>
                            <a:srgbClr val="262626"/>
                          </a:solidFill>
                          <a:effectLst/>
                          <a:latin typeface="Cambria"/>
                        </a:rPr>
                        <a:t>0.47</a:t>
                      </a: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30156"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125"/>
                        </a:lnSpc>
                        <a:buNone/>
                      </a:pPr>
                      <a:r>
                        <a:rPr lang="en-US" sz="1200" b="0" i="0">
                          <a:solidFill>
                            <a:srgbClr val="262626"/>
                          </a:solidFill>
                          <a:effectLst/>
                          <a:latin typeface="Cambria"/>
                        </a:rPr>
                        <a:t>2.72</a:t>
                      </a: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30156"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987571822"/>
                  </a:ext>
                </a:extLst>
              </a:tr>
              <a:tr h="291176">
                <a:tc>
                  <a:txBody>
                    <a:bodyPr/>
                    <a:lstStyle/>
                    <a:p>
                      <a:pPr algn="l" rtl="0" fontAlgn="base">
                        <a:lnSpc>
                          <a:spcPts val="1125"/>
                        </a:lnSpc>
                        <a:buNone/>
                      </a:pPr>
                      <a:r>
                        <a:rPr lang="en-US" sz="1200" b="0" i="0">
                          <a:solidFill>
                            <a:srgbClr val="262626"/>
                          </a:solidFill>
                          <a:effectLst/>
                          <a:latin typeface="Cambria" panose="02040503050406030204" pitchFamily="18" charset="0"/>
                        </a:rPr>
                        <a:t>Tuesday</a:t>
                      </a:r>
                      <a:endParaRPr lang="en-US" b="0" i="0">
                        <a:solidFill>
                          <a:srgbClr val="262626"/>
                        </a:solidFill>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125"/>
                        </a:lnSpc>
                        <a:buNone/>
                      </a:pPr>
                      <a:r>
                        <a:rPr lang="en-US" sz="1200" b="0" i="0">
                          <a:solidFill>
                            <a:srgbClr val="262626"/>
                          </a:solidFill>
                          <a:effectLst/>
                          <a:latin typeface="Cambria"/>
                        </a:rPr>
                        <a:t>-1.62</a:t>
                      </a: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125"/>
                        </a:lnSpc>
                        <a:buNone/>
                      </a:pPr>
                      <a:r>
                        <a:rPr lang="en-US" sz="1200" b="0" i="0">
                          <a:solidFill>
                            <a:srgbClr val="262626"/>
                          </a:solidFill>
                          <a:effectLst/>
                          <a:latin typeface="Cambria"/>
                        </a:rPr>
                        <a:t>5.62</a:t>
                      </a: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055132581"/>
                  </a:ext>
                </a:extLst>
              </a:tr>
              <a:tr h="291176">
                <a:tc>
                  <a:txBody>
                    <a:bodyPr/>
                    <a:lstStyle/>
                    <a:p>
                      <a:pPr algn="l" rtl="0" fontAlgn="base">
                        <a:lnSpc>
                          <a:spcPts val="1125"/>
                        </a:lnSpc>
                        <a:buNone/>
                      </a:pPr>
                      <a:r>
                        <a:rPr lang="en-US" sz="1200" b="0" i="0">
                          <a:solidFill>
                            <a:srgbClr val="262626"/>
                          </a:solidFill>
                          <a:effectLst/>
                          <a:latin typeface="Cambria" panose="02040503050406030204" pitchFamily="18" charset="0"/>
                        </a:rPr>
                        <a:t>Wednesday</a:t>
                      </a:r>
                      <a:endParaRPr lang="en-US" b="0" i="0">
                        <a:solidFill>
                          <a:srgbClr val="262626"/>
                        </a:solidFill>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125"/>
                        </a:lnSpc>
                        <a:buNone/>
                      </a:pPr>
                      <a:r>
                        <a:rPr lang="en-US" sz="1200" b="0" i="0">
                          <a:solidFill>
                            <a:srgbClr val="262626"/>
                          </a:solidFill>
                          <a:effectLst/>
                          <a:latin typeface="Cambria"/>
                        </a:rPr>
                        <a:t>0.42</a:t>
                      </a: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125"/>
                        </a:lnSpc>
                        <a:buNone/>
                      </a:pPr>
                      <a:r>
                        <a:rPr lang="en-US" sz="1200" b="0" i="0">
                          <a:solidFill>
                            <a:srgbClr val="262626"/>
                          </a:solidFill>
                          <a:effectLst/>
                          <a:latin typeface="Cambria"/>
                        </a:rPr>
                        <a:t>1.76</a:t>
                      </a: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276935359"/>
                  </a:ext>
                </a:extLst>
              </a:tr>
              <a:tr h="291176">
                <a:tc>
                  <a:txBody>
                    <a:bodyPr/>
                    <a:lstStyle/>
                    <a:p>
                      <a:pPr algn="l" rtl="0" fontAlgn="base">
                        <a:lnSpc>
                          <a:spcPts val="1125"/>
                        </a:lnSpc>
                        <a:buNone/>
                      </a:pPr>
                      <a:r>
                        <a:rPr lang="en-US" sz="1200" b="0" i="0">
                          <a:solidFill>
                            <a:srgbClr val="262626"/>
                          </a:solidFill>
                          <a:effectLst/>
                          <a:latin typeface="Cambria" panose="02040503050406030204" pitchFamily="18" charset="0"/>
                        </a:rPr>
                        <a:t>Thursday</a:t>
                      </a:r>
                      <a:endParaRPr lang="en-US" b="0" i="0">
                        <a:solidFill>
                          <a:srgbClr val="262626"/>
                        </a:solidFill>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125"/>
                        </a:lnSpc>
                        <a:buNone/>
                      </a:pPr>
                      <a:r>
                        <a:rPr lang="en-US" sz="1200" b="0" i="0">
                          <a:solidFill>
                            <a:srgbClr val="262626"/>
                          </a:solidFill>
                          <a:effectLst/>
                          <a:latin typeface="Cambria"/>
                        </a:rPr>
                        <a:t>1.42</a:t>
                      </a: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125"/>
                        </a:lnSpc>
                        <a:buNone/>
                      </a:pPr>
                      <a:r>
                        <a:rPr lang="en-US" sz="1200" b="0" i="0">
                          <a:solidFill>
                            <a:srgbClr val="262626"/>
                          </a:solidFill>
                          <a:effectLst/>
                          <a:latin typeface="Cambria"/>
                        </a:rPr>
                        <a:t>-0.74</a:t>
                      </a: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804942777"/>
                  </a:ext>
                </a:extLst>
              </a:tr>
              <a:tr h="291176">
                <a:tc>
                  <a:txBody>
                    <a:bodyPr/>
                    <a:lstStyle/>
                    <a:p>
                      <a:pPr algn="l" rtl="0" fontAlgn="base">
                        <a:lnSpc>
                          <a:spcPts val="1125"/>
                        </a:lnSpc>
                        <a:buNone/>
                      </a:pPr>
                      <a:r>
                        <a:rPr lang="en-US" sz="1200" b="0" i="0">
                          <a:solidFill>
                            <a:srgbClr val="262626"/>
                          </a:solidFill>
                          <a:effectLst/>
                          <a:latin typeface="Cambria" panose="02040503050406030204" pitchFamily="18" charset="0"/>
                        </a:rPr>
                        <a:t>Friday</a:t>
                      </a:r>
                      <a:endParaRPr lang="en-US" b="0" i="0">
                        <a:solidFill>
                          <a:srgbClr val="262626"/>
                        </a:solidFill>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125"/>
                        </a:lnSpc>
                        <a:buNone/>
                      </a:pPr>
                      <a:r>
                        <a:rPr lang="en-US" sz="1200" b="0" i="0">
                          <a:solidFill>
                            <a:srgbClr val="262626"/>
                          </a:solidFill>
                          <a:effectLst/>
                          <a:latin typeface="Cambria"/>
                        </a:rPr>
                        <a:t>0.10</a:t>
                      </a: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125"/>
                        </a:lnSpc>
                        <a:buNone/>
                      </a:pPr>
                      <a:r>
                        <a:rPr lang="en-US" sz="1200" b="0" i="0">
                          <a:solidFill>
                            <a:srgbClr val="262626"/>
                          </a:solidFill>
                          <a:effectLst/>
                          <a:latin typeface="Cambria"/>
                        </a:rPr>
                        <a:t>1.92</a:t>
                      </a: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174003734"/>
                  </a:ext>
                </a:extLst>
              </a:tr>
              <a:tr h="291176">
                <a:tc>
                  <a:txBody>
                    <a:bodyPr/>
                    <a:lstStyle/>
                    <a:p>
                      <a:pPr algn="l" rtl="0" fontAlgn="base">
                        <a:lnSpc>
                          <a:spcPts val="1125"/>
                        </a:lnSpc>
                        <a:buNone/>
                      </a:pPr>
                      <a:r>
                        <a:rPr lang="en-US" sz="1200" b="0" i="0">
                          <a:solidFill>
                            <a:srgbClr val="262626"/>
                          </a:solidFill>
                          <a:effectLst/>
                          <a:latin typeface="Cambria" panose="02040503050406030204" pitchFamily="18" charset="0"/>
                        </a:rPr>
                        <a:t>Saturday</a:t>
                      </a:r>
                      <a:endParaRPr lang="en-US" b="0" i="0">
                        <a:solidFill>
                          <a:srgbClr val="262626"/>
                        </a:solidFill>
                        <a:effectLst/>
                      </a:endParaRP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125"/>
                        </a:lnSpc>
                        <a:buNone/>
                      </a:pPr>
                      <a:r>
                        <a:rPr lang="en-US" sz="1200" b="0" i="0">
                          <a:solidFill>
                            <a:srgbClr val="262626"/>
                          </a:solidFill>
                          <a:effectLst/>
                          <a:latin typeface="Cambria"/>
                        </a:rPr>
                        <a:t>-0.41</a:t>
                      </a: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tc>
                  <a:txBody>
                    <a:bodyPr/>
                    <a:lstStyle/>
                    <a:p>
                      <a:pPr algn="l" rtl="0" fontAlgn="base">
                        <a:lnSpc>
                          <a:spcPts val="1125"/>
                        </a:lnSpc>
                        <a:buNone/>
                      </a:pPr>
                      <a:r>
                        <a:rPr lang="en-US" sz="1200" b="0" i="0">
                          <a:solidFill>
                            <a:srgbClr val="262626"/>
                          </a:solidFill>
                          <a:effectLst/>
                          <a:latin typeface="Cambria"/>
                        </a:rPr>
                        <a:t>4.32</a:t>
                      </a:r>
                    </a:p>
                  </a:txBody>
                  <a:tcPr marL="72390" marR="72390" marT="36195" marB="36195">
                    <a:lnL w="10049" cap="flat" cmpd="sng" algn="ctr">
                      <a:solidFill>
                        <a:srgbClr val="FFFFFF"/>
                      </a:solidFill>
                      <a:prstDash val="solid"/>
                      <a:round/>
                      <a:headEnd type="none" w="med" len="med"/>
                      <a:tailEnd type="none" w="med" len="med"/>
                    </a:lnL>
                    <a:lnR w="10049" cap="flat" cmpd="sng" algn="ctr">
                      <a:solidFill>
                        <a:srgbClr val="FFFFFF"/>
                      </a:solidFill>
                      <a:prstDash val="solid"/>
                      <a:round/>
                      <a:headEnd type="none" w="med" len="med"/>
                      <a:tailEnd type="none" w="med" len="med"/>
                    </a:lnR>
                    <a:lnT w="10049" cap="flat" cmpd="sng" algn="ctr">
                      <a:solidFill>
                        <a:srgbClr val="FFFFFF"/>
                      </a:solidFill>
                      <a:prstDash val="solid"/>
                      <a:round/>
                      <a:headEnd type="none" w="med" len="med"/>
                      <a:tailEnd type="none" w="med" len="med"/>
                    </a:lnT>
                    <a:lnB w="1004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354919527"/>
                  </a:ext>
                </a:extLst>
              </a:tr>
              <a:tr h="291176">
                <a:tc>
                  <a:txBody>
                    <a:bodyPr/>
                    <a:lstStyle/>
                    <a:p>
                      <a:pPr lvl="0" algn="l">
                        <a:lnSpc>
                          <a:spcPts val="1125"/>
                        </a:lnSpc>
                        <a:buNone/>
                      </a:pPr>
                      <a:r>
                        <a:rPr lang="en-US" sz="1200" b="0" i="0">
                          <a:solidFill>
                            <a:srgbClr val="262626"/>
                          </a:solidFill>
                          <a:effectLst/>
                          <a:latin typeface="Cambria"/>
                        </a:rPr>
                        <a:t>Sunday</a:t>
                      </a:r>
                    </a:p>
                  </a:txBody>
                  <a:tcPr marL="72389" marR="72389" marT="36195" marB="36195">
                    <a:lnL w="10049">
                      <a:solidFill>
                        <a:srgbClr val="FFFFFF"/>
                      </a:solidFill>
                    </a:lnL>
                    <a:lnR w="10049">
                      <a:solidFill>
                        <a:srgbClr val="FFFFFF"/>
                      </a:solidFill>
                    </a:lnR>
                    <a:lnT w="10049">
                      <a:solidFill>
                        <a:srgbClr val="FFFFFF"/>
                      </a:solidFill>
                    </a:lnT>
                    <a:lnB w="10049">
                      <a:solidFill>
                        <a:srgbClr val="FFFFFF"/>
                      </a:solidFill>
                    </a:lnB>
                  </a:tcPr>
                </a:tc>
                <a:tc>
                  <a:txBody>
                    <a:bodyPr/>
                    <a:lstStyle/>
                    <a:p>
                      <a:pPr lvl="0" algn="l">
                        <a:lnSpc>
                          <a:spcPts val="1125"/>
                        </a:lnSpc>
                        <a:buNone/>
                      </a:pPr>
                      <a:r>
                        <a:rPr lang="en-US" sz="1200" b="0" i="0">
                          <a:solidFill>
                            <a:srgbClr val="262626"/>
                          </a:solidFill>
                          <a:effectLst/>
                          <a:latin typeface="Cambria"/>
                        </a:rPr>
                        <a:t>2.04</a:t>
                      </a:r>
                    </a:p>
                  </a:txBody>
                  <a:tcPr marL="72389" marR="72389" marT="36195" marB="36195">
                    <a:lnL w="10049">
                      <a:solidFill>
                        <a:srgbClr val="FFFFFF"/>
                      </a:solidFill>
                    </a:lnL>
                    <a:lnR w="10049">
                      <a:solidFill>
                        <a:srgbClr val="FFFFFF"/>
                      </a:solidFill>
                    </a:lnR>
                    <a:lnT w="10049">
                      <a:solidFill>
                        <a:srgbClr val="FFFFFF"/>
                      </a:solidFill>
                    </a:lnT>
                    <a:lnB w="10049">
                      <a:solidFill>
                        <a:srgbClr val="FFFFFF"/>
                      </a:solidFill>
                    </a:lnB>
                  </a:tcPr>
                </a:tc>
                <a:tc>
                  <a:txBody>
                    <a:bodyPr/>
                    <a:lstStyle/>
                    <a:p>
                      <a:pPr lvl="0" algn="l">
                        <a:lnSpc>
                          <a:spcPts val="1125"/>
                        </a:lnSpc>
                        <a:buNone/>
                      </a:pPr>
                      <a:r>
                        <a:rPr lang="en-US" sz="1200" b="0" i="0">
                          <a:solidFill>
                            <a:srgbClr val="262626"/>
                          </a:solidFill>
                          <a:effectLst/>
                          <a:latin typeface="Cambria"/>
                        </a:rPr>
                        <a:t>-1.58</a:t>
                      </a:r>
                    </a:p>
                  </a:txBody>
                  <a:tcPr marL="72389" marR="72389" marT="36195" marB="36195">
                    <a:lnL w="10049">
                      <a:solidFill>
                        <a:srgbClr val="FFFFFF"/>
                      </a:solidFill>
                    </a:lnL>
                    <a:lnR w="10049">
                      <a:solidFill>
                        <a:srgbClr val="FFFFFF"/>
                      </a:solidFill>
                    </a:lnR>
                    <a:lnT w="10049">
                      <a:solidFill>
                        <a:srgbClr val="FFFFFF"/>
                      </a:solidFill>
                    </a:lnT>
                    <a:lnB w="10049">
                      <a:solidFill>
                        <a:srgbClr val="FFFFFF"/>
                      </a:solidFill>
                    </a:lnB>
                  </a:tcPr>
                </a:tc>
                <a:extLst>
                  <a:ext uri="{0D108BD9-81ED-4DB2-BD59-A6C34878D82A}">
                    <a16:rowId xmlns:a16="http://schemas.microsoft.com/office/drawing/2014/main" val="1138400745"/>
                  </a:ext>
                </a:extLst>
              </a:tr>
            </a:tbl>
          </a:graphicData>
        </a:graphic>
      </p:graphicFrame>
    </p:spTree>
    <p:extLst>
      <p:ext uri="{BB962C8B-B14F-4D97-AF65-F5344CB8AC3E}">
        <p14:creationId xmlns:p14="http://schemas.microsoft.com/office/powerpoint/2010/main" val="2783936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D0DE2-F61B-EB4C-9E60-3821E18DF85E}"/>
              </a:ext>
            </a:extLst>
          </p:cNvPr>
          <p:cNvSpPr>
            <a:spLocks noGrp="1"/>
          </p:cNvSpPr>
          <p:nvPr>
            <p:ph type="title"/>
          </p:nvPr>
        </p:nvSpPr>
        <p:spPr/>
        <p:txBody>
          <a:bodyPr/>
          <a:lstStyle/>
          <a:p>
            <a:r>
              <a:rPr lang="en-US">
                <a:latin typeface="Novecento sans wide UltraLight"/>
              </a:rPr>
              <a:t>Improvements</a:t>
            </a:r>
            <a:endParaRPr lang="en-US"/>
          </a:p>
        </p:txBody>
      </p:sp>
      <p:sp>
        <p:nvSpPr>
          <p:cNvPr id="3" name="Content Placeholder 2">
            <a:extLst>
              <a:ext uri="{FF2B5EF4-FFF2-40B4-BE49-F238E27FC236}">
                <a16:creationId xmlns:a16="http://schemas.microsoft.com/office/drawing/2014/main" id="{C722DCBE-1828-844A-8E18-38839289CF41}"/>
              </a:ext>
            </a:extLst>
          </p:cNvPr>
          <p:cNvSpPr>
            <a:spLocks noGrp="1"/>
          </p:cNvSpPr>
          <p:nvPr>
            <p:ph idx="1"/>
          </p:nvPr>
        </p:nvSpPr>
        <p:spPr/>
        <p:txBody>
          <a:bodyPr/>
          <a:lstStyle/>
          <a:p>
            <a:pPr marL="171450" indent="-171450" algn="just">
              <a:buFont typeface="Arial" panose="020B0604020202020204" pitchFamily="34" charset="0"/>
              <a:buChar char="•"/>
            </a:pPr>
            <a:r>
              <a:rPr lang="en-US">
                <a:latin typeface="Cambria" panose="02040503050406030204" pitchFamily="18" charset="0"/>
              </a:rPr>
              <a:t>Currently, spot BTC closing prices were obtained at hourly intervals</a:t>
            </a:r>
          </a:p>
          <a:p>
            <a:pPr marL="171450" indent="-171450" algn="just">
              <a:buFont typeface="Arial" panose="020B0604020202020204" pitchFamily="34" charset="0"/>
              <a:buChar char="•"/>
            </a:pPr>
            <a:r>
              <a:rPr lang="en-US">
                <a:latin typeface="Cambria" panose="02040503050406030204" pitchFamily="18" charset="0"/>
              </a:rPr>
              <a:t>Increasing frequency of data obtained, as well as intra-interval high and low prices provides more accurate volatility measurements</a:t>
            </a:r>
          </a:p>
          <a:p>
            <a:pPr marL="171450" indent="-171450" algn="just">
              <a:buFont typeface="Arial" panose="020B0604020202020204" pitchFamily="34" charset="0"/>
              <a:buChar char="•"/>
            </a:pPr>
            <a:r>
              <a:rPr lang="en-US">
                <a:latin typeface="Cambria" panose="02040503050406030204" pitchFamily="18" charset="0"/>
              </a:rPr>
              <a:t>Options data obtained from trades within short entry window and limited to identified legs, may be extended to incorporate options chain</a:t>
            </a:r>
          </a:p>
        </p:txBody>
      </p:sp>
      <p:sp>
        <p:nvSpPr>
          <p:cNvPr id="4" name="Content Placeholder 3">
            <a:extLst>
              <a:ext uri="{FF2B5EF4-FFF2-40B4-BE49-F238E27FC236}">
                <a16:creationId xmlns:a16="http://schemas.microsoft.com/office/drawing/2014/main" id="{13F3D506-7D7F-F742-B1FD-D4F625A26DB9}"/>
              </a:ext>
            </a:extLst>
          </p:cNvPr>
          <p:cNvSpPr>
            <a:spLocks noGrp="1"/>
          </p:cNvSpPr>
          <p:nvPr>
            <p:ph idx="13"/>
          </p:nvPr>
        </p:nvSpPr>
        <p:spPr/>
        <p:txBody>
          <a:bodyPr vert="horz" lIns="91440" tIns="45720" rIns="91440" bIns="45720" rtlCol="0" anchor="t">
            <a:normAutofit/>
          </a:bodyPr>
          <a:lstStyle/>
          <a:p>
            <a:pPr marL="171450" indent="-171450" algn="just">
              <a:buFont typeface="Arial" panose="020B0604020202020204" pitchFamily="34" charset="0"/>
              <a:buChar char="•"/>
            </a:pPr>
            <a:r>
              <a:rPr lang="en-US">
                <a:latin typeface="Cambria" panose="02040503050406030204" pitchFamily="18" charset="0"/>
              </a:rPr>
              <a:t>VRP currently traded via simple straddle and butterfly strategies</a:t>
            </a:r>
          </a:p>
          <a:p>
            <a:pPr marL="171450" indent="-171450" algn="just">
              <a:buFont typeface="Arial" panose="020B0604020202020204" pitchFamily="34" charset="0"/>
              <a:buChar char="•"/>
            </a:pPr>
            <a:r>
              <a:rPr lang="en-US">
                <a:latin typeface="Cambria"/>
                <a:ea typeface="Cambria"/>
              </a:rPr>
              <a:t>Dynamic Position sizing</a:t>
            </a:r>
            <a:endParaRPr lang="en-US">
              <a:latin typeface="Cambria" panose="02040503050406030204" pitchFamily="18" charset="0"/>
              <a:ea typeface="Cambria"/>
            </a:endParaRPr>
          </a:p>
          <a:p>
            <a:pPr marL="171450" indent="-171450" algn="just">
              <a:buFont typeface="Arial" panose="020B0604020202020204" pitchFamily="34" charset="0"/>
              <a:buChar char="•"/>
            </a:pPr>
            <a:r>
              <a:rPr lang="en-US">
                <a:latin typeface="Cambria" panose="02040503050406030204" pitchFamily="18" charset="0"/>
                <a:ea typeface="Cambria"/>
              </a:rPr>
              <a:t>Paired days ideas</a:t>
            </a:r>
          </a:p>
        </p:txBody>
      </p:sp>
      <p:sp>
        <p:nvSpPr>
          <p:cNvPr id="5" name="Content Placeholder 4">
            <a:extLst>
              <a:ext uri="{FF2B5EF4-FFF2-40B4-BE49-F238E27FC236}">
                <a16:creationId xmlns:a16="http://schemas.microsoft.com/office/drawing/2014/main" id="{C6DD4E8C-6380-E244-99CB-79E08C95B3E2}"/>
              </a:ext>
            </a:extLst>
          </p:cNvPr>
          <p:cNvSpPr>
            <a:spLocks noGrp="1"/>
          </p:cNvSpPr>
          <p:nvPr>
            <p:ph idx="14"/>
          </p:nvPr>
        </p:nvSpPr>
        <p:spPr/>
        <p:txBody>
          <a:bodyPr vert="horz" lIns="91440" tIns="45720" rIns="91440" bIns="45720" rtlCol="0" anchor="t">
            <a:normAutofit/>
          </a:bodyPr>
          <a:lstStyle/>
          <a:p>
            <a:pPr marL="171450" indent="-171450">
              <a:buFont typeface="Arial" panose="020B0604020202020204" pitchFamily="34" charset="0"/>
              <a:buChar char="•"/>
            </a:pPr>
            <a:r>
              <a:rPr lang="en-US">
                <a:latin typeface="Cambria"/>
                <a:ea typeface="Cambria"/>
              </a:rPr>
              <a:t>IV extracted directly from ATM options, use order book statistics</a:t>
            </a:r>
          </a:p>
          <a:p>
            <a:pPr marL="171450" indent="-171450">
              <a:buFont typeface="Arial" panose="020B0604020202020204" pitchFamily="34" charset="0"/>
              <a:buChar char="•"/>
            </a:pPr>
            <a:r>
              <a:rPr lang="en-US">
                <a:latin typeface="Cambria" panose="02040503050406030204" pitchFamily="18" charset="0"/>
              </a:rPr>
              <a:t>Volatility skew effects may be investigated at a range of ITM and OTM options</a:t>
            </a:r>
          </a:p>
          <a:p>
            <a:pPr marL="171450" indent="-171450" algn="just">
              <a:buFont typeface="Arial" panose="020B0604020202020204" pitchFamily="34" charset="0"/>
              <a:buChar char="•"/>
            </a:pPr>
            <a:r>
              <a:rPr lang="en-US">
                <a:latin typeface="Cambria"/>
                <a:ea typeface="Cambria"/>
              </a:rPr>
              <a:t>RV forecasting may be improved by considering longer-term persistent effects, such as through the use of a heterogeneous autoregressive (HAR) RV model</a:t>
            </a:r>
          </a:p>
        </p:txBody>
      </p:sp>
      <p:sp>
        <p:nvSpPr>
          <p:cNvPr id="6" name="Content Placeholder 5">
            <a:extLst>
              <a:ext uri="{FF2B5EF4-FFF2-40B4-BE49-F238E27FC236}">
                <a16:creationId xmlns:a16="http://schemas.microsoft.com/office/drawing/2014/main" id="{2E158701-9723-B045-AE1F-ED2B9FF8E0D6}"/>
              </a:ext>
            </a:extLst>
          </p:cNvPr>
          <p:cNvSpPr>
            <a:spLocks noGrp="1"/>
          </p:cNvSpPr>
          <p:nvPr>
            <p:ph idx="15"/>
          </p:nvPr>
        </p:nvSpPr>
        <p:spPr/>
        <p:txBody>
          <a:bodyPr vert="horz" lIns="91440" tIns="45720" rIns="91440" bIns="45720" rtlCol="0" anchor="t">
            <a:normAutofit/>
          </a:bodyPr>
          <a:lstStyle/>
          <a:p>
            <a:pPr marL="171450" indent="-171450">
              <a:buChar char="•"/>
            </a:pPr>
            <a:r>
              <a:rPr lang="en-US">
                <a:latin typeface="Cambria"/>
                <a:ea typeface="Cambria"/>
              </a:rPr>
              <a:t>Could combine other avenues of directional/volatility analysis </a:t>
            </a:r>
          </a:p>
        </p:txBody>
      </p:sp>
      <p:sp>
        <p:nvSpPr>
          <p:cNvPr id="7" name="Text Placeholder 6">
            <a:extLst>
              <a:ext uri="{FF2B5EF4-FFF2-40B4-BE49-F238E27FC236}">
                <a16:creationId xmlns:a16="http://schemas.microsoft.com/office/drawing/2014/main" id="{2A1F5FA0-0F5B-1943-9C95-1ED17A1769FF}"/>
              </a:ext>
            </a:extLst>
          </p:cNvPr>
          <p:cNvSpPr>
            <a:spLocks noGrp="1"/>
          </p:cNvSpPr>
          <p:nvPr>
            <p:ph type="body" sz="quarter" idx="16"/>
          </p:nvPr>
        </p:nvSpPr>
        <p:spPr/>
        <p:txBody>
          <a:bodyPr vert="horz" lIns="91440" tIns="45720" rIns="91440" bIns="45720" rtlCol="0" anchor="t">
            <a:noAutofit/>
          </a:bodyPr>
          <a:lstStyle/>
          <a:p>
            <a:r>
              <a:rPr lang="en-US" b="1">
                <a:latin typeface="Cambria" panose="02040503050406030204" pitchFamily="18" charset="0"/>
              </a:rPr>
              <a:t>Data Quality</a:t>
            </a:r>
          </a:p>
        </p:txBody>
      </p:sp>
      <p:sp>
        <p:nvSpPr>
          <p:cNvPr id="9" name="Text Placeholder 8">
            <a:extLst>
              <a:ext uri="{FF2B5EF4-FFF2-40B4-BE49-F238E27FC236}">
                <a16:creationId xmlns:a16="http://schemas.microsoft.com/office/drawing/2014/main" id="{D98E1AAF-2D40-CA4C-9922-64D94FC4C107}"/>
              </a:ext>
            </a:extLst>
          </p:cNvPr>
          <p:cNvSpPr>
            <a:spLocks noGrp="1"/>
          </p:cNvSpPr>
          <p:nvPr>
            <p:ph type="body" sz="quarter" idx="18"/>
          </p:nvPr>
        </p:nvSpPr>
        <p:spPr/>
        <p:txBody>
          <a:bodyPr vert="horz" lIns="91440" tIns="45720" rIns="91440" bIns="45720" rtlCol="0" anchor="t">
            <a:noAutofit/>
          </a:bodyPr>
          <a:lstStyle/>
          <a:p>
            <a:r>
              <a:rPr lang="en-US" b="1">
                <a:latin typeface="Cambria" panose="02040503050406030204" pitchFamily="18" charset="0"/>
              </a:rPr>
              <a:t>Extending Scope of Analysis</a:t>
            </a:r>
            <a:endParaRPr lang="en-US">
              <a:latin typeface="Cambria" panose="02040503050406030204" pitchFamily="18" charset="0"/>
            </a:endParaRPr>
          </a:p>
        </p:txBody>
      </p:sp>
      <p:sp>
        <p:nvSpPr>
          <p:cNvPr id="10" name="Text Placeholder 9">
            <a:extLst>
              <a:ext uri="{FF2B5EF4-FFF2-40B4-BE49-F238E27FC236}">
                <a16:creationId xmlns:a16="http://schemas.microsoft.com/office/drawing/2014/main" id="{6C7004B6-EBDC-7244-A6E4-C9064698A894}"/>
              </a:ext>
            </a:extLst>
          </p:cNvPr>
          <p:cNvSpPr>
            <a:spLocks noGrp="1"/>
          </p:cNvSpPr>
          <p:nvPr>
            <p:ph type="body" sz="quarter" idx="19"/>
          </p:nvPr>
        </p:nvSpPr>
        <p:spPr/>
        <p:txBody>
          <a:bodyPr vert="horz" lIns="91440" tIns="45720" rIns="91440" bIns="45720" rtlCol="0" anchor="t">
            <a:noAutofit/>
          </a:bodyPr>
          <a:lstStyle/>
          <a:p>
            <a:r>
              <a:rPr lang="en-US" b="1">
                <a:latin typeface="Cambria"/>
                <a:ea typeface="Cambria"/>
              </a:rPr>
              <a:t>Optimizing IV and RV metric</a:t>
            </a:r>
          </a:p>
        </p:txBody>
      </p:sp>
      <p:sp>
        <p:nvSpPr>
          <p:cNvPr id="14" name="Slide Number Placeholder 13">
            <a:extLst>
              <a:ext uri="{FF2B5EF4-FFF2-40B4-BE49-F238E27FC236}">
                <a16:creationId xmlns:a16="http://schemas.microsoft.com/office/drawing/2014/main" id="{D461F7C9-F038-6341-83AC-4E9FBCAC90C7}"/>
              </a:ext>
            </a:extLst>
          </p:cNvPr>
          <p:cNvSpPr>
            <a:spLocks noGrp="1"/>
          </p:cNvSpPr>
          <p:nvPr>
            <p:ph type="sldNum" sz="quarter" idx="23"/>
          </p:nvPr>
        </p:nvSpPr>
        <p:spPr/>
        <p:txBody>
          <a:bodyPr/>
          <a:lstStyle/>
          <a:p>
            <a:fld id="{225705C9-C93A-4611-A575-E7A979D414CC}" type="slidenum">
              <a:rPr lang="en-GB" smtClean="0"/>
              <a:pPr/>
              <a:t>11</a:t>
            </a:fld>
            <a:endParaRPr lang="en-GB"/>
          </a:p>
        </p:txBody>
      </p:sp>
      <p:sp>
        <p:nvSpPr>
          <p:cNvPr id="15" name="Text Placeholder 6">
            <a:extLst>
              <a:ext uri="{FF2B5EF4-FFF2-40B4-BE49-F238E27FC236}">
                <a16:creationId xmlns:a16="http://schemas.microsoft.com/office/drawing/2014/main" id="{457D95FC-4BFD-1845-62C8-73C7F7693E63}"/>
              </a:ext>
            </a:extLst>
          </p:cNvPr>
          <p:cNvSpPr txBox="1">
            <a:spLocks/>
          </p:cNvSpPr>
          <p:nvPr/>
        </p:nvSpPr>
        <p:spPr>
          <a:xfrm>
            <a:off x="828264" y="3944767"/>
            <a:ext cx="5160300" cy="267806"/>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Gotham Medium" panose="0200060403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Gotham Medium" panose="0200060403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Gotham Medium" panose="0200060403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Gotham Medium" panose="0200060403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Gotham Medium" panose="0200060403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latin typeface="Cambria" panose="02040503050406030204" pitchFamily="18" charset="0"/>
                <a:ea typeface="Cambria" panose="02040503050406030204" pitchFamily="18" charset="0"/>
              </a:rPr>
              <a:t>Exploring trading ideas</a:t>
            </a:r>
          </a:p>
        </p:txBody>
      </p:sp>
    </p:spTree>
    <p:extLst>
      <p:ext uri="{BB962C8B-B14F-4D97-AF65-F5344CB8AC3E}">
        <p14:creationId xmlns:p14="http://schemas.microsoft.com/office/powerpoint/2010/main" val="2925989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5470DD-3672-DE49-9C0F-F525453FC817}"/>
              </a:ext>
            </a:extLst>
          </p:cNvPr>
          <p:cNvSpPr>
            <a:spLocks noGrp="1"/>
          </p:cNvSpPr>
          <p:nvPr>
            <p:ph type="sldNum" sz="quarter" idx="12"/>
          </p:nvPr>
        </p:nvSpPr>
        <p:spPr/>
        <p:txBody>
          <a:bodyPr/>
          <a:lstStyle/>
          <a:p>
            <a:fld id="{225705C9-C93A-4611-A575-E7A979D414CC}" type="slidenum">
              <a:rPr lang="en-GB" smtClean="0"/>
              <a:pPr/>
              <a:t>12</a:t>
            </a:fld>
            <a:endParaRPr lang="en-GB"/>
          </a:p>
        </p:txBody>
      </p:sp>
    </p:spTree>
    <p:extLst>
      <p:ext uri="{BB962C8B-B14F-4D97-AF65-F5344CB8AC3E}">
        <p14:creationId xmlns:p14="http://schemas.microsoft.com/office/powerpoint/2010/main" val="19365842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ENTATIONID" val="616529b0-8859-4f7a-a170-65814900d10f"/>
</p:tagLst>
</file>

<file path=ppt/theme/theme1.xml><?xml version="1.0" encoding="utf-8"?>
<a:theme xmlns:a="http://schemas.openxmlformats.org/drawingml/2006/main" name="Office Theme">
  <a:themeElements>
    <a:clrScheme name="Oxford Alpha Fund">
      <a:dk1>
        <a:srgbClr val="262626"/>
      </a:dk1>
      <a:lt1>
        <a:sysClr val="window" lastClr="FFFFFF"/>
      </a:lt1>
      <a:dk2>
        <a:srgbClr val="262626"/>
      </a:dk2>
      <a:lt2>
        <a:srgbClr val="FFFFFF"/>
      </a:lt2>
      <a:accent1>
        <a:srgbClr val="1F3864"/>
      </a:accent1>
      <a:accent2>
        <a:srgbClr val="C00000"/>
      </a:accent2>
      <a:accent3>
        <a:srgbClr val="2F5496"/>
      </a:accent3>
      <a:accent4>
        <a:srgbClr val="CA3636"/>
      </a:accent4>
      <a:accent5>
        <a:srgbClr val="41AD7C"/>
      </a:accent5>
      <a:accent6>
        <a:srgbClr val="2D7756"/>
      </a:accent6>
      <a:hlink>
        <a:srgbClr val="0563C1"/>
      </a:hlink>
      <a:folHlink>
        <a:srgbClr val="954F72"/>
      </a:folHlink>
    </a:clrScheme>
    <a:fontScheme name="Oxford Alpha Fund">
      <a:majorFont>
        <a:latin typeface="Novecento sans wide UltraLight"/>
        <a:ea typeface=""/>
        <a:cs typeface=""/>
      </a:majorFont>
      <a:minorFont>
        <a:latin typeface="Myriad Se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F_Pitch_Deck_Template" id="{A2557348-30A8-4DD0-AB9B-173A9DCFCE07}" vid="{2C866282-7007-44BC-A31F-99CA4505A4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7D622EF9E474040AFF21FDD19FF6287" ma:contentTypeVersion="4" ma:contentTypeDescription="Create a new document." ma:contentTypeScope="" ma:versionID="26bcc95d200574cfad9993cd829abba1">
  <xsd:schema xmlns:xsd="http://www.w3.org/2001/XMLSchema" xmlns:xs="http://www.w3.org/2001/XMLSchema" xmlns:p="http://schemas.microsoft.com/office/2006/metadata/properties" xmlns:ns2="1d854f35-0e92-4a35-ba8b-ddf8ae2ad6fb" targetNamespace="http://schemas.microsoft.com/office/2006/metadata/properties" ma:root="true" ma:fieldsID="8e0034cc254527798e19c067bfd9a216" ns2:_="">
    <xsd:import namespace="1d854f35-0e92-4a35-ba8b-ddf8ae2ad6f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854f35-0e92-4a35-ba8b-ddf8ae2ad6f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
</file>

<file path=customXml/itemProps1.xml><?xml version="1.0" encoding="utf-8"?>
<ds:datastoreItem xmlns:ds="http://schemas.openxmlformats.org/officeDocument/2006/customXml" ds:itemID="{832C91F6-7ECB-4B26-9EDF-AC29B42BC44E}">
  <ds:schemaRefs>
    <ds:schemaRef ds:uri="http://schemas.microsoft.com/sharepoint/v3/contenttype/forms"/>
  </ds:schemaRefs>
</ds:datastoreItem>
</file>

<file path=customXml/itemProps2.xml><?xml version="1.0" encoding="utf-8"?>
<ds:datastoreItem xmlns:ds="http://schemas.openxmlformats.org/officeDocument/2006/customXml" ds:itemID="{6A83C6E2-8728-4A7C-8A47-F4C42D576C70}">
  <ds:schemaRefs>
    <ds:schemaRef ds:uri="http://schemas.microsoft.com/office/2006/metadata/properties"/>
    <ds:schemaRef ds:uri="http://schemas.microsoft.com/office/infopath/2007/PartnerControls"/>
    <ds:schemaRef ds:uri="http://www.w3.org/2000/xmlns/"/>
  </ds:schemaRefs>
</ds:datastoreItem>
</file>

<file path=customXml/itemProps3.xml><?xml version="1.0" encoding="utf-8"?>
<ds:datastoreItem xmlns:ds="http://schemas.openxmlformats.org/officeDocument/2006/customXml" ds:itemID="{D3BB1F0C-5E3B-45FD-A8DF-49331768AAAD}">
  <ds:schemaRefs>
    <ds:schemaRef ds:uri="1d854f35-0e92-4a35-ba8b-ddf8ae2ad6f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4.xml><?xml version="1.0" encoding="utf-8"?>
<ds:datastoreItem xmlns:ds="http://schemas.openxmlformats.org/officeDocument/2006/customXml" ds:itemID="{27C1C09E-7FD7-4E97-8AA9-49B628CD483D}">
  <ds:schemaRef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12</Slides>
  <Notes>1</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Investigating Volatility Risk Premium in Short-Dated BTC Options</vt:lpstr>
      <vt:lpstr>PowerPoint Presentation</vt:lpstr>
      <vt:lpstr>Motivation</vt:lpstr>
      <vt:lpstr>Literature Review</vt:lpstr>
      <vt:lpstr>Data Acquisition</vt:lpstr>
      <vt:lpstr>Model for RV</vt:lpstr>
      <vt:lpstr>VRP Results</vt:lpstr>
      <vt:lpstr>Trading Strategy</vt:lpstr>
      <vt:lpstr>Strategy Results</vt:lpstr>
      <vt:lpstr>Strategy 2 Results</vt:lpstr>
      <vt:lpstr>Improvements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Rebecca Liu</dc:creator>
  <cp:revision>2</cp:revision>
  <dcterms:created xsi:type="dcterms:W3CDTF">2021-03-08T06:59:53Z</dcterms:created>
  <dcterms:modified xsi:type="dcterms:W3CDTF">2026-06-13T12:52:40Z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0x01010007D622EF9E474040AFF21FDD19FF6287</vt:lpwstr>
  </property>
</Properties>
</file>